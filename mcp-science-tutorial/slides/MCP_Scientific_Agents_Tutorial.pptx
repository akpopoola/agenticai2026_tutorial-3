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2.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094a9f3-19ed-dc42-d7ae-1cf7a9bb90de}">
          <p14:sldIdLst>
            <p14:sldId id="256"/>
            <p14:sldId id="257"/>
          </p14:sldIdLst>
        </p14:section>
        <p14:section name="1 Why tools" id="{60f704b2-d9ff-89fd-e596-bc737e56c34b}">
          <p14:sldIdLst>
            <p14:sldId id="258"/>
            <p14:sldId id="259"/>
            <p14:sldId id="260"/>
            <p14:sldId id="261"/>
          </p14:sldIdLst>
        </p14:section>
        <p14:section name="2 How models request tools" id="{ab6e57d0-42e3-b839-62a8-0f6de7e485e6}">
          <p14:sldIdLst>
            <p14:sldId id="262"/>
            <p14:sldId id="263"/>
            <p14:sldId id="264"/>
          </p14:sldIdLst>
        </p14:section>
        <p14:section name="3 MCP architecture" id="{c857c09d-81d4-8c0c-c556-499fa61e7a79}">
          <p14:sldIdLst>
            <p14:sldId id="265"/>
            <p14:sldId id="266"/>
            <p14:sldId id="267"/>
            <p14:sldId id="268"/>
          </p14:sldIdLst>
        </p14:section>
        <p14:section name="4 Build a server" id="{b9a0a54b-c381-abfb-4da5-f74084cac85d}">
          <p14:sldIdLst>
            <p14:sldId id="269"/>
            <p14:sldId id="270"/>
            <p14:sldId id="271"/>
            <p14:sldId id="272"/>
            <p14:sldId id="273"/>
          </p14:sldIdLst>
        </p14:section>
        <p14:section name="5 Materials and geoscience" id="{6478f95b-012c-f901-3931-fe681b5fdd40}">
          <p14:sldIdLst>
            <p14:sldId id="274"/>
            <p14:sldId id="275"/>
            <p14:sldId id="276"/>
            <p14:sldId id="277"/>
          </p14:sldIdLst>
        </p14:section>
        <p14:section name="6 Parallel tool calls" id="{0abbe08c-da93-0e16-07d1-76df64357e70}">
          <p14:sldIdLst>
            <p14:sldId id="278"/>
            <p14:sldId id="279"/>
            <p14:sldId id="280"/>
          </p14:sldIdLst>
        </p14:section>
        <p14:section name="7 Porosity exercise" id="{8be615d8-e5f6-5b9a-8578-6ad1c9a88bdd}">
          <p14:sldIdLst>
            <p14:sldId id="281"/>
            <p14:sldId id="282"/>
            <p14:sldId id="283"/>
          </p14:sldIdLst>
        </p14:section>
        <p14:section name="8 IDE vs Colab" id="{e41573c7-18e3-595a-ab3e-69d9cdb34a5e}">
          <p14:sldIdLst>
            <p14:sldId id="284"/>
          </p14:sldIdLst>
        </p14:section>
        <p14:section name="9 Questions" id="{7de184e3-e3f2-cc43-a8fb-80969fec0ed0}">
          <p14:sldIdLst>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7252E"/>
                </a:solidFill>
                <a:latin typeface="+mn-lt"/>
              </a:defRPr>
            </a:pPr>
            <a:r>
              <a:rPr sz="1300" b="0" i="0" u="none" strike="noStrike">
                <a:solidFill>
                  <a:srgbClr val="17252E"/>
                </a:solidFill>
                <a:latin typeface="+mn-lt"/>
              </a:rPr>
              <a:t>Normal-incidence R (Gardner density)</a:t>
            </a:r>
          </a:p>
        </c:rich>
      </c:tx>
      <c:layout/>
      <c:overlay val="0"/>
    </c:title>
    <c:autoTitleDeleted val="0"/>
    <c:plotArea>
      <c:layout/>
      <c:barChart>
        <c:barDir val="bar"/>
        <c:grouping val="clustered"/>
        <c:varyColors val="0"/>
        <c:ser>
          <c:idx val="0"/>
          <c:order val="0"/>
          <c:tx>
            <c:strRef>
              <c:f>Sheet1!$B$1</c:f>
              <c:strCache>
                <c:ptCount val="1"/>
                <c:pt idx="0">
                  <c:v>Reflection coefficient</c:v>
                </c:pt>
              </c:strCache>
            </c:strRef>
          </c:tx>
          <c:spPr>
            <a:solidFill>
              <a:srgbClr val="1F8A8A"/>
            </a:solidFill>
            <a:effectLst/>
          </c:spPr>
          <c:invertIfNegative val="0"/>
          <c:dLbls>
            <c:numFmt formatCode="0.000" sourceLinked="0"/>
            <c:txPr>
              <a:bodyPr/>
              <a:lstStyle/>
              <a:p>
                <a:pPr>
                  <a:defRPr b="0" i="0" strike="noStrike" sz="1200" u="none">
                    <a:solidFill>
                      <a:srgbClr val="17252E"/>
                    </a:solidFill>
                    <a:latin typeface="+mn-lt"/>
                  </a:defRPr>
                </a:pPr>
              </a:p>
            </c:txPr>
            <c:showLegendKey val="0"/>
            <c:showVal val="1"/>
            <c:showCatName val="0"/>
            <c:showSerName val="0"/>
            <c:showPercent val="0"/>
            <c:showBubbleSize val="0"/>
            <c:showLeaderLines val="0"/>
          </c:dLbls>
          <c:cat>
            <c:multiLvlStrRef>
              <c:f>Sheet1!$A$2:$A$5</c:f>
              <c:multiLvlStrCache>
                <c:ptCount val="4"/>
                <c:lvl>
                  <c:pt idx="0">
                    <c:v>Shale → sandstone</c:v>
                  </c:pt>
                  <c:pt idx="1">
                    <c:v>Sandstone → salt</c:v>
                  </c:pt>
                  <c:pt idx="2">
                    <c:v>Sandstone → limestone</c:v>
                  </c:pt>
                  <c:pt idx="3">
                    <c:v>Shale → limestone</c:v>
                  </c:pt>
                </c:lvl>
              </c:multiLvlStrCache>
            </c:multiLvlStrRef>
          </c:cat>
          <c:val>
            <c:numRef>
              <c:f>Sheet1!$B$2:$B$5</c:f>
              <c:numCache>
                <c:formatCode>General</c:formatCode>
                <c:ptCount val="4"/>
                <c:pt idx="0">
                  <c:v>0.156</c:v>
                </c:pt>
                <c:pt idx="1">
                  <c:v>0.139</c:v>
                </c:pt>
                <c:pt idx="2">
                  <c:v>0.226</c:v>
                </c:pt>
                <c:pt idx="3">
                  <c:v>0.369</c:v>
                </c:pt>
              </c:numCache>
            </c:numRef>
          </c:val>
        </c:ser>
        <c:dLbls>
          <c:numFmt formatCode="0.000" sourceLinked="0"/>
          <c:txPr>
            <a:bodyPr/>
            <a:lstStyle/>
            <a:p>
              <a:pPr>
                <a:defRPr b="0" i="0" strike="noStrike" sz="1200" u="none">
                  <a:solidFill>
                    <a:srgbClr val="1725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7252E"/>
                </a:solidFill>
                <a:latin typeface="+mn-lt"/>
              </a:defRPr>
            </a:pPr>
            <a:endParaRPr lang="en-US"/>
          </a:p>
        </c:txPr>
        <c:crossAx val="2094734552"/>
        <c:crosses val="autoZero"/>
        <c:auto val="1"/>
        <c:lblAlgn val="ctr"/>
        <c:noMultiLvlLbl val="1"/>
      </c:catAx>
      <c:valAx>
        <c:axId val="2094734552"/>
        <c:scaling>
          <c:orientation val="minMax"/>
          <c:max val="0.45"/>
          <c:min val="0"/>
        </c:scaling>
        <c:delete val="0"/>
        <c:axPos val="b"/>
        <c:majorGridlines>
          <c:spPr>
            <a:ln w="6350" cap="flat">
              <a:solidFill>
                <a:srgbClr val="D9E0E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2F485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mn-lt"/>
              </a:defRPr>
            </a:pPr>
            <a:r>
              <a:rPr sz="1300" b="0" i="0" u="none" strike="noStrike">
                <a:solidFill>
                  <a:srgbClr val="FFFFFF"/>
                </a:solidFill>
                <a:latin typeface="+mn-lt"/>
              </a:rPr>
              <a:t>Expected tool time, 4 samples (s)</a:t>
            </a:r>
          </a:p>
        </c:rich>
      </c:tx>
      <c:layout/>
      <c:overlay val="0"/>
    </c:title>
    <c:autoTitleDeleted val="0"/>
    <c:plotArea>
      <c:layout/>
      <c:barChart>
        <c:barDir val="col"/>
        <c:grouping val="clustered"/>
        <c:varyColors val="0"/>
        <c:ser>
          <c:idx val="0"/>
          <c:order val="0"/>
          <c:tx>
            <c:strRef>
              <c:f>Sheet1!$B$1</c:f>
              <c:strCache>
                <c:ptCount val="1"/>
                <c:pt idx="0">
                  <c:v>Expected tool time (s)</c:v>
                </c:pt>
              </c:strCache>
            </c:strRef>
          </c:tx>
          <c:spPr>
            <a:solidFill>
              <a:srgbClr val="C8553D"/>
            </a:solidFill>
            <a:effectLst/>
          </c:spPr>
          <c:invertIfNegative val="0"/>
          <c:dLbls>
            <c:numFmt formatCode="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C8553D"/>
              </a:solidFill>
              <a:effectLst/>
            </c:spPr>
          </c:dPt>
          <c:dPt>
            <c:idx val="1"/>
            <c:invertIfNegative val="0"/>
            <c:bubble3D val="0"/>
            <c:spPr>
              <a:solidFill>
                <a:srgbClr val="1F8A8A"/>
              </a:solidFill>
              <a:effectLst/>
            </c:spPr>
          </c:dPt>
          <c:cat>
            <c:multiLvlStrRef>
              <c:f>Sheet1!$A$2:$A$3</c:f>
              <c:multiLvlStrCache>
                <c:ptCount val="2"/>
                <c:lvl>
                  <c:pt idx="0">
                    <c:v>Sequential</c:v>
                  </c:pt>
                  <c:pt idx="1">
                    <c:v>Parallel</c:v>
                  </c:pt>
                </c:lvl>
              </c:multiLvlStrCache>
            </c:multiLvlStrRef>
          </c:cat>
          <c:val>
            <c:numRef>
              <c:f>Sheet1!$B$2:$B$3</c:f>
              <c:numCache>
                <c:formatCode>General</c:formatCode>
                <c:ptCount val="2"/>
                <c:pt idx="0">
                  <c:v>6</c:v>
                </c:pt>
                <c:pt idx="1">
                  <c:v>1.5</c:v>
                </c:pt>
              </c:numCache>
            </c:numRef>
          </c:val>
        </c:ser>
        <c:dLbls>
          <c:numFmt formatCode="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FFFFF"/>
                </a:solidFill>
                <a:latin typeface="+mn-lt"/>
              </a:defRPr>
            </a:pPr>
            <a:endParaRPr lang="en-US"/>
          </a:p>
        </c:txPr>
        <c:crossAx val="2094734552"/>
        <c:crosses val="autoZero"/>
        <c:auto val="1"/>
        <c:lblAlgn val="ctr"/>
        <c:noMultiLvlLbl val="1"/>
      </c:catAx>
      <c:valAx>
        <c:axId val="2094734552"/>
        <c:scaling>
          <c:orientation val="minMax"/>
          <c:max val="7"/>
          <c:min val="0"/>
        </c:scaling>
        <c:delete val="0"/>
        <c:axPos val="l"/>
        <c:majorGridlines>
          <c:spPr>
            <a:ln w="6350" cap="flat">
              <a:solidFill>
                <a:srgbClr val="40586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C9D3D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1 (6 min budget), slide 1 of 6, ~0:30. Welcome. State the promise: by the end you will have built an MCP server that an LLM can call, and you will have seen why that is safer than letting a model do the arithmetic. Setup (uv, API key) was pre-work; check hands: who ran `uv run sci-check` successfully? Folder: mcp-science-tutorial.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1, slide 2 of 6, ~0:30. Walk the grid quickly. Highlight that section 7 (exercise) is the longest and hands-on. Mention the repo layout: demos/d01-d06 map to sections 1-6, exercises/ to section 7, notebooks/ to section 8. No agent framework: everything is plain Python plus the MCP SDK.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1, slide 3 of 6, ~1:15. Ask: when did a model last give you a confident but wrong number? Three failure modes: (1) arithmetic and units; (2) no access to your data; (3) no provenance. The remedy is not a smarter model, it is giving the model a way to call validated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1, slide 4 of 6, ~1:00. Division of labour. The model reads the question, picks a function, fills in arguments and writes up the result. The function itself is ordinary, unit-tested Python that you already trust. This is how scientific agents stay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1, slide 5 of 6 (live demo), ~1:45. Run d01. Without tools the model uses temperature 0.8 so you will see variation; some runs may be right, the point is that you cannot tell which. With the MCP tool the number is identical each time: 24.02 nm. If the network fails, show the expected value on this slide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1, slide 6 of 6, ~1:00. Criteria for what to wrap: deterministic, validated, explicit units, auditable results. Then flip: what in YOUR research fits? Keep the answer for the discussion in section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2 (4 min budget), slide 1 of 3, ~1:15. Five steps. Emphasise: the model only proposes a call. The host is in control: it can validate, refuse, log, ask the user for approval. That control point is where scientific and safety checks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2, slide 2 of 3, ~1:30. Three message shapes. Point out: (a) the schema is JSON Schema, the description is what the model reads when deciding; (b) arguments arrive as a JSON string; (c) the tool_call_id links the result to the request. This is the OpenAI-compatible wire format; MCP will generate the schema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2, slide 3 of 3 (live demo), ~1:15. Run d02, scroll to the printed assistant message and show tool_calls. If asked about other providers: base_url swaps endpoint, model swaps model; the model must support function calling (sci-check tests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3 (5 min budget), slide 1 of 4, ~1:00. Model Context Protocol is an open standard for connecting LLM applications to tools and data. Analogy: USB-C or the Language Server Protocol. Write a capability once as a server and any MCP host (chat app, IDE, your own script) can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3, slide 2 of 4, ~1:15. Host = the application that owns the LLM (Claude Desktop, an IDE, our agent.py). Each connection is a client-server pair. Messages are JSON-RPC. Two transports: stdio for local subprocess servers, Streamable HTTP for remote. Our servers support both: `uv run sci-geo-server --http`.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3, slide 3 of 4, ~1:00. Who decides when it is used? Tools: the model. Resources: the application (e.g. attach a well log as context). Prompts: the human (slash-command style). Most science servers start with tools, then add a resource for reference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3, slide 4 of 4 (include demo d03), ~1:45. Then demo d03 with `uv run demos/d03_inspect_server.py` (about 1 min): it lists tools, resources, templates and prompts with NO LLM involved, calls a tool directly, reads a resource and shows a rejected call. Key v2 changes to flag: FastMCP is now MCPServer; Client(target) accepts stdio params, a URL or an in-process server; ToolError is how you report anticipated failures so the model can recover.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4 (9 min budget), slide 1 of 5, ~1:30. Five design rules. Rule 1 is the most surprising for newcomers: tool descriptions are prompt text. Rule 4: in SDK v2 a ToolError message reaches the model; any other exception only shows 'Error executing tool X', so wrap expected validation failures. Show src/sci_mcp/servers/_common.py for result() and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4, slide 2 of 5, ~2:00. Live-code or walk through src/sci_mcp/servers/geoscience_server.py (the slide drops the shared helpers for space). Decorator registers the tool; the signature becomes the input schema; the docstring becomes the description. Return a dict so the model gets structured text. result() adds units, method and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4, slide 3 of 5, ~1:30. Resources are URI-addressed read-only data, with templates for parameterised URIs. Prompts are user-invoked templates. The compute() helper is the v2 error idiom we use everywhere. This is exactly the behaviour you will exploit in the exercise (rhob = 235).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4, slide 4 of 5, ~1:00. The server code does not change between transports. For this tutorial our client spawns servers with `python -m ...` using sys.executable so it works on Windows, macOS, Linux and Colab. For a real host, register with command and args. For team-wide use, run over HTTP behind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4, slide 5 of 5 (live demo), ~3:00. The agent prints each [turn] and tool call. Expect 2-3 turns: it needs densities before impedances before R. Compare the numbers in the trace to this table; they come from deterministic code so they must match even if the wording differs. Discuss: where did the model add value (planning, explanation) and where did code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5 (7 min budget), slide 1 of 4, ~1:45. Materials example. Four small validated tools in materials_server.py: Bragg, cubic lattice, Scherrer, Vegard. The numbers on the slide come from the unit-tested functions. Caveat to say out loud: Scherrer assumes instrument broadening has been subtracted; the tool description says so, which is how a model learns to warn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5, slide 2 of 4 (live demo), ~1:45. d05 loops over three prompts (XRD, alloy, geoscience) using BOTH servers at once; we only discuss the first two here. Ask the room to predict the crystallite size before it prints (28.0 nm).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5, slide 3 of 4, ~2:00. These R values come from the server tools (Gardner for density, then impedance contrast). Shale over limestone is the strongest reflector here. Notice limestone below shale reverses polarity (R = -0.369). The model can chain these for any pair; the physics is fixed in code. Resource geo://rock-properties gives typical ranges so the model does not invent 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5, slide 4 of 4, ~1:30. Toolbox in src/sci_mcp/client/toolbox.py keeps one MCP Client per server (via AsyncExitStack), lists their tools, converts MCP schemas to OpenAI function schemas and routes calls back by prefix. The model sees all tools in one flat list. Cross-domain questions just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6 (5 min budget), slide 1 of 3, ~1:30. One assistant message can contain several tool_calls when the requests do not depend on each other: measure four samples, query three wells, evaluate five interfaces. The host can run them concurrently. Dependent calls (density before impedance) must stay sequential. Not every endpoint supports parallel_tool_calls; many do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6, slide 2 of 3, ~1:15. The whole change is asyncio.gather. Keep tool messages matched to call ids; the API requires a response for every tool_call. If any call fails, still return an error message for that id and let the model decide. For instruments or anything stateful, run sequentially.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6, slide 3 of 3 (live demo), ~2:15. The chart shows the ideal 4 x 1.5 s vs 1.5 s; actual wall-clock includes model latency. Whether the model emits all four calls in one turn varies by model and prompt; the demo prompt asks for it explicitly. The offline test suite (tests/test_agent_e2e.py) proves the speed-up with a scripted endpoint: about 1 s vs 4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7 (12 min budget), slide 1 of 3: brief ~1:30. Everyone works from the repo; Part A needs no API key so it also works if the network is down. Circulate. Pairs are fine. Point to exercises/EXERCISES.md.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7, slide 2 of 3: leave up during Parts A and B, ~7:00. Expected values: rhob 2.35 -&gt; 0.1818; limestone matrix 2.71 and fluid 1.1 with rhob 2.40 -&gt; 0.1925; rhob 5.0 must be rejected with a helpful message. Common slips: forgetting to import ToolError (already imported in the skeleton), returning a bare float, or leaving the TODO docstring.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7, slide 3 of 3: debrief ~3:30. Ask 2-3 groups what happened on Q3. Key lesson: validation lives in the tool, not in the prompt, so every client gets it. Then connect to discussion prompts (right) which seed section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8 (3 min budget), ~3:00. Same code, different environment. Colab: store OPENAI_API_KEY in Secrets (key icon), pip install 'mcp&gt;=2,&lt;3' openai, and use Client(server) in-process so there is no subprocess to manage. Notebooks already run an event loop so use top-level await. Local IDE: best for building and testing servers you will keep, and for anything that needs local files or a VPN.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9 (4 min budget), slide 1 of 2, ~1:30. A five-step recipe to move from this tutorial to your own domain (spectroscopy, inversion, seismic processing, simulations). Start with the smallest trustworthy function. Encourage unit tests on the physics module first, then the thin server wrapper.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Section 9, slide 2 of 2, ~2:30. Open the floor. Parking-lot topics: authentication for remote servers, sampling and elicitation (server-initiated requests), long-running jobs, packaging with uv tool / MCPB, and evaluating tool-use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725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863840" cy="137160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3" name="Text 0"/>
          <p:cNvSpPr/>
          <p:nvPr>
            <p:ph idx="101" type="body" hasCustomPrompt="1"/>
          </p:nvPr>
        </p:nvSpPr>
        <p:spPr>
          <a:xfrm>
            <a:off x="640080" y="2926080"/>
            <a:ext cx="7315200" cy="8229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73168"/>
            <a:ext cx="45720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Tool calling and MCP for scientific agents</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MO">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457200" y="4773168"/>
            <a:ext cx="45720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Tool calling and MCP for scientific agents</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3.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863840" cy="137160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Tool calling and MCP</a:t>
            </a:r>
            <a:endParaRPr lang="en-US" sz="3800" dirty="0"/>
          </a:p>
          <a:p>
            <a:pPr algn="l" indent="0" marL="0">
              <a:buNone/>
            </a:pPr>
            <a:r>
              <a:rPr lang="en-US" sz="3800" b="1" dirty="0">
                <a:solidFill>
                  <a:schemeClr val="bg1"/>
                </a:solidFill>
                <a:latin typeface="Cambria" pitchFamily="34" charset="0"/>
                <a:ea typeface="Cambria" pitchFamily="34" charset="-122"/>
                <a:cs typeface="Cambria" pitchFamily="34" charset="-120"/>
              </a:rPr>
              <a:t>for scientific agents</a:t>
            </a:r>
            <a:endParaRPr lang="en-US" sz="3800" dirty="0"/>
          </a:p>
        </p:txBody>
      </p:sp>
      <p:sp>
        <p:nvSpPr>
          <p:cNvPr id="3" name="Text 0"/>
          <p:cNvSpPr/>
          <p:nvPr>
            <p:ph idx="101" type="body" hasCustomPrompt="1"/>
          </p:nvPr>
        </p:nvSpPr>
        <p:spPr>
          <a:xfrm>
            <a:off x="640080" y="2926080"/>
            <a:ext cx="7315200" cy="822960"/>
          </a:xfrm>
          <a:prstGeom prst="rect">
            <a:avLst/>
          </a:prstGeom>
          <a:noFill/>
          <a:ln/>
        </p:spPr>
        <p:txBody>
          <a:bodyPr wrap="square" lIns="0" tIns="0" rIns="0" bIns="0" rtlCol="0" anchor="t"/>
          <a:lstStyle/>
          <a:p>
            <a:pPr indent="0" marL="0">
              <a:buNone/>
            </a:pPr>
            <a:r>
              <a:rPr lang="en-US" sz="1800" dirty="0">
                <a:solidFill>
                  <a:schemeClr val="bg2"/>
                </a:solidFill>
              </a:rPr>
              <a:t>Giving language models access to validated scientific capabilities</a:t>
            </a:r>
            <a:endParaRPr lang="en-US" sz="1800" dirty="0"/>
          </a:p>
          <a:p>
            <a:pPr indent="0" marL="0">
              <a:buNone/>
            </a:pPr>
            <a:r>
              <a:rPr lang="en-US" sz="1800" dirty="0">
                <a:solidFill>
                  <a:schemeClr val="bg2"/>
                </a:solidFill>
              </a:rPr>
              <a:t>Materials science and geoscience examples  ·  55-minute tutorial</a:t>
            </a:r>
            <a:endParaRPr lang="en-US" sz="1800" dirty="0"/>
          </a:p>
        </p:txBody>
      </p:sp>
      <p:sp>
        <p:nvSpPr>
          <p:cNvPr id="4" name="Motif tile"/>
          <p:cNvSpPr/>
          <p:nvPr/>
        </p:nvSpPr>
        <p:spPr>
          <a:xfrm>
            <a:off x="640080" y="640080"/>
            <a:ext cx="457200" cy="457200"/>
          </a:xfrm>
          <a:prstGeom prst="roundRect">
            <a:avLst>
              <a:gd name="adj" fmla="val 20000"/>
            </a:avLst>
          </a:prstGeom>
          <a:solidFill>
            <a:srgbClr val="E8871E"/>
          </a:solidFill>
          <a:ln w="12700">
            <a:solidFill>
              <a:srgbClr val="E8871E"/>
            </a:solidFill>
            <a:prstDash val="solid"/>
          </a:ln>
        </p:spPr>
      </p:sp>
      <p:sp>
        <p:nvSpPr>
          <p:cNvPr id="5" name="Motif tile"/>
          <p:cNvSpPr/>
          <p:nvPr/>
        </p:nvSpPr>
        <p:spPr>
          <a:xfrm>
            <a:off x="1207008" y="640080"/>
            <a:ext cx="457200" cy="457200"/>
          </a:xfrm>
          <a:prstGeom prst="roundRect">
            <a:avLst>
              <a:gd name="adj" fmla="val 20000"/>
            </a:avLst>
          </a:prstGeom>
          <a:solidFill>
            <a:srgbClr val="1F8A8A"/>
          </a:solidFill>
          <a:ln w="12700">
            <a:solidFill>
              <a:srgbClr val="1F8A8A"/>
            </a:solidFill>
            <a:prstDash val="solid"/>
          </a:ln>
        </p:spPr>
      </p:sp>
      <p:sp>
        <p:nvSpPr>
          <p:cNvPr id="6" name="Motif tile"/>
          <p:cNvSpPr/>
          <p:nvPr/>
        </p:nvSpPr>
        <p:spPr>
          <a:xfrm>
            <a:off x="1773936" y="640080"/>
            <a:ext cx="457200" cy="457200"/>
          </a:xfrm>
          <a:prstGeom prst="roundRect">
            <a:avLst>
              <a:gd name="adj" fmla="val 20000"/>
            </a:avLst>
          </a:prstGeom>
          <a:solidFill>
            <a:srgbClr val="3D5A80"/>
          </a:solidFill>
          <a:ln w="12700">
            <a:solidFill>
              <a:srgbClr val="3D5A80"/>
            </a:solidFill>
            <a:prstDash val="solid"/>
          </a:ln>
        </p:spPr>
      </p:sp>
      <p:sp>
        <p:nvSpPr>
          <p:cNvPr id="7" name="Motif tile"/>
          <p:cNvSpPr/>
          <p:nvPr/>
        </p:nvSpPr>
        <p:spPr>
          <a:xfrm>
            <a:off x="2340864" y="640080"/>
            <a:ext cx="457200" cy="457200"/>
          </a:xfrm>
          <a:prstGeom prst="roundRect">
            <a:avLst>
              <a:gd name="adj" fmla="val 20000"/>
            </a:avLst>
          </a:prstGeom>
          <a:solidFill>
            <a:srgbClr val="C8553D"/>
          </a:solidFill>
          <a:ln w="12700">
            <a:solidFill>
              <a:srgbClr val="C8553D"/>
            </a:solidFill>
            <a:prstDash val="solid"/>
          </a:ln>
        </p:spPr>
      </p:sp>
      <p:sp>
        <p:nvSpPr>
          <p:cNvPr id="8" name="Motif tile"/>
          <p:cNvSpPr/>
          <p:nvPr/>
        </p:nvSpPr>
        <p:spPr>
          <a:xfrm>
            <a:off x="2907792" y="640080"/>
            <a:ext cx="457200" cy="457200"/>
          </a:xfrm>
          <a:prstGeom prst="roundRect">
            <a:avLst>
              <a:gd name="adj" fmla="val 20000"/>
            </a:avLst>
          </a:prstGeom>
          <a:solidFill>
            <a:srgbClr val="7A9E7E"/>
          </a:solidFill>
          <a:ln w="12700">
            <a:solidFill>
              <a:srgbClr val="7A9E7E"/>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55 minutes, nine steps</a:t>
            </a:r>
            <a:endParaRPr lang="en-US" sz="3000" dirty="0"/>
          </a:p>
        </p:txBody>
      </p:sp>
      <p:sp>
        <p:nvSpPr>
          <p:cNvPr id="3" name="Card"/>
          <p:cNvSpPr/>
          <p:nvPr/>
        </p:nvSpPr>
        <p:spPr>
          <a:xfrm>
            <a:off x="457200" y="1508760"/>
            <a:ext cx="2651760" cy="896112"/>
          </a:xfrm>
          <a:prstGeom prst="roundRect">
            <a:avLst>
              <a:gd name="adj" fmla="val 816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594360" y="1728216"/>
            <a:ext cx="457200" cy="457200"/>
          </a:xfrm>
          <a:prstGeom prst="ellipse">
            <a:avLst/>
          </a:prstGeom>
          <a:solidFill>
            <a:srgbClr val="2F4858"/>
          </a:solidFill>
          <a:ln w="12700">
            <a:solidFill>
              <a:srgbClr val="2F4858"/>
            </a:solidFill>
            <a:prstDash val="solid"/>
          </a:ln>
        </p:spPr>
      </p:sp>
      <p:sp>
        <p:nvSpPr>
          <p:cNvPr id="5" name="Text 3"/>
          <p:cNvSpPr txBox="1"/>
          <p:nvPr/>
        </p:nvSpPr>
        <p:spPr>
          <a:xfrm>
            <a:off x="594360" y="172821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170432" y="1636776"/>
            <a:ext cx="187452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Why tool calling</a:t>
            </a:r>
            <a:endParaRPr lang="en-US" sz="1400" dirty="0"/>
          </a:p>
        </p:txBody>
      </p:sp>
      <p:sp>
        <p:nvSpPr>
          <p:cNvPr id="7" name="Text 5"/>
          <p:cNvSpPr txBox="1"/>
          <p:nvPr/>
        </p:nvSpPr>
        <p:spPr>
          <a:xfrm>
            <a:off x="1170432" y="2039112"/>
            <a:ext cx="1874520" cy="274320"/>
          </a:xfrm>
          <a:prstGeom prst="rect">
            <a:avLst/>
          </a:prstGeom>
          <a:noFill/>
          <a:ln/>
        </p:spPr>
        <p:txBody>
          <a:bodyPr wrap="square" lIns="0" tIns="0" rIns="0" bIns="0" rtlCol="0" anchor="ctr"/>
          <a:lstStyle/>
          <a:p>
            <a:pPr indent="0" marL="0">
              <a:buNone/>
            </a:pPr>
            <a:r>
              <a:rPr lang="en-US" sz="1200" dirty="0">
                <a:solidFill>
                  <a:schemeClr val="accent3"/>
                </a:solidFill>
                <a:latin typeface="Calibri" pitchFamily="34" charset="0"/>
                <a:ea typeface="Calibri" pitchFamily="34" charset="-122"/>
                <a:cs typeface="Calibri" pitchFamily="34" charset="-120"/>
              </a:rPr>
              <a:t>6 min</a:t>
            </a:r>
            <a:endParaRPr lang="en-US" sz="1200" dirty="0"/>
          </a:p>
        </p:txBody>
      </p:sp>
      <p:sp>
        <p:nvSpPr>
          <p:cNvPr id="8" name="Card"/>
          <p:cNvSpPr/>
          <p:nvPr/>
        </p:nvSpPr>
        <p:spPr>
          <a:xfrm>
            <a:off x="3264408" y="1508760"/>
            <a:ext cx="2651760" cy="896112"/>
          </a:xfrm>
          <a:prstGeom prst="roundRect">
            <a:avLst>
              <a:gd name="adj" fmla="val 816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3401568" y="1728216"/>
            <a:ext cx="457200" cy="457200"/>
          </a:xfrm>
          <a:prstGeom prst="ellipse">
            <a:avLst/>
          </a:prstGeom>
          <a:solidFill>
            <a:srgbClr val="2F4858"/>
          </a:solidFill>
          <a:ln w="12700">
            <a:solidFill>
              <a:srgbClr val="2F4858"/>
            </a:solidFill>
            <a:prstDash val="solid"/>
          </a:ln>
        </p:spPr>
      </p:sp>
      <p:sp>
        <p:nvSpPr>
          <p:cNvPr id="10" name="Text 8"/>
          <p:cNvSpPr txBox="1"/>
          <p:nvPr/>
        </p:nvSpPr>
        <p:spPr>
          <a:xfrm>
            <a:off x="3401568" y="172821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3977640" y="1636776"/>
            <a:ext cx="187452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How models request tools</a:t>
            </a:r>
            <a:endParaRPr lang="en-US" sz="1400" dirty="0"/>
          </a:p>
        </p:txBody>
      </p:sp>
      <p:sp>
        <p:nvSpPr>
          <p:cNvPr id="12" name="Text 10"/>
          <p:cNvSpPr txBox="1"/>
          <p:nvPr/>
        </p:nvSpPr>
        <p:spPr>
          <a:xfrm>
            <a:off x="3977640" y="2039112"/>
            <a:ext cx="1874520" cy="274320"/>
          </a:xfrm>
          <a:prstGeom prst="rect">
            <a:avLst/>
          </a:prstGeom>
          <a:noFill/>
          <a:ln/>
        </p:spPr>
        <p:txBody>
          <a:bodyPr wrap="square" lIns="0" tIns="0" rIns="0" bIns="0" rtlCol="0" anchor="ctr"/>
          <a:lstStyle/>
          <a:p>
            <a:pPr indent="0" marL="0">
              <a:buNone/>
            </a:pPr>
            <a:r>
              <a:rPr lang="en-US" sz="1200" dirty="0">
                <a:solidFill>
                  <a:schemeClr val="accent3"/>
                </a:solidFill>
                <a:latin typeface="Calibri" pitchFamily="34" charset="0"/>
                <a:ea typeface="Calibri" pitchFamily="34" charset="-122"/>
                <a:cs typeface="Calibri" pitchFamily="34" charset="-120"/>
              </a:rPr>
              <a:t>4 min</a:t>
            </a:r>
            <a:endParaRPr lang="en-US" sz="1200" dirty="0"/>
          </a:p>
        </p:txBody>
      </p:sp>
      <p:sp>
        <p:nvSpPr>
          <p:cNvPr id="13" name="Card"/>
          <p:cNvSpPr/>
          <p:nvPr/>
        </p:nvSpPr>
        <p:spPr>
          <a:xfrm>
            <a:off x="6071616" y="1508760"/>
            <a:ext cx="2651760" cy="896112"/>
          </a:xfrm>
          <a:prstGeom prst="roundRect">
            <a:avLst>
              <a:gd name="adj" fmla="val 816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6208776" y="1728216"/>
            <a:ext cx="457200" cy="457200"/>
          </a:xfrm>
          <a:prstGeom prst="ellipse">
            <a:avLst/>
          </a:prstGeom>
          <a:solidFill>
            <a:srgbClr val="2F4858"/>
          </a:solidFill>
          <a:ln w="12700">
            <a:solidFill>
              <a:srgbClr val="2F4858"/>
            </a:solidFill>
            <a:prstDash val="solid"/>
          </a:ln>
        </p:spPr>
      </p:sp>
      <p:sp>
        <p:nvSpPr>
          <p:cNvPr id="15" name="Text 13"/>
          <p:cNvSpPr txBox="1"/>
          <p:nvPr/>
        </p:nvSpPr>
        <p:spPr>
          <a:xfrm>
            <a:off x="6208776" y="172821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6784848" y="1636776"/>
            <a:ext cx="187452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MCP architecture</a:t>
            </a:r>
            <a:endParaRPr lang="en-US" sz="1400" dirty="0"/>
          </a:p>
        </p:txBody>
      </p:sp>
      <p:sp>
        <p:nvSpPr>
          <p:cNvPr id="17" name="Text 15"/>
          <p:cNvSpPr txBox="1"/>
          <p:nvPr/>
        </p:nvSpPr>
        <p:spPr>
          <a:xfrm>
            <a:off x="6784848" y="2039112"/>
            <a:ext cx="1874520" cy="274320"/>
          </a:xfrm>
          <a:prstGeom prst="rect">
            <a:avLst/>
          </a:prstGeom>
          <a:noFill/>
          <a:ln/>
        </p:spPr>
        <p:txBody>
          <a:bodyPr wrap="square" lIns="0" tIns="0" rIns="0" bIns="0" rtlCol="0" anchor="ctr"/>
          <a:lstStyle/>
          <a:p>
            <a:pPr indent="0" marL="0">
              <a:buNone/>
            </a:pPr>
            <a:r>
              <a:rPr lang="en-US" sz="1200" dirty="0">
                <a:solidFill>
                  <a:schemeClr val="accent3"/>
                </a:solidFill>
                <a:latin typeface="Calibri" pitchFamily="34" charset="0"/>
                <a:ea typeface="Calibri" pitchFamily="34" charset="-122"/>
                <a:cs typeface="Calibri" pitchFamily="34" charset="-120"/>
              </a:rPr>
              <a:t>5 min</a:t>
            </a:r>
            <a:endParaRPr lang="en-US" sz="1200" dirty="0"/>
          </a:p>
        </p:txBody>
      </p:sp>
      <p:sp>
        <p:nvSpPr>
          <p:cNvPr id="18" name="Card"/>
          <p:cNvSpPr/>
          <p:nvPr/>
        </p:nvSpPr>
        <p:spPr>
          <a:xfrm>
            <a:off x="457200" y="2560320"/>
            <a:ext cx="2651760" cy="896112"/>
          </a:xfrm>
          <a:prstGeom prst="roundRect">
            <a:avLst>
              <a:gd name="adj" fmla="val 816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594360" y="2779776"/>
            <a:ext cx="457200" cy="457200"/>
          </a:xfrm>
          <a:prstGeom prst="ellipse">
            <a:avLst/>
          </a:prstGeom>
          <a:solidFill>
            <a:srgbClr val="3D5A80"/>
          </a:solidFill>
          <a:ln w="12700">
            <a:solidFill>
              <a:srgbClr val="3D5A80"/>
            </a:solidFill>
            <a:prstDash val="solid"/>
          </a:ln>
        </p:spPr>
      </p:sp>
      <p:sp>
        <p:nvSpPr>
          <p:cNvPr id="20" name="Text 18"/>
          <p:cNvSpPr txBox="1"/>
          <p:nvPr/>
        </p:nvSpPr>
        <p:spPr>
          <a:xfrm>
            <a:off x="594360" y="277977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4</a:t>
            </a:r>
            <a:endParaRPr lang="en-US" sz="1800" dirty="0"/>
          </a:p>
        </p:txBody>
      </p:sp>
      <p:sp>
        <p:nvSpPr>
          <p:cNvPr id="21" name="Text 19"/>
          <p:cNvSpPr txBox="1"/>
          <p:nvPr/>
        </p:nvSpPr>
        <p:spPr>
          <a:xfrm>
            <a:off x="1170432" y="2688336"/>
            <a:ext cx="187452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Build and use a server</a:t>
            </a:r>
            <a:endParaRPr lang="en-US" sz="1400" dirty="0"/>
          </a:p>
        </p:txBody>
      </p:sp>
      <p:sp>
        <p:nvSpPr>
          <p:cNvPr id="22" name="Text 20"/>
          <p:cNvSpPr txBox="1"/>
          <p:nvPr/>
        </p:nvSpPr>
        <p:spPr>
          <a:xfrm>
            <a:off x="1170432" y="3090672"/>
            <a:ext cx="1874520" cy="274320"/>
          </a:xfrm>
          <a:prstGeom prst="rect">
            <a:avLst/>
          </a:prstGeom>
          <a:noFill/>
          <a:ln/>
        </p:spPr>
        <p:txBody>
          <a:bodyPr wrap="square" lIns="0" tIns="0" rIns="0" bIns="0" rtlCol="0" anchor="ctr"/>
          <a:lstStyle/>
          <a:p>
            <a:pPr indent="0" marL="0">
              <a:buNone/>
            </a:pPr>
            <a:r>
              <a:rPr lang="en-US" sz="1200" dirty="0">
                <a:solidFill>
                  <a:schemeClr val="accent3"/>
                </a:solidFill>
                <a:latin typeface="Calibri" pitchFamily="34" charset="0"/>
                <a:ea typeface="Calibri" pitchFamily="34" charset="-122"/>
                <a:cs typeface="Calibri" pitchFamily="34" charset="-120"/>
              </a:rPr>
              <a:t>9 min</a:t>
            </a:r>
            <a:endParaRPr lang="en-US" sz="1200" dirty="0"/>
          </a:p>
        </p:txBody>
      </p:sp>
      <p:sp>
        <p:nvSpPr>
          <p:cNvPr id="23" name="Card"/>
          <p:cNvSpPr/>
          <p:nvPr/>
        </p:nvSpPr>
        <p:spPr>
          <a:xfrm>
            <a:off x="3264408" y="2560320"/>
            <a:ext cx="2651760" cy="896112"/>
          </a:xfrm>
          <a:prstGeom prst="roundRect">
            <a:avLst>
              <a:gd name="adj" fmla="val 816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3401568" y="2779776"/>
            <a:ext cx="457200" cy="457200"/>
          </a:xfrm>
          <a:prstGeom prst="ellipse">
            <a:avLst/>
          </a:prstGeom>
          <a:solidFill>
            <a:srgbClr val="3D5A80"/>
          </a:solidFill>
          <a:ln w="12700">
            <a:solidFill>
              <a:srgbClr val="3D5A80"/>
            </a:solidFill>
            <a:prstDash val="solid"/>
          </a:ln>
        </p:spPr>
      </p:sp>
      <p:sp>
        <p:nvSpPr>
          <p:cNvPr id="25" name="Text 23"/>
          <p:cNvSpPr txBox="1"/>
          <p:nvPr/>
        </p:nvSpPr>
        <p:spPr>
          <a:xfrm>
            <a:off x="3401568" y="277977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5</a:t>
            </a:r>
            <a:endParaRPr lang="en-US" sz="1800" dirty="0"/>
          </a:p>
        </p:txBody>
      </p:sp>
      <p:sp>
        <p:nvSpPr>
          <p:cNvPr id="26" name="Text 24"/>
          <p:cNvSpPr txBox="1"/>
          <p:nvPr/>
        </p:nvSpPr>
        <p:spPr>
          <a:xfrm>
            <a:off x="3977640" y="2688336"/>
            <a:ext cx="187452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Materials and geoscience</a:t>
            </a:r>
            <a:endParaRPr lang="en-US" sz="1400" dirty="0"/>
          </a:p>
        </p:txBody>
      </p:sp>
      <p:sp>
        <p:nvSpPr>
          <p:cNvPr id="27" name="Text 25"/>
          <p:cNvSpPr txBox="1"/>
          <p:nvPr/>
        </p:nvSpPr>
        <p:spPr>
          <a:xfrm>
            <a:off x="3977640" y="3090672"/>
            <a:ext cx="1874520" cy="274320"/>
          </a:xfrm>
          <a:prstGeom prst="rect">
            <a:avLst/>
          </a:prstGeom>
          <a:noFill/>
          <a:ln/>
        </p:spPr>
        <p:txBody>
          <a:bodyPr wrap="square" lIns="0" tIns="0" rIns="0" bIns="0" rtlCol="0" anchor="ctr"/>
          <a:lstStyle/>
          <a:p>
            <a:pPr indent="0" marL="0">
              <a:buNone/>
            </a:pPr>
            <a:r>
              <a:rPr lang="en-US" sz="1200" dirty="0">
                <a:solidFill>
                  <a:schemeClr val="accent3"/>
                </a:solidFill>
                <a:latin typeface="Calibri" pitchFamily="34" charset="0"/>
                <a:ea typeface="Calibri" pitchFamily="34" charset="-122"/>
                <a:cs typeface="Calibri" pitchFamily="34" charset="-120"/>
              </a:rPr>
              <a:t>7 min</a:t>
            </a:r>
            <a:endParaRPr lang="en-US" sz="1200" dirty="0"/>
          </a:p>
        </p:txBody>
      </p:sp>
      <p:sp>
        <p:nvSpPr>
          <p:cNvPr id="28" name="Card"/>
          <p:cNvSpPr/>
          <p:nvPr/>
        </p:nvSpPr>
        <p:spPr>
          <a:xfrm>
            <a:off x="6071616" y="2560320"/>
            <a:ext cx="2651760" cy="896112"/>
          </a:xfrm>
          <a:prstGeom prst="roundRect">
            <a:avLst>
              <a:gd name="adj" fmla="val 816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9" name="Shape 27"/>
          <p:cNvSpPr/>
          <p:nvPr/>
        </p:nvSpPr>
        <p:spPr>
          <a:xfrm>
            <a:off x="6208776" y="2779776"/>
            <a:ext cx="457200" cy="457200"/>
          </a:xfrm>
          <a:prstGeom prst="ellipse">
            <a:avLst/>
          </a:prstGeom>
          <a:solidFill>
            <a:srgbClr val="3D5A80"/>
          </a:solidFill>
          <a:ln w="12700">
            <a:solidFill>
              <a:srgbClr val="3D5A80"/>
            </a:solidFill>
            <a:prstDash val="solid"/>
          </a:ln>
        </p:spPr>
      </p:sp>
      <p:sp>
        <p:nvSpPr>
          <p:cNvPr id="30" name="Text 28"/>
          <p:cNvSpPr txBox="1"/>
          <p:nvPr/>
        </p:nvSpPr>
        <p:spPr>
          <a:xfrm>
            <a:off x="6208776" y="277977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6</a:t>
            </a:r>
            <a:endParaRPr lang="en-US" sz="1800" dirty="0"/>
          </a:p>
        </p:txBody>
      </p:sp>
      <p:sp>
        <p:nvSpPr>
          <p:cNvPr id="31" name="Text 29"/>
          <p:cNvSpPr txBox="1"/>
          <p:nvPr/>
        </p:nvSpPr>
        <p:spPr>
          <a:xfrm>
            <a:off x="6784848" y="2688336"/>
            <a:ext cx="187452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Parallel tool calls</a:t>
            </a:r>
            <a:endParaRPr lang="en-US" sz="1400" dirty="0"/>
          </a:p>
        </p:txBody>
      </p:sp>
      <p:sp>
        <p:nvSpPr>
          <p:cNvPr id="32" name="Text 30"/>
          <p:cNvSpPr txBox="1"/>
          <p:nvPr/>
        </p:nvSpPr>
        <p:spPr>
          <a:xfrm>
            <a:off x="6784848" y="3090672"/>
            <a:ext cx="1874520" cy="274320"/>
          </a:xfrm>
          <a:prstGeom prst="rect">
            <a:avLst/>
          </a:prstGeom>
          <a:noFill/>
          <a:ln/>
        </p:spPr>
        <p:txBody>
          <a:bodyPr wrap="square" lIns="0" tIns="0" rIns="0" bIns="0" rtlCol="0" anchor="ctr"/>
          <a:lstStyle/>
          <a:p>
            <a:pPr indent="0" marL="0">
              <a:buNone/>
            </a:pPr>
            <a:r>
              <a:rPr lang="en-US" sz="1200" dirty="0">
                <a:solidFill>
                  <a:schemeClr val="accent3"/>
                </a:solidFill>
                <a:latin typeface="Calibri" pitchFamily="34" charset="0"/>
                <a:ea typeface="Calibri" pitchFamily="34" charset="-122"/>
                <a:cs typeface="Calibri" pitchFamily="34" charset="-120"/>
              </a:rPr>
              <a:t>5 min</a:t>
            </a:r>
            <a:endParaRPr lang="en-US" sz="1200" dirty="0"/>
          </a:p>
        </p:txBody>
      </p:sp>
      <p:sp>
        <p:nvSpPr>
          <p:cNvPr id="33" name="Card"/>
          <p:cNvSpPr/>
          <p:nvPr/>
        </p:nvSpPr>
        <p:spPr>
          <a:xfrm>
            <a:off x="457200" y="3611880"/>
            <a:ext cx="2651760" cy="896112"/>
          </a:xfrm>
          <a:prstGeom prst="roundRect">
            <a:avLst>
              <a:gd name="adj" fmla="val 816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4" name="Shape 32"/>
          <p:cNvSpPr/>
          <p:nvPr/>
        </p:nvSpPr>
        <p:spPr>
          <a:xfrm>
            <a:off x="594360" y="3831336"/>
            <a:ext cx="457200" cy="457200"/>
          </a:xfrm>
          <a:prstGeom prst="ellipse">
            <a:avLst/>
          </a:prstGeom>
          <a:solidFill>
            <a:srgbClr val="E8871E"/>
          </a:solidFill>
          <a:ln w="12700">
            <a:solidFill>
              <a:srgbClr val="E8871E"/>
            </a:solidFill>
            <a:prstDash val="solid"/>
          </a:ln>
        </p:spPr>
      </p:sp>
      <p:sp>
        <p:nvSpPr>
          <p:cNvPr id="35" name="Text 33"/>
          <p:cNvSpPr txBox="1"/>
          <p:nvPr/>
        </p:nvSpPr>
        <p:spPr>
          <a:xfrm>
            <a:off x="594360" y="383133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7</a:t>
            </a:r>
            <a:endParaRPr lang="en-US" sz="1800" dirty="0"/>
          </a:p>
        </p:txBody>
      </p:sp>
      <p:sp>
        <p:nvSpPr>
          <p:cNvPr id="36" name="Text 34"/>
          <p:cNvSpPr txBox="1"/>
          <p:nvPr/>
        </p:nvSpPr>
        <p:spPr>
          <a:xfrm>
            <a:off x="1170432" y="3739896"/>
            <a:ext cx="187452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Porosity exercise</a:t>
            </a:r>
            <a:endParaRPr lang="en-US" sz="1400" dirty="0"/>
          </a:p>
        </p:txBody>
      </p:sp>
      <p:sp>
        <p:nvSpPr>
          <p:cNvPr id="37" name="Text 35"/>
          <p:cNvSpPr txBox="1"/>
          <p:nvPr/>
        </p:nvSpPr>
        <p:spPr>
          <a:xfrm>
            <a:off x="1170432" y="4142232"/>
            <a:ext cx="1874520" cy="274320"/>
          </a:xfrm>
          <a:prstGeom prst="rect">
            <a:avLst/>
          </a:prstGeom>
          <a:noFill/>
          <a:ln/>
        </p:spPr>
        <p:txBody>
          <a:bodyPr wrap="square" lIns="0" tIns="0" rIns="0" bIns="0" rtlCol="0" anchor="ctr"/>
          <a:lstStyle/>
          <a:p>
            <a:pPr indent="0" marL="0">
              <a:buNone/>
            </a:pPr>
            <a:r>
              <a:rPr lang="en-US" sz="1200" dirty="0">
                <a:solidFill>
                  <a:schemeClr val="accent3"/>
                </a:solidFill>
                <a:latin typeface="Calibri" pitchFamily="34" charset="0"/>
                <a:ea typeface="Calibri" pitchFamily="34" charset="-122"/>
                <a:cs typeface="Calibri" pitchFamily="34" charset="-120"/>
              </a:rPr>
              <a:t>12 min</a:t>
            </a:r>
            <a:endParaRPr lang="en-US" sz="1200" dirty="0"/>
          </a:p>
        </p:txBody>
      </p:sp>
      <p:sp>
        <p:nvSpPr>
          <p:cNvPr id="38" name="Card"/>
          <p:cNvSpPr/>
          <p:nvPr/>
        </p:nvSpPr>
        <p:spPr>
          <a:xfrm>
            <a:off x="3264408" y="3611880"/>
            <a:ext cx="2651760" cy="896112"/>
          </a:xfrm>
          <a:prstGeom prst="roundRect">
            <a:avLst>
              <a:gd name="adj" fmla="val 816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9" name="Shape 37"/>
          <p:cNvSpPr/>
          <p:nvPr/>
        </p:nvSpPr>
        <p:spPr>
          <a:xfrm>
            <a:off x="3401568" y="3831336"/>
            <a:ext cx="457200" cy="457200"/>
          </a:xfrm>
          <a:prstGeom prst="ellipse">
            <a:avLst/>
          </a:prstGeom>
          <a:solidFill>
            <a:srgbClr val="1F8A8A"/>
          </a:solidFill>
          <a:ln w="12700">
            <a:solidFill>
              <a:srgbClr val="1F8A8A"/>
            </a:solidFill>
            <a:prstDash val="solid"/>
          </a:ln>
        </p:spPr>
      </p:sp>
      <p:sp>
        <p:nvSpPr>
          <p:cNvPr id="40" name="Text 38"/>
          <p:cNvSpPr txBox="1"/>
          <p:nvPr/>
        </p:nvSpPr>
        <p:spPr>
          <a:xfrm>
            <a:off x="3401568" y="383133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8</a:t>
            </a:r>
            <a:endParaRPr lang="en-US" sz="1800" dirty="0"/>
          </a:p>
        </p:txBody>
      </p:sp>
      <p:sp>
        <p:nvSpPr>
          <p:cNvPr id="41" name="Text 39"/>
          <p:cNvSpPr txBox="1"/>
          <p:nvPr/>
        </p:nvSpPr>
        <p:spPr>
          <a:xfrm>
            <a:off x="3977640" y="3739896"/>
            <a:ext cx="187452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Local IDE vs Colab</a:t>
            </a:r>
            <a:endParaRPr lang="en-US" sz="1400" dirty="0"/>
          </a:p>
        </p:txBody>
      </p:sp>
      <p:sp>
        <p:nvSpPr>
          <p:cNvPr id="42" name="Text 40"/>
          <p:cNvSpPr txBox="1"/>
          <p:nvPr/>
        </p:nvSpPr>
        <p:spPr>
          <a:xfrm>
            <a:off x="3977640" y="4142232"/>
            <a:ext cx="1874520" cy="274320"/>
          </a:xfrm>
          <a:prstGeom prst="rect">
            <a:avLst/>
          </a:prstGeom>
          <a:noFill/>
          <a:ln/>
        </p:spPr>
        <p:txBody>
          <a:bodyPr wrap="square" lIns="0" tIns="0" rIns="0" bIns="0" rtlCol="0" anchor="ctr"/>
          <a:lstStyle/>
          <a:p>
            <a:pPr indent="0" marL="0">
              <a:buNone/>
            </a:pPr>
            <a:r>
              <a:rPr lang="en-US" sz="1200" dirty="0">
                <a:solidFill>
                  <a:schemeClr val="accent3"/>
                </a:solidFill>
                <a:latin typeface="Calibri" pitchFamily="34" charset="0"/>
                <a:ea typeface="Calibri" pitchFamily="34" charset="-122"/>
                <a:cs typeface="Calibri" pitchFamily="34" charset="-120"/>
              </a:rPr>
              <a:t>3 min</a:t>
            </a:r>
            <a:endParaRPr lang="en-US" sz="1200" dirty="0"/>
          </a:p>
        </p:txBody>
      </p:sp>
      <p:sp>
        <p:nvSpPr>
          <p:cNvPr id="43" name="Card"/>
          <p:cNvSpPr/>
          <p:nvPr/>
        </p:nvSpPr>
        <p:spPr>
          <a:xfrm>
            <a:off x="6071616" y="3611880"/>
            <a:ext cx="2651760" cy="896112"/>
          </a:xfrm>
          <a:prstGeom prst="roundRect">
            <a:avLst>
              <a:gd name="adj" fmla="val 816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4" name="Shape 42"/>
          <p:cNvSpPr/>
          <p:nvPr/>
        </p:nvSpPr>
        <p:spPr>
          <a:xfrm>
            <a:off x="6208776" y="3831336"/>
            <a:ext cx="457200" cy="457200"/>
          </a:xfrm>
          <a:prstGeom prst="ellipse">
            <a:avLst/>
          </a:prstGeom>
          <a:solidFill>
            <a:srgbClr val="1F8A8A"/>
          </a:solidFill>
          <a:ln w="12700">
            <a:solidFill>
              <a:srgbClr val="1F8A8A"/>
            </a:solidFill>
            <a:prstDash val="solid"/>
          </a:ln>
        </p:spPr>
      </p:sp>
      <p:sp>
        <p:nvSpPr>
          <p:cNvPr id="45" name="Text 43"/>
          <p:cNvSpPr txBox="1"/>
          <p:nvPr/>
        </p:nvSpPr>
        <p:spPr>
          <a:xfrm>
            <a:off x="6208776" y="383133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9</a:t>
            </a:r>
            <a:endParaRPr lang="en-US" sz="1800" dirty="0"/>
          </a:p>
        </p:txBody>
      </p:sp>
      <p:sp>
        <p:nvSpPr>
          <p:cNvPr id="46" name="Text 44"/>
          <p:cNvSpPr txBox="1"/>
          <p:nvPr/>
        </p:nvSpPr>
        <p:spPr>
          <a:xfrm>
            <a:off x="6784848" y="3739896"/>
            <a:ext cx="187452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Questions, transfer</a:t>
            </a:r>
            <a:endParaRPr lang="en-US" sz="1400" dirty="0"/>
          </a:p>
        </p:txBody>
      </p:sp>
      <p:sp>
        <p:nvSpPr>
          <p:cNvPr id="47" name="Text 45"/>
          <p:cNvSpPr txBox="1"/>
          <p:nvPr/>
        </p:nvSpPr>
        <p:spPr>
          <a:xfrm>
            <a:off x="6784848" y="4142232"/>
            <a:ext cx="1874520" cy="274320"/>
          </a:xfrm>
          <a:prstGeom prst="rect">
            <a:avLst/>
          </a:prstGeom>
          <a:noFill/>
          <a:ln/>
        </p:spPr>
        <p:txBody>
          <a:bodyPr wrap="square" lIns="0" tIns="0" rIns="0" bIns="0" rtlCol="0" anchor="ctr"/>
          <a:lstStyle/>
          <a:p>
            <a:pPr indent="0" marL="0">
              <a:buNone/>
            </a:pPr>
            <a:r>
              <a:rPr lang="en-US" sz="1200" dirty="0">
                <a:solidFill>
                  <a:schemeClr val="accent3"/>
                </a:solidFill>
                <a:latin typeface="Calibri" pitchFamily="34" charset="0"/>
                <a:ea typeface="Calibri" pitchFamily="34" charset="-122"/>
                <a:cs typeface="Calibri" pitchFamily="34" charset="-120"/>
              </a:rPr>
              <a:t>4 min</a:t>
            </a:r>
            <a:endParaRPr lang="en-US" sz="12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1 · WHY TOOLS · 6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Why plausible is not good enough</a:t>
            </a:r>
            <a:endParaRPr lang="en-US" sz="3000" dirty="0"/>
          </a:p>
        </p:txBody>
      </p:sp>
      <p:sp>
        <p:nvSpPr>
          <p:cNvPr id="4" name="Card"/>
          <p:cNvSpPr/>
          <p:nvPr/>
        </p:nvSpPr>
        <p:spPr>
          <a:xfrm>
            <a:off x="457200" y="1463040"/>
            <a:ext cx="265176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Icon circle"/>
          <p:cNvSpPr/>
          <p:nvPr/>
        </p:nvSpPr>
        <p:spPr>
          <a:xfrm>
            <a:off x="640080" y="1645920"/>
            <a:ext cx="566928" cy="566928"/>
          </a:xfrm>
          <a:prstGeom prst="ellipse">
            <a:avLst/>
          </a:prstGeom>
          <a:solidFill>
            <a:srgbClr val="C8553D"/>
          </a:solidFill>
          <a:ln w="12700">
            <a:solidFill>
              <a:srgbClr val="C8553D"/>
            </a:solidFill>
            <a:prstDash val="solid"/>
          </a:ln>
        </p:spPr>
      </p:sp>
      <p:pic>
        <p:nvPicPr>
          <p:cNvPr id="6" name="Image 0" descr="FaCalculator">    </p:cNvPr>
          <p:cNvPicPr>
            <a:picLocks noChangeAspect="1"/>
          </p:cNvPicPr>
          <p:nvPr/>
        </p:nvPicPr>
        <p:blipFill>
          <a:blip r:embed="rId1"/>
          <a:stretch>
            <a:fillRect/>
          </a:stretch>
        </p:blipFill>
        <p:spPr>
          <a:xfrm>
            <a:off x="781812" y="1787652"/>
            <a:ext cx="283464" cy="283464"/>
          </a:xfrm>
          <a:prstGeom prst="rect">
            <a:avLst/>
          </a:prstGeom>
        </p:spPr>
      </p:pic>
      <p:sp>
        <p:nvSpPr>
          <p:cNvPr id="7" name="Text 4"/>
          <p:cNvSpPr txBox="1"/>
          <p:nvPr/>
        </p:nvSpPr>
        <p:spPr>
          <a:xfrm>
            <a:off x="640080" y="2331720"/>
            <a:ext cx="2286000" cy="50292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Arithmetic and units drift</a:t>
            </a:r>
            <a:endParaRPr lang="en-US" sz="1600" dirty="0"/>
          </a:p>
        </p:txBody>
      </p:sp>
      <p:sp>
        <p:nvSpPr>
          <p:cNvPr id="8" name="Text 5"/>
          <p:cNvSpPr txBox="1"/>
          <p:nvPr/>
        </p:nvSpPr>
        <p:spPr>
          <a:xfrm>
            <a:off x="640080" y="2834640"/>
            <a:ext cx="2286000" cy="8686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Fluent text hides a slipped exponent, a degrees/radians mix-up or ft vs m.</a:t>
            </a:r>
            <a:endParaRPr lang="en-US" sz="1300" dirty="0"/>
          </a:p>
        </p:txBody>
      </p:sp>
      <p:sp>
        <p:nvSpPr>
          <p:cNvPr id="9" name="Card"/>
          <p:cNvSpPr/>
          <p:nvPr/>
        </p:nvSpPr>
        <p:spPr>
          <a:xfrm>
            <a:off x="3264408" y="1463040"/>
            <a:ext cx="265176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Icon circle"/>
          <p:cNvSpPr/>
          <p:nvPr/>
        </p:nvSpPr>
        <p:spPr>
          <a:xfrm>
            <a:off x="3447288" y="1645920"/>
            <a:ext cx="566928" cy="566928"/>
          </a:xfrm>
          <a:prstGeom prst="ellipse">
            <a:avLst/>
          </a:prstGeom>
          <a:solidFill>
            <a:srgbClr val="3D5A80"/>
          </a:solidFill>
          <a:ln w="12700">
            <a:solidFill>
              <a:srgbClr val="3D5A80"/>
            </a:solidFill>
            <a:prstDash val="solid"/>
          </a:ln>
        </p:spPr>
      </p:sp>
      <p:pic>
        <p:nvPicPr>
          <p:cNvPr id="11" name="Image 1" descr="FaDatabase">    </p:cNvPr>
          <p:cNvPicPr>
            <a:picLocks noChangeAspect="1"/>
          </p:cNvPicPr>
          <p:nvPr/>
        </p:nvPicPr>
        <p:blipFill>
          <a:blip r:embed="rId2"/>
          <a:stretch>
            <a:fillRect/>
          </a:stretch>
        </p:blipFill>
        <p:spPr>
          <a:xfrm>
            <a:off x="3589020" y="1787652"/>
            <a:ext cx="283464" cy="283464"/>
          </a:xfrm>
          <a:prstGeom prst="rect">
            <a:avLst/>
          </a:prstGeom>
        </p:spPr>
      </p:pic>
      <p:sp>
        <p:nvSpPr>
          <p:cNvPr id="12" name="Text 8"/>
          <p:cNvSpPr txBox="1"/>
          <p:nvPr/>
        </p:nvSpPr>
        <p:spPr>
          <a:xfrm>
            <a:off x="3447288" y="2331720"/>
            <a:ext cx="2286000" cy="50292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No access to live data</a:t>
            </a:r>
            <a:endParaRPr lang="en-US" sz="1600" dirty="0"/>
          </a:p>
        </p:txBody>
      </p:sp>
      <p:sp>
        <p:nvSpPr>
          <p:cNvPr id="13" name="Text 9"/>
          <p:cNvSpPr txBox="1"/>
          <p:nvPr/>
        </p:nvSpPr>
        <p:spPr>
          <a:xfrm>
            <a:off x="3447288" y="2834640"/>
            <a:ext cx="2286000" cy="8686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Training data is frozen. Your instrument file, well log or database is invisible.</a:t>
            </a:r>
            <a:endParaRPr lang="en-US" sz="1300" dirty="0"/>
          </a:p>
        </p:txBody>
      </p:sp>
      <p:sp>
        <p:nvSpPr>
          <p:cNvPr id="14" name="Card"/>
          <p:cNvSpPr/>
          <p:nvPr/>
        </p:nvSpPr>
        <p:spPr>
          <a:xfrm>
            <a:off x="6071616" y="1463040"/>
            <a:ext cx="2651760"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5" name="Icon circle"/>
          <p:cNvSpPr/>
          <p:nvPr/>
        </p:nvSpPr>
        <p:spPr>
          <a:xfrm>
            <a:off x="6254496" y="1645920"/>
            <a:ext cx="566928" cy="566928"/>
          </a:xfrm>
          <a:prstGeom prst="ellipse">
            <a:avLst/>
          </a:prstGeom>
          <a:solidFill>
            <a:srgbClr val="1F8A8A"/>
          </a:solidFill>
          <a:ln w="12700">
            <a:solidFill>
              <a:srgbClr val="1F8A8A"/>
            </a:solidFill>
            <a:prstDash val="solid"/>
          </a:ln>
        </p:spPr>
      </p:sp>
      <p:pic>
        <p:nvPicPr>
          <p:cNvPr id="16" name="Image 2" descr="FaShieldAlt">    </p:cNvPr>
          <p:cNvPicPr>
            <a:picLocks noChangeAspect="1"/>
          </p:cNvPicPr>
          <p:nvPr/>
        </p:nvPicPr>
        <p:blipFill>
          <a:blip r:embed="rId3"/>
          <a:stretch>
            <a:fillRect/>
          </a:stretch>
        </p:blipFill>
        <p:spPr>
          <a:xfrm>
            <a:off x="6396228" y="1787652"/>
            <a:ext cx="283464" cy="283464"/>
          </a:xfrm>
          <a:prstGeom prst="rect">
            <a:avLst/>
          </a:prstGeom>
        </p:spPr>
      </p:pic>
      <p:sp>
        <p:nvSpPr>
          <p:cNvPr id="17" name="Text 12"/>
          <p:cNvSpPr txBox="1"/>
          <p:nvPr/>
        </p:nvSpPr>
        <p:spPr>
          <a:xfrm>
            <a:off x="6254496" y="2331720"/>
            <a:ext cx="2286000" cy="50292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No provenance</a:t>
            </a:r>
            <a:endParaRPr lang="en-US" sz="1600" dirty="0"/>
          </a:p>
        </p:txBody>
      </p:sp>
      <p:sp>
        <p:nvSpPr>
          <p:cNvPr id="18" name="Text 13"/>
          <p:cNvSpPr txBox="1"/>
          <p:nvPr/>
        </p:nvSpPr>
        <p:spPr>
          <a:xfrm>
            <a:off x="6254496" y="2834640"/>
            <a:ext cx="2286000" cy="8686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A number with no method, inputs or version cannot go into a paper or a reserves estimate.</a:t>
            </a:r>
            <a:endParaRPr lang="en-US" sz="1300" dirty="0"/>
          </a:p>
        </p:txBody>
      </p:sp>
      <p:sp>
        <p:nvSpPr>
          <p:cNvPr id="19" name="Text 14"/>
          <p:cNvSpPr txBox="1"/>
          <p:nvPr/>
        </p:nvSpPr>
        <p:spPr>
          <a:xfrm>
            <a:off x="457200" y="4069080"/>
            <a:ext cx="8229600" cy="457200"/>
          </a:xfrm>
          <a:prstGeom prst="rect">
            <a:avLst/>
          </a:prstGeom>
          <a:noFill/>
          <a:ln/>
        </p:spPr>
        <p:txBody>
          <a:bodyPr wrap="square" lIns="0" tIns="0" rIns="0" bIns="0" rtlCol="0" anchor="ctr"/>
          <a:lstStyle/>
          <a:p>
            <a:pPr indent="0" marL="0">
              <a:buNone/>
            </a:pPr>
            <a:r>
              <a:rPr lang="en-US" sz="1800" i="1" dirty="0">
                <a:solidFill>
                  <a:schemeClr val="accent3"/>
                </a:solidFill>
                <a:latin typeface="Cambria" pitchFamily="34" charset="0"/>
                <a:ea typeface="Cambria" pitchFamily="34" charset="-122"/>
                <a:cs typeface="Cambria" pitchFamily="34" charset="-120"/>
              </a:rPr>
              <a:t>A model is a text predictor. For science we need answers we can reproduce.</a:t>
            </a:r>
            <a:endParaRPr lang="en-US" sz="18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1 · WHY TOOLS · 6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Tools hand the calculation to code</a:t>
            </a:r>
            <a:endParaRPr lang="en-US" sz="3000" dirty="0"/>
          </a:p>
        </p:txBody>
      </p:sp>
      <p:sp>
        <p:nvSpPr>
          <p:cNvPr id="4" name="Card"/>
          <p:cNvSpPr/>
          <p:nvPr/>
        </p:nvSpPr>
        <p:spPr>
          <a:xfrm>
            <a:off x="457200" y="1463040"/>
            <a:ext cx="402336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40080" y="1572768"/>
            <a:ext cx="2743200" cy="27432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WITHOUT TOOLS</a:t>
            </a:r>
            <a:endParaRPr lang="en-US" sz="1200" dirty="0"/>
          </a:p>
        </p:txBody>
      </p:sp>
      <p:sp>
        <p:nvSpPr>
          <p:cNvPr id="6" name="Box"/>
          <p:cNvSpPr txBox="1"/>
          <p:nvPr/>
        </p:nvSpPr>
        <p:spPr>
          <a:xfrm>
            <a:off x="685800" y="2011680"/>
            <a:ext cx="1463040" cy="548640"/>
          </a:xfrm>
          <a:prstGeom prst="roundRect">
            <a:avLst>
              <a:gd name="adj" fmla="val 13333"/>
            </a:avLst>
          </a:prstGeom>
          <a:solidFill>
            <a:srgbClr val="2F4858"/>
          </a:solidFill>
          <a:ln/>
        </p:spPr>
        <p:txBody>
          <a:bodyPr wrap="square" lIns="50800" tIns="50800" rIns="50800" bIns="5080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Question</a:t>
            </a:r>
            <a:endParaRPr lang="en-US" sz="1300" dirty="0"/>
          </a:p>
        </p:txBody>
      </p:sp>
      <p:sp>
        <p:nvSpPr>
          <p:cNvPr id="7" name="Box"/>
          <p:cNvSpPr txBox="1"/>
          <p:nvPr/>
        </p:nvSpPr>
        <p:spPr>
          <a:xfrm>
            <a:off x="2697480" y="2011680"/>
            <a:ext cx="1554480" cy="548640"/>
          </a:xfrm>
          <a:prstGeom prst="roundRect">
            <a:avLst>
              <a:gd name="adj" fmla="val 13333"/>
            </a:avLst>
          </a:prstGeom>
          <a:solidFill>
            <a:srgbClr val="C8553D"/>
          </a:solidFill>
          <a:ln/>
        </p:spPr>
        <p:txBody>
          <a:bodyPr wrap="square" lIns="50800" tIns="50800" rIns="50800" bIns="5080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LLM guesses</a:t>
            </a:r>
            <a:endParaRPr lang="en-US" sz="1300" dirty="0"/>
          </a:p>
        </p:txBody>
      </p:sp>
      <p:sp>
        <p:nvSpPr>
          <p:cNvPr id="8" name="Shape 6"/>
          <p:cNvSpPr/>
          <p:nvPr/>
        </p:nvSpPr>
        <p:spPr>
          <a:xfrm>
            <a:off x="2194560" y="2286000"/>
            <a:ext cx="457200" cy="0"/>
          </a:xfrm>
          <a:prstGeom prst="line">
            <a:avLst/>
          </a:prstGeom>
          <a:noFill/>
          <a:ln w="25400">
            <a:solidFill>
              <a:schemeClr val="accent6"/>
            </a:solidFill>
            <a:prstDash val="solid"/>
            <a:tailEnd type="triangle"/>
          </a:ln>
        </p:spPr>
      </p:sp>
      <p:sp>
        <p:nvSpPr>
          <p:cNvPr id="9" name="Text 7"/>
          <p:cNvSpPr txBox="1"/>
          <p:nvPr/>
        </p:nvSpPr>
        <p:spPr>
          <a:xfrm>
            <a:off x="685800" y="2926080"/>
            <a:ext cx="35661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Answer looks right. Might not be.</a:t>
            </a:r>
            <a:endParaRPr lang="en-US" sz="1400" dirty="0"/>
          </a:p>
        </p:txBody>
      </p:sp>
      <p:sp>
        <p:nvSpPr>
          <p:cNvPr id="10" name="Card"/>
          <p:cNvSpPr/>
          <p:nvPr/>
        </p:nvSpPr>
        <p:spPr>
          <a:xfrm>
            <a:off x="4663440" y="1463040"/>
            <a:ext cx="4023360" cy="2468880"/>
          </a:xfrm>
          <a:prstGeom prst="roundRect">
            <a:avLst>
              <a:gd name="adj" fmla="val 296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4846320" y="1572768"/>
            <a:ext cx="2743200" cy="274320"/>
          </a:xfrm>
          <a:prstGeom prst="rect">
            <a:avLst/>
          </a:prstGeom>
          <a:noFill/>
          <a:ln/>
        </p:spPr>
        <p:txBody>
          <a:bodyPr wrap="square" lIns="0" tIns="0" rIns="0" bIns="0" rtlCol="0" anchor="ctr"/>
          <a:lstStyle/>
          <a:p>
            <a:pPr indent="0" marL="0">
              <a:buNone/>
            </a:pPr>
            <a:r>
              <a:rPr lang="en-US" sz="1200" b="1" dirty="0">
                <a:solidFill>
                  <a:srgbClr val="1F8A8A"/>
                </a:solidFill>
                <a:latin typeface="Calibri" pitchFamily="34" charset="0"/>
                <a:ea typeface="Calibri" pitchFamily="34" charset="-122"/>
                <a:cs typeface="Calibri" pitchFamily="34" charset="-120"/>
              </a:rPr>
              <a:t>WITH TOOLS</a:t>
            </a:r>
            <a:endParaRPr lang="en-US" sz="1200" dirty="0"/>
          </a:p>
        </p:txBody>
      </p:sp>
      <p:sp>
        <p:nvSpPr>
          <p:cNvPr id="12" name="Box"/>
          <p:cNvSpPr txBox="1"/>
          <p:nvPr/>
        </p:nvSpPr>
        <p:spPr>
          <a:xfrm>
            <a:off x="4846320" y="2011680"/>
            <a:ext cx="1188720" cy="548640"/>
          </a:xfrm>
          <a:prstGeom prst="roundRect">
            <a:avLst>
              <a:gd name="adj" fmla="val 13333"/>
            </a:avLst>
          </a:prstGeom>
          <a:solidFill>
            <a:srgbClr val="2F4858"/>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LLM decides</a:t>
            </a:r>
            <a:endParaRPr lang="en-US" sz="1200" dirty="0"/>
          </a:p>
        </p:txBody>
      </p:sp>
      <p:sp>
        <p:nvSpPr>
          <p:cNvPr id="13" name="Box"/>
          <p:cNvSpPr txBox="1"/>
          <p:nvPr/>
        </p:nvSpPr>
        <p:spPr>
          <a:xfrm>
            <a:off x="6355080" y="2011680"/>
            <a:ext cx="1188720" cy="548640"/>
          </a:xfrm>
          <a:prstGeom prst="roundRect">
            <a:avLst>
              <a:gd name="adj" fmla="val 13333"/>
            </a:avLst>
          </a:prstGeom>
          <a:solidFill>
            <a:srgbClr val="1F8A8A"/>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Tested code</a:t>
            </a:r>
            <a:endParaRPr lang="en-US" sz="1200" dirty="0"/>
          </a:p>
        </p:txBody>
      </p:sp>
      <p:sp>
        <p:nvSpPr>
          <p:cNvPr id="14" name="Box"/>
          <p:cNvSpPr txBox="1"/>
          <p:nvPr/>
        </p:nvSpPr>
        <p:spPr>
          <a:xfrm>
            <a:off x="7863840" y="2011680"/>
            <a:ext cx="640080" cy="548640"/>
          </a:xfrm>
          <a:prstGeom prst="roundRect">
            <a:avLst>
              <a:gd name="adj" fmla="val 13333"/>
            </a:avLst>
          </a:prstGeom>
          <a:solidFill>
            <a:srgbClr val="2F4858"/>
          </a:solidFill>
          <a:ln/>
        </p:spPr>
        <p:txBody>
          <a:bodyPr wrap="square" lIns="50800" tIns="50800" rIns="50800" bIns="5080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Answer</a:t>
            </a:r>
            <a:endParaRPr lang="en-US" sz="1100" dirty="0"/>
          </a:p>
        </p:txBody>
      </p:sp>
      <p:sp>
        <p:nvSpPr>
          <p:cNvPr id="15" name="Shape 13"/>
          <p:cNvSpPr/>
          <p:nvPr/>
        </p:nvSpPr>
        <p:spPr>
          <a:xfrm>
            <a:off x="6035040" y="2286000"/>
            <a:ext cx="301752" cy="0"/>
          </a:xfrm>
          <a:prstGeom prst="line">
            <a:avLst/>
          </a:prstGeom>
          <a:noFill/>
          <a:ln w="25400">
            <a:solidFill>
              <a:schemeClr val="accent6"/>
            </a:solidFill>
            <a:prstDash val="solid"/>
            <a:tailEnd type="triangle"/>
          </a:ln>
        </p:spPr>
      </p:sp>
      <p:sp>
        <p:nvSpPr>
          <p:cNvPr id="16" name="Shape 14"/>
          <p:cNvSpPr/>
          <p:nvPr/>
        </p:nvSpPr>
        <p:spPr>
          <a:xfrm>
            <a:off x="7562088" y="2286000"/>
            <a:ext cx="283464" cy="0"/>
          </a:xfrm>
          <a:prstGeom prst="line">
            <a:avLst/>
          </a:prstGeom>
          <a:noFill/>
          <a:ln w="25400">
            <a:solidFill>
              <a:schemeClr val="accent6"/>
            </a:solidFill>
            <a:prstDash val="solid"/>
            <a:tailEnd type="triangle"/>
          </a:ln>
        </p:spPr>
      </p:sp>
      <p:sp>
        <p:nvSpPr>
          <p:cNvPr id="17" name="Text 15"/>
          <p:cNvSpPr txBox="1"/>
          <p:nvPr/>
        </p:nvSpPr>
        <p:spPr>
          <a:xfrm>
            <a:off x="4846320" y="2926080"/>
            <a:ext cx="365760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model chooses the tool and the arguments. Code does the maths, with units and checks.</a:t>
            </a:r>
            <a:endParaRPr lang="en-US" sz="1400" dirty="0"/>
          </a:p>
        </p:txBody>
      </p:sp>
      <p:sp>
        <p:nvSpPr>
          <p:cNvPr id="18" name="Text 16"/>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600" i="1" dirty="0">
                <a:solidFill>
                  <a:schemeClr val="accent3"/>
                </a:solidFill>
                <a:latin typeface="Cambria" pitchFamily="34" charset="0"/>
                <a:ea typeface="Cambria" pitchFamily="34" charset="-122"/>
                <a:cs typeface="Cambria" pitchFamily="34" charset="-120"/>
              </a:rPr>
              <a:t>Models are good at reading, planning and explaining. Code is good at being right.</a:t>
            </a:r>
            <a:endParaRPr lang="en-US" sz="16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E8871E"/>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1 · WHY TOOLS · 6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Demo 1: same question, with and without a tool</a:t>
            </a:r>
            <a:endParaRPr lang="en-US" sz="3000" dirty="0"/>
          </a:p>
        </p:txBody>
      </p:sp>
      <p:sp>
        <p:nvSpPr>
          <p:cNvPr id="4" name="Text 2"/>
          <p:cNvSpPr txBox="1"/>
          <p:nvPr/>
        </p:nvSpPr>
        <p:spPr>
          <a:xfrm>
            <a:off x="457200" y="1417320"/>
            <a:ext cx="182880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RUN</a:t>
            </a:r>
            <a:endParaRPr lang="en-US" sz="1200" dirty="0"/>
          </a:p>
        </p:txBody>
      </p:sp>
      <p:sp>
        <p:nvSpPr>
          <p:cNvPr id="5" name="Code panel"/>
          <p:cNvSpPr/>
          <p:nvPr/>
        </p:nvSpPr>
        <p:spPr>
          <a:xfrm>
            <a:off x="457200" y="1691640"/>
            <a:ext cx="4023360" cy="502920"/>
          </a:xfrm>
          <a:prstGeom prst="roundRect">
            <a:avLst>
              <a:gd name="adj" fmla="val 10909"/>
            </a:avLst>
          </a:prstGeom>
          <a:solidFill>
            <a:srgbClr val="17252E"/>
          </a:solidFill>
          <a:ln w="12700">
            <a:solidFill>
              <a:srgbClr val="17252E"/>
            </a:solidFill>
            <a:prstDash val="solid"/>
          </a:ln>
        </p:spPr>
      </p:sp>
      <p:sp>
        <p:nvSpPr>
          <p:cNvPr id="6" name="Code"/>
          <p:cNvSpPr txBox="1"/>
          <p:nvPr/>
        </p:nvSpPr>
        <p:spPr>
          <a:xfrm>
            <a:off x="594360" y="1783080"/>
            <a:ext cx="3749040" cy="320040"/>
          </a:xfrm>
          <a:prstGeom prst="rect">
            <a:avLst/>
          </a:prstGeom>
          <a:noFill/>
          <a:ln/>
        </p:spPr>
        <p:txBody>
          <a:bodyPr wrap="square" lIns="0" tIns="0" rIns="0" bIns="0" rtlCol="0" anchor="t"/>
          <a:lstStyle/>
          <a:p>
            <a:pPr indent="0" marL="0">
              <a:buNone/>
            </a:pPr>
            <a:r>
              <a:rPr lang="en-US" sz="1200" dirty="0">
                <a:solidFill>
                  <a:srgbClr val="E6EDF1"/>
                </a:solidFill>
                <a:latin typeface="Courier New" pitchFamily="34" charset="0"/>
                <a:ea typeface="Courier New" pitchFamily="34" charset="-122"/>
                <a:cs typeface="Courier New" pitchFamily="34" charset="-120"/>
              </a:rPr>
              <a:t>uv run demos/d01_why_tools.py</a:t>
            </a:r>
            <a:endParaRPr lang="en-US" sz="1200" dirty="0"/>
          </a:p>
        </p:txBody>
      </p:sp>
      <p:sp>
        <p:nvSpPr>
          <p:cNvPr id="7" name="Text 5"/>
          <p:cNvSpPr txBox="1"/>
          <p:nvPr/>
        </p:nvSpPr>
        <p:spPr>
          <a:xfrm>
            <a:off x="457200" y="2377440"/>
            <a:ext cx="274320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QUESTION</a:t>
            </a:r>
            <a:endParaRPr lang="en-US" sz="1200" dirty="0"/>
          </a:p>
        </p:txBody>
      </p:sp>
      <p:sp>
        <p:nvSpPr>
          <p:cNvPr id="8" name="Text 6"/>
          <p:cNvSpPr txBox="1"/>
          <p:nvPr/>
        </p:nvSpPr>
        <p:spPr>
          <a:xfrm>
            <a:off x="457200" y="2651760"/>
            <a:ext cx="4023360" cy="86868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Cu K-alpha peak at 2θ = 38.2° with FWHM 0.35°. Scherrer crystallite size (K = 0.9) in nm?</a:t>
            </a:r>
            <a:endParaRPr lang="en-US" sz="1400" dirty="0"/>
          </a:p>
        </p:txBody>
      </p:sp>
      <p:sp>
        <p:nvSpPr>
          <p:cNvPr id="9" name="Card"/>
          <p:cNvSpPr/>
          <p:nvPr/>
        </p:nvSpPr>
        <p:spPr>
          <a:xfrm>
            <a:off x="4846320" y="1417320"/>
            <a:ext cx="3840480" cy="1417320"/>
          </a:xfrm>
          <a:prstGeom prst="roundRect">
            <a:avLst>
              <a:gd name="adj" fmla="val 5161"/>
            </a:avLst>
          </a:prstGeom>
          <a:solidFill>
            <a:srgbClr val="17252E"/>
          </a:solidFill>
          <a:ln w="12700">
            <a:solidFill>
              <a:srgbClr val="17252E"/>
            </a:solidFill>
            <a:prstDash val="solid"/>
          </a:ln>
        </p:spPr>
      </p:sp>
      <p:sp>
        <p:nvSpPr>
          <p:cNvPr id="10" name="Text 8"/>
          <p:cNvSpPr txBox="1"/>
          <p:nvPr/>
        </p:nvSpPr>
        <p:spPr>
          <a:xfrm>
            <a:off x="4846320" y="1508760"/>
            <a:ext cx="3840480" cy="77724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24.02 nm</a:t>
            </a:r>
            <a:endParaRPr lang="en-US" sz="4400" dirty="0"/>
          </a:p>
        </p:txBody>
      </p:sp>
      <p:sp>
        <p:nvSpPr>
          <p:cNvPr id="11" name="Text 9"/>
          <p:cNvSpPr txBox="1"/>
          <p:nvPr/>
        </p:nvSpPr>
        <p:spPr>
          <a:xfrm>
            <a:off x="4846320" y="2331720"/>
            <a:ext cx="3840480" cy="320040"/>
          </a:xfrm>
          <a:prstGeom prst="rect">
            <a:avLst/>
          </a:prstGeom>
          <a:noFill/>
          <a:ln/>
        </p:spPr>
        <p:txBody>
          <a:bodyPr wrap="square" lIns="0" tIns="0" rIns="0" bIns="0" rtlCol="0" anchor="ctr"/>
          <a:lstStyle/>
          <a:p>
            <a:pPr algn="ctr" indent="0" marL="0">
              <a:buNone/>
            </a:pPr>
            <a:r>
              <a:rPr lang="en-US" sz="1200" dirty="0">
                <a:solidFill>
                  <a:srgbClr val="C9D3D9"/>
                </a:solidFill>
                <a:latin typeface="Calibri" pitchFamily="34" charset="0"/>
                <a:ea typeface="Calibri" pitchFamily="34" charset="-122"/>
                <a:cs typeface="Calibri" pitchFamily="34" charset="-120"/>
              </a:rPr>
              <a:t>ground truth from the tested function</a:t>
            </a:r>
            <a:endParaRPr lang="en-US" sz="1200" dirty="0"/>
          </a:p>
        </p:txBody>
      </p:sp>
      <p:sp>
        <p:nvSpPr>
          <p:cNvPr id="12" name="Text 10"/>
          <p:cNvSpPr txBox="1"/>
          <p:nvPr/>
        </p:nvSpPr>
        <p:spPr>
          <a:xfrm>
            <a:off x="4846320" y="3017520"/>
            <a:ext cx="274320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WHAT TO LOOK FOR</a:t>
            </a:r>
            <a:endParaRPr lang="en-US" sz="1200" dirty="0"/>
          </a:p>
        </p:txBody>
      </p:sp>
      <p:sp>
        <p:nvSpPr>
          <p:cNvPr id="13" name="Text 11"/>
          <p:cNvSpPr txBox="1"/>
          <p:nvPr/>
        </p:nvSpPr>
        <p:spPr>
          <a:xfrm>
            <a:off x="4846320" y="3310128"/>
            <a:ext cx="3840480" cy="11887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latin typeface="Calibri" pitchFamily="34" charset="0"/>
                <a:ea typeface="Calibri" pitchFamily="34" charset="-122"/>
                <a:cs typeface="Calibri" pitchFamily="34" charset="-120"/>
              </a:rPr>
              <a:t>Four tool-free runs: spread and % error</a:t>
            </a:r>
            <a:endParaRPr lang="en-US" sz="1400" dirty="0"/>
          </a:p>
          <a:p>
            <a:pPr marL="342900" indent="-342900">
              <a:spcAft>
                <a:spcPts val="500"/>
              </a:spcAft>
              <a:buSzPct val="100000"/>
              <a:buChar char="•"/>
            </a:pPr>
            <a:r>
              <a:rPr lang="en-US" sz="1400" dirty="0">
                <a:solidFill>
                  <a:schemeClr val="bg1"/>
                </a:solidFill>
                <a:latin typeface="Calibri" pitchFamily="34" charset="0"/>
                <a:ea typeface="Calibri" pitchFamily="34" charset="-122"/>
                <a:cs typeface="Calibri" pitchFamily="34" charset="-120"/>
              </a:rPr>
              <a:t>With tool: the same value every time</a:t>
            </a:r>
            <a:endParaRPr lang="en-US" sz="1400" dirty="0"/>
          </a:p>
          <a:p>
            <a:pPr marL="342900" indent="-342900">
              <a:spcAft>
                <a:spcPts val="500"/>
              </a:spcAft>
              <a:buSzPct val="100000"/>
              <a:buChar char="•"/>
            </a:pPr>
            <a:r>
              <a:rPr lang="en-US" sz="1400" dirty="0">
                <a:solidFill>
                  <a:schemeClr val="bg1"/>
                </a:solidFill>
                <a:latin typeface="Calibri" pitchFamily="34" charset="0"/>
                <a:ea typeface="Calibri" pitchFamily="34" charset="-122"/>
                <a:cs typeface="Calibri" pitchFamily="34" charset="-120"/>
              </a:rPr>
              <a:t>Check the tool output, not just the prose</a:t>
            </a:r>
            <a:endParaRPr lang="en-US" sz="14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1 · WHY TOOLS · 6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What belongs behind a tool</a:t>
            </a:r>
            <a:endParaRPr lang="en-US" sz="3000" dirty="0"/>
          </a:p>
        </p:txBody>
      </p:sp>
      <p:sp>
        <p:nvSpPr>
          <p:cNvPr id="4" name="Card"/>
          <p:cNvSpPr/>
          <p:nvPr/>
        </p:nvSpPr>
        <p:spPr>
          <a:xfrm>
            <a:off x="457200" y="1463040"/>
            <a:ext cx="260604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Icon circle"/>
          <p:cNvSpPr/>
          <p:nvPr/>
        </p:nvSpPr>
        <p:spPr>
          <a:xfrm>
            <a:off x="621792" y="1645920"/>
            <a:ext cx="457200" cy="457200"/>
          </a:xfrm>
          <a:prstGeom prst="ellipse">
            <a:avLst/>
          </a:prstGeom>
          <a:solidFill>
            <a:srgbClr val="1F8A8A"/>
          </a:solidFill>
          <a:ln w="12700">
            <a:solidFill>
              <a:srgbClr val="1F8A8A"/>
            </a:solidFill>
            <a:prstDash val="solid"/>
          </a:ln>
        </p:spPr>
      </p:sp>
      <p:pic>
        <p:nvPicPr>
          <p:cNvPr id="6" name="Image 0" descr="FaCheckCircle">    </p:cNvPr>
          <p:cNvPicPr>
            <a:picLocks noChangeAspect="1"/>
          </p:cNvPicPr>
          <p:nvPr/>
        </p:nvPicPr>
        <p:blipFill>
          <a:blip r:embed="rId1"/>
          <a:stretch>
            <a:fillRect/>
          </a:stretch>
        </p:blipFill>
        <p:spPr>
          <a:xfrm>
            <a:off x="736092" y="1760220"/>
            <a:ext cx="228600" cy="228600"/>
          </a:xfrm>
          <a:prstGeom prst="rect">
            <a:avLst/>
          </a:prstGeom>
        </p:spPr>
      </p:pic>
      <p:sp>
        <p:nvSpPr>
          <p:cNvPr id="7" name="Text 4"/>
          <p:cNvSpPr txBox="1"/>
          <p:nvPr/>
        </p:nvSpPr>
        <p:spPr>
          <a:xfrm>
            <a:off x="1188720" y="1645920"/>
            <a:ext cx="1783080" cy="41148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Deterministic</a:t>
            </a:r>
            <a:endParaRPr lang="en-US" sz="1500" dirty="0"/>
          </a:p>
        </p:txBody>
      </p:sp>
      <p:sp>
        <p:nvSpPr>
          <p:cNvPr id="8" name="Text 5"/>
          <p:cNvSpPr txBox="1"/>
          <p:nvPr/>
        </p:nvSpPr>
        <p:spPr>
          <a:xfrm>
            <a:off x="621792" y="2194560"/>
            <a:ext cx="233172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Same inputs, same outputs</a:t>
            </a:r>
            <a:endParaRPr lang="en-US" sz="1200" dirty="0"/>
          </a:p>
        </p:txBody>
      </p:sp>
      <p:sp>
        <p:nvSpPr>
          <p:cNvPr id="9" name="Card"/>
          <p:cNvSpPr/>
          <p:nvPr/>
        </p:nvSpPr>
        <p:spPr>
          <a:xfrm>
            <a:off x="3200400" y="1463040"/>
            <a:ext cx="260604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Icon circle"/>
          <p:cNvSpPr/>
          <p:nvPr/>
        </p:nvSpPr>
        <p:spPr>
          <a:xfrm>
            <a:off x="3364992" y="1645920"/>
            <a:ext cx="457200" cy="457200"/>
          </a:xfrm>
          <a:prstGeom prst="ellipse">
            <a:avLst/>
          </a:prstGeom>
          <a:solidFill>
            <a:srgbClr val="3D5A80"/>
          </a:solidFill>
          <a:ln w="12700">
            <a:solidFill>
              <a:srgbClr val="3D5A80"/>
            </a:solidFill>
            <a:prstDash val="solid"/>
          </a:ln>
        </p:spPr>
      </p:sp>
      <p:pic>
        <p:nvPicPr>
          <p:cNvPr id="11" name="Image 1" descr="FaFlask">    </p:cNvPr>
          <p:cNvPicPr>
            <a:picLocks noChangeAspect="1"/>
          </p:cNvPicPr>
          <p:nvPr/>
        </p:nvPicPr>
        <p:blipFill>
          <a:blip r:embed="rId2"/>
          <a:stretch>
            <a:fillRect/>
          </a:stretch>
        </p:blipFill>
        <p:spPr>
          <a:xfrm>
            <a:off x="3479292" y="1760220"/>
            <a:ext cx="228600" cy="228600"/>
          </a:xfrm>
          <a:prstGeom prst="rect">
            <a:avLst/>
          </a:prstGeom>
        </p:spPr>
      </p:pic>
      <p:sp>
        <p:nvSpPr>
          <p:cNvPr id="12" name="Text 8"/>
          <p:cNvSpPr txBox="1"/>
          <p:nvPr/>
        </p:nvSpPr>
        <p:spPr>
          <a:xfrm>
            <a:off x="3931920" y="1645920"/>
            <a:ext cx="1783080" cy="41148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Validated</a:t>
            </a:r>
            <a:endParaRPr lang="en-US" sz="1500" dirty="0"/>
          </a:p>
        </p:txBody>
      </p:sp>
      <p:sp>
        <p:nvSpPr>
          <p:cNvPr id="13" name="Text 9"/>
          <p:cNvSpPr txBox="1"/>
          <p:nvPr/>
        </p:nvSpPr>
        <p:spPr>
          <a:xfrm>
            <a:off x="3364992" y="2194560"/>
            <a:ext cx="233172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Unit tests, literature checks</a:t>
            </a:r>
            <a:endParaRPr lang="en-US" sz="1200" dirty="0"/>
          </a:p>
        </p:txBody>
      </p:sp>
      <p:sp>
        <p:nvSpPr>
          <p:cNvPr id="14" name="Card"/>
          <p:cNvSpPr/>
          <p:nvPr/>
        </p:nvSpPr>
        <p:spPr>
          <a:xfrm>
            <a:off x="457200" y="2880360"/>
            <a:ext cx="260604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5" name="Icon circle"/>
          <p:cNvSpPr/>
          <p:nvPr/>
        </p:nvSpPr>
        <p:spPr>
          <a:xfrm>
            <a:off x="621792" y="3063240"/>
            <a:ext cx="457200" cy="457200"/>
          </a:xfrm>
          <a:prstGeom prst="ellipse">
            <a:avLst/>
          </a:prstGeom>
          <a:solidFill>
            <a:srgbClr val="E8871E"/>
          </a:solidFill>
          <a:ln w="12700">
            <a:solidFill>
              <a:srgbClr val="E8871E"/>
            </a:solidFill>
            <a:prstDash val="solid"/>
          </a:ln>
        </p:spPr>
      </p:sp>
      <p:pic>
        <p:nvPicPr>
          <p:cNvPr id="16" name="Image 2" descr="FaTools">    </p:cNvPr>
          <p:cNvPicPr>
            <a:picLocks noChangeAspect="1"/>
          </p:cNvPicPr>
          <p:nvPr/>
        </p:nvPicPr>
        <p:blipFill>
          <a:blip r:embed="rId3"/>
          <a:stretch>
            <a:fillRect/>
          </a:stretch>
        </p:blipFill>
        <p:spPr>
          <a:xfrm>
            <a:off x="736092" y="3177540"/>
            <a:ext cx="228600" cy="228600"/>
          </a:xfrm>
          <a:prstGeom prst="rect">
            <a:avLst/>
          </a:prstGeom>
        </p:spPr>
      </p:pic>
      <p:sp>
        <p:nvSpPr>
          <p:cNvPr id="17" name="Text 12"/>
          <p:cNvSpPr txBox="1"/>
          <p:nvPr/>
        </p:nvSpPr>
        <p:spPr>
          <a:xfrm>
            <a:off x="1188720" y="3063240"/>
            <a:ext cx="1783080" cy="41148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Explicit units</a:t>
            </a:r>
            <a:endParaRPr lang="en-US" sz="1500" dirty="0"/>
          </a:p>
        </p:txBody>
      </p:sp>
      <p:sp>
        <p:nvSpPr>
          <p:cNvPr id="18" name="Text 13"/>
          <p:cNvSpPr txBox="1"/>
          <p:nvPr/>
        </p:nvSpPr>
        <p:spPr>
          <a:xfrm>
            <a:off x="621792" y="3611880"/>
            <a:ext cx="233172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Typed arguments, ranges checked</a:t>
            </a:r>
            <a:endParaRPr lang="en-US" sz="1200" dirty="0"/>
          </a:p>
        </p:txBody>
      </p:sp>
      <p:sp>
        <p:nvSpPr>
          <p:cNvPr id="19" name="Card"/>
          <p:cNvSpPr/>
          <p:nvPr/>
        </p:nvSpPr>
        <p:spPr>
          <a:xfrm>
            <a:off x="3200400" y="2880360"/>
            <a:ext cx="260604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0" name="Icon circle"/>
          <p:cNvSpPr/>
          <p:nvPr/>
        </p:nvSpPr>
        <p:spPr>
          <a:xfrm>
            <a:off x="3364992" y="3063240"/>
            <a:ext cx="457200" cy="457200"/>
          </a:xfrm>
          <a:prstGeom prst="ellipse">
            <a:avLst/>
          </a:prstGeom>
          <a:solidFill>
            <a:srgbClr val="C8553D"/>
          </a:solidFill>
          <a:ln w="12700">
            <a:solidFill>
              <a:srgbClr val="C8553D"/>
            </a:solidFill>
            <a:prstDash val="solid"/>
          </a:ln>
        </p:spPr>
      </p:sp>
      <p:pic>
        <p:nvPicPr>
          <p:cNvPr id="21" name="Image 3" descr="FaFileAlt">    </p:cNvPr>
          <p:cNvPicPr>
            <a:picLocks noChangeAspect="1"/>
          </p:cNvPicPr>
          <p:nvPr/>
        </p:nvPicPr>
        <p:blipFill>
          <a:blip r:embed="rId4"/>
          <a:stretch>
            <a:fillRect/>
          </a:stretch>
        </p:blipFill>
        <p:spPr>
          <a:xfrm>
            <a:off x="3479292" y="3177540"/>
            <a:ext cx="228600" cy="228600"/>
          </a:xfrm>
          <a:prstGeom prst="rect">
            <a:avLst/>
          </a:prstGeom>
        </p:spPr>
      </p:pic>
      <p:sp>
        <p:nvSpPr>
          <p:cNvPr id="22" name="Text 16"/>
          <p:cNvSpPr txBox="1"/>
          <p:nvPr/>
        </p:nvSpPr>
        <p:spPr>
          <a:xfrm>
            <a:off x="3931920" y="3063240"/>
            <a:ext cx="1783080" cy="41148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Auditable</a:t>
            </a:r>
            <a:endParaRPr lang="en-US" sz="1500" dirty="0"/>
          </a:p>
        </p:txBody>
      </p:sp>
      <p:sp>
        <p:nvSpPr>
          <p:cNvPr id="23" name="Text 17"/>
          <p:cNvSpPr txBox="1"/>
          <p:nvPr/>
        </p:nvSpPr>
        <p:spPr>
          <a:xfrm>
            <a:off x="3364992" y="3611880"/>
            <a:ext cx="233172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Returns value, units, method, inputs</a:t>
            </a:r>
            <a:endParaRPr lang="en-US" sz="1200" dirty="0"/>
          </a:p>
        </p:txBody>
      </p:sp>
      <p:sp>
        <p:nvSpPr>
          <p:cNvPr id="24" name="Card"/>
          <p:cNvSpPr/>
          <p:nvPr/>
        </p:nvSpPr>
        <p:spPr>
          <a:xfrm>
            <a:off x="6080760" y="1463040"/>
            <a:ext cx="2606040" cy="2651760"/>
          </a:xfrm>
          <a:prstGeom prst="roundRect">
            <a:avLst>
              <a:gd name="adj" fmla="val 2807"/>
            </a:avLst>
          </a:prstGeom>
          <a:solidFill>
            <a:srgbClr val="2F4858"/>
          </a:solidFill>
          <a:ln w="12700">
            <a:solidFill>
              <a:srgbClr val="2F4858"/>
            </a:solidFill>
            <a:prstDash val="solid"/>
          </a:ln>
        </p:spPr>
      </p:sp>
      <p:sp>
        <p:nvSpPr>
          <p:cNvPr id="25" name="Text 19"/>
          <p:cNvSpPr txBox="1"/>
          <p:nvPr/>
        </p:nvSpPr>
        <p:spPr>
          <a:xfrm>
            <a:off x="6263640" y="1600200"/>
            <a:ext cx="2286000" cy="32004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Good tool candidates</a:t>
            </a:r>
            <a:endParaRPr lang="en-US" sz="1400" dirty="0"/>
          </a:p>
        </p:txBody>
      </p:sp>
      <p:sp>
        <p:nvSpPr>
          <p:cNvPr id="26" name="Text 20"/>
          <p:cNvSpPr txBox="1"/>
          <p:nvPr/>
        </p:nvSpPr>
        <p:spPr>
          <a:xfrm>
            <a:off x="6263640" y="1965960"/>
            <a:ext cx="2286000" cy="21031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Rock-physics and petrophysics equations</a:t>
            </a:r>
            <a:endParaRPr lang="en-US" sz="1300" dirty="0"/>
          </a:p>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XRD, spectra and lattice calculations</a:t>
            </a:r>
            <a:endParaRPr lang="en-US" sz="1300" dirty="0"/>
          </a:p>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Instrument and database queries</a:t>
            </a:r>
            <a:endParaRPr lang="en-US" sz="1300" dirty="0"/>
          </a:p>
          <a:p>
            <a:pPr marL="342900" indent="-342900">
              <a:spcAft>
                <a:spcPts val="600"/>
              </a:spcAft>
              <a:buSzPct val="100000"/>
              <a:buChar char="•"/>
            </a:pPr>
            <a:r>
              <a:rPr lang="en-US" sz="1300" dirty="0">
                <a:solidFill>
                  <a:schemeClr val="bg1"/>
                </a:solidFill>
                <a:latin typeface="Calibri" pitchFamily="34" charset="0"/>
                <a:ea typeface="Calibri" pitchFamily="34" charset="-122"/>
                <a:cs typeface="Calibri" pitchFamily="34" charset="-120"/>
              </a:rPr>
              <a:t>Simulators and unit converters</a:t>
            </a:r>
            <a:endParaRPr lang="en-US" sz="13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2 · HOW MODELS REQUEST TOOLS · 4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tool-calling loop</a:t>
            </a:r>
            <a:endParaRPr lang="en-US" sz="3000" dirty="0"/>
          </a:p>
        </p:txBody>
      </p:sp>
      <p:sp>
        <p:nvSpPr>
          <p:cNvPr id="4" name="Shape 2"/>
          <p:cNvSpPr/>
          <p:nvPr/>
        </p:nvSpPr>
        <p:spPr>
          <a:xfrm>
            <a:off x="868680" y="1554480"/>
            <a:ext cx="548640" cy="548640"/>
          </a:xfrm>
          <a:prstGeom prst="ellipse">
            <a:avLst/>
          </a:prstGeom>
          <a:solidFill>
            <a:srgbClr val="2F4858"/>
          </a:solidFill>
          <a:ln w="12700">
            <a:solidFill>
              <a:srgbClr val="2F4858"/>
            </a:solidFill>
            <a:prstDash val="solid"/>
          </a:ln>
        </p:spPr>
      </p:sp>
      <p:sp>
        <p:nvSpPr>
          <p:cNvPr id="5" name="Text 3"/>
          <p:cNvSpPr txBox="1"/>
          <p:nvPr/>
        </p:nvSpPr>
        <p:spPr>
          <a:xfrm>
            <a:off x="868680" y="15544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457200" y="2212848"/>
            <a:ext cx="1371600" cy="73152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User asks</a:t>
            </a:r>
            <a:endParaRPr lang="en-US" sz="1300" dirty="0"/>
          </a:p>
        </p:txBody>
      </p:sp>
      <p:sp>
        <p:nvSpPr>
          <p:cNvPr id="7" name="Shape 5"/>
          <p:cNvSpPr/>
          <p:nvPr/>
        </p:nvSpPr>
        <p:spPr>
          <a:xfrm>
            <a:off x="1481328" y="1828800"/>
            <a:ext cx="594360" cy="0"/>
          </a:xfrm>
          <a:prstGeom prst="line">
            <a:avLst/>
          </a:prstGeom>
          <a:noFill/>
          <a:ln w="25400">
            <a:solidFill>
              <a:schemeClr val="accent6"/>
            </a:solidFill>
            <a:prstDash val="solid"/>
            <a:tailEnd type="triangle"/>
          </a:ln>
        </p:spPr>
      </p:sp>
      <p:sp>
        <p:nvSpPr>
          <p:cNvPr id="8" name="Shape 6"/>
          <p:cNvSpPr/>
          <p:nvPr/>
        </p:nvSpPr>
        <p:spPr>
          <a:xfrm>
            <a:off x="2532888" y="1554480"/>
            <a:ext cx="548640" cy="548640"/>
          </a:xfrm>
          <a:prstGeom prst="ellipse">
            <a:avLst/>
          </a:prstGeom>
          <a:solidFill>
            <a:srgbClr val="E8871E"/>
          </a:solidFill>
          <a:ln w="12700">
            <a:solidFill>
              <a:srgbClr val="E8871E"/>
            </a:solidFill>
            <a:prstDash val="solid"/>
          </a:ln>
        </p:spPr>
      </p:sp>
      <p:sp>
        <p:nvSpPr>
          <p:cNvPr id="9" name="Text 7"/>
          <p:cNvSpPr txBox="1"/>
          <p:nvPr/>
        </p:nvSpPr>
        <p:spPr>
          <a:xfrm>
            <a:off x="2532888" y="15544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2121408" y="2212848"/>
            <a:ext cx="1371600" cy="73152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Model replies with a tool call</a:t>
            </a:r>
            <a:endParaRPr lang="en-US" sz="1300" dirty="0"/>
          </a:p>
        </p:txBody>
      </p:sp>
      <p:sp>
        <p:nvSpPr>
          <p:cNvPr id="11" name="Shape 9"/>
          <p:cNvSpPr/>
          <p:nvPr/>
        </p:nvSpPr>
        <p:spPr>
          <a:xfrm>
            <a:off x="3145536" y="1828800"/>
            <a:ext cx="594360" cy="0"/>
          </a:xfrm>
          <a:prstGeom prst="line">
            <a:avLst/>
          </a:prstGeom>
          <a:noFill/>
          <a:ln w="25400">
            <a:solidFill>
              <a:schemeClr val="accent6"/>
            </a:solidFill>
            <a:prstDash val="solid"/>
            <a:tailEnd type="triangle"/>
          </a:ln>
        </p:spPr>
      </p:sp>
      <p:sp>
        <p:nvSpPr>
          <p:cNvPr id="12" name="Shape 10"/>
          <p:cNvSpPr/>
          <p:nvPr/>
        </p:nvSpPr>
        <p:spPr>
          <a:xfrm>
            <a:off x="4197096" y="1554480"/>
            <a:ext cx="548640" cy="548640"/>
          </a:xfrm>
          <a:prstGeom prst="ellipse">
            <a:avLst/>
          </a:prstGeom>
          <a:solidFill>
            <a:srgbClr val="1F8A8A"/>
          </a:solidFill>
          <a:ln w="12700">
            <a:solidFill>
              <a:srgbClr val="1F8A8A"/>
            </a:solidFill>
            <a:prstDash val="solid"/>
          </a:ln>
        </p:spPr>
      </p:sp>
      <p:sp>
        <p:nvSpPr>
          <p:cNvPr id="13" name="Text 11"/>
          <p:cNvSpPr txBox="1"/>
          <p:nvPr/>
        </p:nvSpPr>
        <p:spPr>
          <a:xfrm>
            <a:off x="4197096" y="15544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4" name="Text 12"/>
          <p:cNvSpPr txBox="1"/>
          <p:nvPr/>
        </p:nvSpPr>
        <p:spPr>
          <a:xfrm>
            <a:off x="3785616" y="2212848"/>
            <a:ext cx="1371600" cy="73152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Host runs the function</a:t>
            </a:r>
            <a:endParaRPr lang="en-US" sz="1300" dirty="0"/>
          </a:p>
        </p:txBody>
      </p:sp>
      <p:sp>
        <p:nvSpPr>
          <p:cNvPr id="15" name="Shape 13"/>
          <p:cNvSpPr/>
          <p:nvPr/>
        </p:nvSpPr>
        <p:spPr>
          <a:xfrm>
            <a:off x="4809744" y="1828800"/>
            <a:ext cx="594360" cy="0"/>
          </a:xfrm>
          <a:prstGeom prst="line">
            <a:avLst/>
          </a:prstGeom>
          <a:noFill/>
          <a:ln w="25400">
            <a:solidFill>
              <a:schemeClr val="accent6"/>
            </a:solidFill>
            <a:prstDash val="solid"/>
            <a:tailEnd type="triangle"/>
          </a:ln>
        </p:spPr>
      </p:sp>
      <p:sp>
        <p:nvSpPr>
          <p:cNvPr id="16" name="Shape 14"/>
          <p:cNvSpPr/>
          <p:nvPr/>
        </p:nvSpPr>
        <p:spPr>
          <a:xfrm>
            <a:off x="5861304" y="1554480"/>
            <a:ext cx="548640" cy="548640"/>
          </a:xfrm>
          <a:prstGeom prst="ellipse">
            <a:avLst/>
          </a:prstGeom>
          <a:solidFill>
            <a:srgbClr val="3D5A80"/>
          </a:solidFill>
          <a:ln w="12700">
            <a:solidFill>
              <a:srgbClr val="3D5A80"/>
            </a:solidFill>
            <a:prstDash val="solid"/>
          </a:ln>
        </p:spPr>
      </p:sp>
      <p:sp>
        <p:nvSpPr>
          <p:cNvPr id="17" name="Text 15"/>
          <p:cNvSpPr txBox="1"/>
          <p:nvPr/>
        </p:nvSpPr>
        <p:spPr>
          <a:xfrm>
            <a:off x="5861304" y="15544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4</a:t>
            </a:r>
            <a:endParaRPr lang="en-US" sz="2000" dirty="0"/>
          </a:p>
        </p:txBody>
      </p:sp>
      <p:sp>
        <p:nvSpPr>
          <p:cNvPr id="18" name="Text 16"/>
          <p:cNvSpPr txBox="1"/>
          <p:nvPr/>
        </p:nvSpPr>
        <p:spPr>
          <a:xfrm>
            <a:off x="5449824" y="2212848"/>
            <a:ext cx="1371600" cy="73152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Result returns to model</a:t>
            </a:r>
            <a:endParaRPr lang="en-US" sz="1300" dirty="0"/>
          </a:p>
        </p:txBody>
      </p:sp>
      <p:sp>
        <p:nvSpPr>
          <p:cNvPr id="19" name="Shape 17"/>
          <p:cNvSpPr/>
          <p:nvPr/>
        </p:nvSpPr>
        <p:spPr>
          <a:xfrm>
            <a:off x="6473952" y="1828800"/>
            <a:ext cx="594360" cy="0"/>
          </a:xfrm>
          <a:prstGeom prst="line">
            <a:avLst/>
          </a:prstGeom>
          <a:noFill/>
          <a:ln w="25400">
            <a:solidFill>
              <a:schemeClr val="accent6"/>
            </a:solidFill>
            <a:prstDash val="solid"/>
            <a:tailEnd type="triangle"/>
          </a:ln>
        </p:spPr>
      </p:sp>
      <p:sp>
        <p:nvSpPr>
          <p:cNvPr id="20" name="Shape 18"/>
          <p:cNvSpPr/>
          <p:nvPr/>
        </p:nvSpPr>
        <p:spPr>
          <a:xfrm>
            <a:off x="7525512" y="1554480"/>
            <a:ext cx="548640" cy="548640"/>
          </a:xfrm>
          <a:prstGeom prst="ellipse">
            <a:avLst/>
          </a:prstGeom>
          <a:solidFill>
            <a:srgbClr val="2F4858"/>
          </a:solidFill>
          <a:ln w="12700">
            <a:solidFill>
              <a:srgbClr val="2F4858"/>
            </a:solidFill>
            <a:prstDash val="solid"/>
          </a:ln>
        </p:spPr>
      </p:sp>
      <p:sp>
        <p:nvSpPr>
          <p:cNvPr id="21" name="Text 19"/>
          <p:cNvSpPr txBox="1"/>
          <p:nvPr/>
        </p:nvSpPr>
        <p:spPr>
          <a:xfrm>
            <a:off x="7525512" y="15544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5</a:t>
            </a:r>
            <a:endParaRPr lang="en-US" sz="2000" dirty="0"/>
          </a:p>
        </p:txBody>
      </p:sp>
      <p:sp>
        <p:nvSpPr>
          <p:cNvPr id="22" name="Text 20"/>
          <p:cNvSpPr txBox="1"/>
          <p:nvPr/>
        </p:nvSpPr>
        <p:spPr>
          <a:xfrm>
            <a:off x="7114032" y="2212848"/>
            <a:ext cx="1371600" cy="731520"/>
          </a:xfrm>
          <a:prstGeom prst="rect">
            <a:avLst/>
          </a:prstGeom>
          <a:noFill/>
          <a:ln/>
        </p:spPr>
        <p:txBody>
          <a:bodyPr wrap="square" lIns="0" tIns="0" rIns="0" bIns="0" rtlCol="0" anchor="t"/>
          <a:lstStyle/>
          <a:p>
            <a:pPr algn="ctr" indent="0" marL="0">
              <a:buNone/>
            </a:pPr>
            <a:r>
              <a:rPr lang="en-US" sz="1300" b="1" dirty="0">
                <a:solidFill>
                  <a:schemeClr val="tx1"/>
                </a:solidFill>
                <a:latin typeface="Calibri" pitchFamily="34" charset="0"/>
                <a:ea typeface="Calibri" pitchFamily="34" charset="-122"/>
                <a:cs typeface="Calibri" pitchFamily="34" charset="-120"/>
              </a:rPr>
              <a:t>Model writes final answer</a:t>
            </a:r>
            <a:endParaRPr lang="en-US" sz="1300" dirty="0"/>
          </a:p>
        </p:txBody>
      </p:sp>
      <p:sp>
        <p:nvSpPr>
          <p:cNvPr id="23" name="Card"/>
          <p:cNvSpPr/>
          <p:nvPr/>
        </p:nvSpPr>
        <p:spPr>
          <a:xfrm>
            <a:off x="457200" y="3154680"/>
            <a:ext cx="8229600" cy="1280160"/>
          </a:xfrm>
          <a:prstGeom prst="roundRect">
            <a:avLst>
              <a:gd name="adj" fmla="val 571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Text 22"/>
          <p:cNvSpPr txBox="1"/>
          <p:nvPr/>
        </p:nvSpPr>
        <p:spPr>
          <a:xfrm>
            <a:off x="685800" y="3246120"/>
            <a:ext cx="7772400" cy="1097280"/>
          </a:xfrm>
          <a:prstGeom prst="rect">
            <a:avLst/>
          </a:prstGeom>
          <a:noFill/>
          <a:ln/>
        </p:spPr>
        <p:txBody>
          <a:bodyPr wrap="square" lIns="0" tIns="0" rIns="0" bIns="0" rtlCol="0" anchor="ctr"/>
          <a:lstStyle/>
          <a:p>
            <a:pPr indent="0" marL="0">
              <a:buNone/>
            </a:pPr>
            <a:r>
              <a:rPr lang="en-US" sz="1500" b="1" dirty="0">
                <a:solidFill>
                  <a:srgbClr val="C8553D"/>
                </a:solidFill>
                <a:latin typeface="Calibri" pitchFamily="34" charset="0"/>
                <a:ea typeface="Calibri" pitchFamily="34" charset="-122"/>
                <a:cs typeface="Calibri" pitchFamily="34" charset="-120"/>
              </a:rPr>
              <a:t>The model never executes anything. </a:t>
            </a:r>
            <a:pPr indent="0" marL="0">
              <a:buNone/>
            </a:pPr>
            <a:r>
              <a:rPr lang="en-US" sz="1500" dirty="0">
                <a:solidFill>
                  <a:srgbClr val="17252E"/>
                </a:solidFill>
                <a:latin typeface="Calibri" pitchFamily="34" charset="0"/>
                <a:ea typeface="Calibri" pitchFamily="34" charset="-122"/>
                <a:cs typeface="Calibri" pitchFamily="34" charset="-120"/>
              </a:rPr>
              <a:t>It emits text that describes a call. Your application decides whether to run it, runs it, and sends the result back. The loop repeats until the model answers in plain text.</a:t>
            </a:r>
            <a:endParaRPr lang="en-US" sz="15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2 · HOW MODELS REQUEST TOOLS · 4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Anatomy of a tool call</a:t>
            </a:r>
            <a:endParaRPr lang="en-US" sz="3000" dirty="0"/>
          </a:p>
        </p:txBody>
      </p:sp>
      <p:sp>
        <p:nvSpPr>
          <p:cNvPr id="4" name="Text 2"/>
          <p:cNvSpPr txBox="1"/>
          <p:nvPr/>
        </p:nvSpPr>
        <p:spPr>
          <a:xfrm>
            <a:off x="457200" y="1371600"/>
            <a:ext cx="411480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1  TOOL SCHEMA SENT WITH THE REQUEST</a:t>
            </a:r>
            <a:endParaRPr lang="en-US" sz="1200" dirty="0"/>
          </a:p>
        </p:txBody>
      </p:sp>
      <p:sp>
        <p:nvSpPr>
          <p:cNvPr id="5" name="Code panel"/>
          <p:cNvSpPr/>
          <p:nvPr/>
        </p:nvSpPr>
        <p:spPr>
          <a:xfrm>
            <a:off x="457200" y="1645920"/>
            <a:ext cx="4023360" cy="2834640"/>
          </a:xfrm>
          <a:prstGeom prst="roundRect">
            <a:avLst>
              <a:gd name="adj" fmla="val 1935"/>
            </a:avLst>
          </a:prstGeom>
          <a:solidFill>
            <a:srgbClr val="17252E"/>
          </a:solidFill>
          <a:ln w="12700">
            <a:solidFill>
              <a:srgbClr val="17252E"/>
            </a:solidFill>
            <a:prstDash val="solid"/>
          </a:ln>
        </p:spPr>
      </p:sp>
      <p:sp>
        <p:nvSpPr>
          <p:cNvPr id="6" name="Code"/>
          <p:cNvSpPr txBox="1"/>
          <p:nvPr/>
        </p:nvSpPr>
        <p:spPr>
          <a:xfrm>
            <a:off x="594360" y="1737360"/>
            <a:ext cx="3749040" cy="2651760"/>
          </a:xfrm>
          <a:prstGeom prst="rect">
            <a:avLst/>
          </a:prstGeom>
          <a:noFill/>
          <a:ln/>
        </p:spPr>
        <p:txBody>
          <a:bodyPr wrap="square" lIns="0" tIns="0" rIns="0" bIns="0" rtlCol="0" anchor="t"/>
          <a:lstStyle/>
          <a:p>
            <a:pPr indent="0" marL="0">
              <a:buNone/>
            </a:pPr>
            <a:r>
              <a:rPr lang="en-US" sz="1100" dirty="0">
                <a:solidFill>
                  <a:srgbClr val="E6EDF1"/>
                </a:solidFill>
                <a:latin typeface="Courier New" pitchFamily="34" charset="0"/>
                <a:ea typeface="Courier New" pitchFamily="34" charset="-122"/>
                <a:cs typeface="Courier New" pitchFamily="34" charset="-120"/>
              </a:rPr>
              <a:t>{"type": "function",</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"function": {</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"name": "gardner_density",</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"description": "Bulk density</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(g/cm3) from Vp (m/s)",</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"parameters": {</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"type": "object",</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"properties": {</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"vp_m_s": {"type": "number"}},</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"required": ["vp_m_s"]}}}</a:t>
            </a:r>
            <a:endParaRPr lang="en-US" sz="1100" dirty="0"/>
          </a:p>
        </p:txBody>
      </p:sp>
      <p:sp>
        <p:nvSpPr>
          <p:cNvPr id="7" name="Text 5"/>
          <p:cNvSpPr txBox="1"/>
          <p:nvPr/>
        </p:nvSpPr>
        <p:spPr>
          <a:xfrm>
            <a:off x="4663440" y="1371600"/>
            <a:ext cx="402336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2  MODEL REPLY: A CALL, NOT AN ANSWER</a:t>
            </a:r>
            <a:endParaRPr lang="en-US" sz="1200" dirty="0"/>
          </a:p>
        </p:txBody>
      </p:sp>
      <p:sp>
        <p:nvSpPr>
          <p:cNvPr id="8" name="Code panel"/>
          <p:cNvSpPr/>
          <p:nvPr/>
        </p:nvSpPr>
        <p:spPr>
          <a:xfrm>
            <a:off x="4663440" y="1645920"/>
            <a:ext cx="4023360" cy="1920240"/>
          </a:xfrm>
          <a:prstGeom prst="roundRect">
            <a:avLst>
              <a:gd name="adj" fmla="val 2857"/>
            </a:avLst>
          </a:prstGeom>
          <a:solidFill>
            <a:srgbClr val="17252E"/>
          </a:solidFill>
          <a:ln w="12700">
            <a:solidFill>
              <a:srgbClr val="17252E"/>
            </a:solidFill>
            <a:prstDash val="solid"/>
          </a:ln>
        </p:spPr>
      </p:sp>
      <p:sp>
        <p:nvSpPr>
          <p:cNvPr id="9" name="Code"/>
          <p:cNvSpPr txBox="1"/>
          <p:nvPr/>
        </p:nvSpPr>
        <p:spPr>
          <a:xfrm>
            <a:off x="4800600" y="1737360"/>
            <a:ext cx="3749040" cy="1737360"/>
          </a:xfrm>
          <a:prstGeom prst="rect">
            <a:avLst/>
          </a:prstGeom>
          <a:noFill/>
          <a:ln/>
        </p:spPr>
        <p:txBody>
          <a:bodyPr wrap="square" lIns="0" tIns="0" rIns="0" bIns="0" rtlCol="0" anchor="t"/>
          <a:lstStyle/>
          <a:p>
            <a:pPr indent="0" marL="0">
              <a:buNone/>
            </a:pPr>
            <a:r>
              <a:rPr lang="en-US" sz="1050" dirty="0">
                <a:solidFill>
                  <a:srgbClr val="E6EDF1"/>
                </a:solidFill>
                <a:latin typeface="Courier New" pitchFamily="34" charset="0"/>
                <a:ea typeface="Courier New" pitchFamily="34" charset="-122"/>
                <a:cs typeface="Courier New" pitchFamily="34" charset="-120"/>
              </a:rPr>
              <a:t>{"role": "assistant",</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"content": null,</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"tool_calls": [{</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"id": "call_1",</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"type": "function",</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"function": {</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"name": "gardner_density",</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"arguments":</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"{\"vp_m_s\": 3200}"}}]}</a:t>
            </a:r>
            <a:endParaRPr lang="en-US" sz="1050" dirty="0"/>
          </a:p>
        </p:txBody>
      </p:sp>
      <p:sp>
        <p:nvSpPr>
          <p:cNvPr id="10" name="Text 8"/>
          <p:cNvSpPr txBox="1"/>
          <p:nvPr/>
        </p:nvSpPr>
        <p:spPr>
          <a:xfrm>
            <a:off x="4663440" y="3639312"/>
            <a:ext cx="402336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3  HOST RESPONDS</a:t>
            </a:r>
            <a:endParaRPr lang="en-US" sz="1200" dirty="0"/>
          </a:p>
        </p:txBody>
      </p:sp>
      <p:sp>
        <p:nvSpPr>
          <p:cNvPr id="11" name="Code panel"/>
          <p:cNvSpPr/>
          <p:nvPr/>
        </p:nvSpPr>
        <p:spPr>
          <a:xfrm>
            <a:off x="4663440" y="3913632"/>
            <a:ext cx="4023360" cy="658368"/>
          </a:xfrm>
          <a:prstGeom prst="roundRect">
            <a:avLst>
              <a:gd name="adj" fmla="val 8333"/>
            </a:avLst>
          </a:prstGeom>
          <a:solidFill>
            <a:srgbClr val="17252E"/>
          </a:solidFill>
          <a:ln w="12700">
            <a:solidFill>
              <a:srgbClr val="17252E"/>
            </a:solidFill>
            <a:prstDash val="solid"/>
          </a:ln>
        </p:spPr>
      </p:sp>
      <p:sp>
        <p:nvSpPr>
          <p:cNvPr id="12" name="Code"/>
          <p:cNvSpPr txBox="1"/>
          <p:nvPr/>
        </p:nvSpPr>
        <p:spPr>
          <a:xfrm>
            <a:off x="4800600" y="4005072"/>
            <a:ext cx="3749040" cy="475488"/>
          </a:xfrm>
          <a:prstGeom prst="rect">
            <a:avLst/>
          </a:prstGeom>
          <a:noFill/>
          <a:ln/>
        </p:spPr>
        <p:txBody>
          <a:bodyPr wrap="square" lIns="0" tIns="0" rIns="0" bIns="0" rtlCol="0" anchor="t"/>
          <a:lstStyle/>
          <a:p>
            <a:pPr indent="0" marL="0">
              <a:buNone/>
            </a:pPr>
            <a:r>
              <a:rPr lang="en-US" sz="1000" dirty="0">
                <a:solidFill>
                  <a:srgbClr val="E6EDF1"/>
                </a:solidFill>
                <a:latin typeface="Courier New" pitchFamily="34" charset="0"/>
                <a:ea typeface="Courier New" pitchFamily="34" charset="-122"/>
                <a:cs typeface="Courier New" pitchFamily="34" charset="-120"/>
              </a:rPr>
              <a:t>{"role": "tool",</a:t>
            </a:r>
            <a:endParaRPr lang="en-US" sz="1000" dirty="0"/>
          </a:p>
          <a:p>
            <a:pPr indent="0" marL="0">
              <a:buNone/>
            </a:pPr>
            <a:r>
              <a:rPr lang="en-US" sz="1000" dirty="0">
                <a:solidFill>
                  <a:srgbClr val="E6EDF1"/>
                </a:solidFill>
                <a:latin typeface="Courier New" pitchFamily="34" charset="0"/>
                <a:ea typeface="Courier New" pitchFamily="34" charset="-122"/>
                <a:cs typeface="Courier New" pitchFamily="34" charset="-120"/>
              </a:rPr>
              <a:t> "tool_call_id": "call_1",</a:t>
            </a:r>
            <a:endParaRPr lang="en-US" sz="1000" dirty="0"/>
          </a:p>
          <a:p>
            <a:pPr indent="0" marL="0">
              <a:buNone/>
            </a:pPr>
            <a:r>
              <a:rPr lang="en-US" sz="1000" dirty="0">
                <a:solidFill>
                  <a:srgbClr val="E6EDF1"/>
                </a:solidFill>
                <a:latin typeface="Courier New" pitchFamily="34" charset="0"/>
                <a:ea typeface="Courier New" pitchFamily="34" charset="-122"/>
                <a:cs typeface="Courier New" pitchFamily="34" charset="-120"/>
              </a:rPr>
              <a:t> "content": "{\"value\": 2.33}"}</a:t>
            </a:r>
            <a:endParaRPr lang="en-US" sz="10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E8871E"/>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2 · HOW MODELS REQUEST TOOLS · 4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Demo 2: the raw protocol</a:t>
            </a:r>
            <a:endParaRPr lang="en-US" sz="3000" dirty="0"/>
          </a:p>
        </p:txBody>
      </p:sp>
      <p:sp>
        <p:nvSpPr>
          <p:cNvPr id="4" name="Text 2"/>
          <p:cNvSpPr txBox="1"/>
          <p:nvPr/>
        </p:nvSpPr>
        <p:spPr>
          <a:xfrm>
            <a:off x="457200" y="1417320"/>
            <a:ext cx="182880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RUN</a:t>
            </a:r>
            <a:endParaRPr lang="en-US" sz="1200" dirty="0"/>
          </a:p>
        </p:txBody>
      </p:sp>
      <p:sp>
        <p:nvSpPr>
          <p:cNvPr id="5" name="Code panel"/>
          <p:cNvSpPr/>
          <p:nvPr/>
        </p:nvSpPr>
        <p:spPr>
          <a:xfrm>
            <a:off x="457200" y="1691640"/>
            <a:ext cx="4023360" cy="502920"/>
          </a:xfrm>
          <a:prstGeom prst="roundRect">
            <a:avLst>
              <a:gd name="adj" fmla="val 10909"/>
            </a:avLst>
          </a:prstGeom>
          <a:solidFill>
            <a:srgbClr val="17252E"/>
          </a:solidFill>
          <a:ln w="12700">
            <a:solidFill>
              <a:srgbClr val="17252E"/>
            </a:solidFill>
            <a:prstDash val="solid"/>
          </a:ln>
        </p:spPr>
      </p:sp>
      <p:sp>
        <p:nvSpPr>
          <p:cNvPr id="6" name="Code"/>
          <p:cNvSpPr txBox="1"/>
          <p:nvPr/>
        </p:nvSpPr>
        <p:spPr>
          <a:xfrm>
            <a:off x="594360" y="1783080"/>
            <a:ext cx="3749040" cy="320040"/>
          </a:xfrm>
          <a:prstGeom prst="rect">
            <a:avLst/>
          </a:prstGeom>
          <a:noFill/>
          <a:ln/>
        </p:spPr>
        <p:txBody>
          <a:bodyPr wrap="square" lIns="0" tIns="0" rIns="0" bIns="0" rtlCol="0" anchor="t"/>
          <a:lstStyle/>
          <a:p>
            <a:pPr indent="0" marL="0">
              <a:buNone/>
            </a:pPr>
            <a:r>
              <a:rPr lang="en-US" sz="1200" dirty="0">
                <a:solidFill>
                  <a:srgbClr val="E6EDF1"/>
                </a:solidFill>
                <a:latin typeface="Courier New" pitchFamily="34" charset="0"/>
                <a:ea typeface="Courier New" pitchFamily="34" charset="-122"/>
                <a:cs typeface="Courier New" pitchFamily="34" charset="-120"/>
              </a:rPr>
              <a:t>uv run demos/d02_raw_tool_call.py</a:t>
            </a:r>
            <a:endParaRPr lang="en-US" sz="1200" dirty="0"/>
          </a:p>
        </p:txBody>
      </p:sp>
      <p:sp>
        <p:nvSpPr>
          <p:cNvPr id="7" name="Text 5"/>
          <p:cNvSpPr txBox="1"/>
          <p:nvPr/>
        </p:nvSpPr>
        <p:spPr>
          <a:xfrm>
            <a:off x="457200" y="2423160"/>
            <a:ext cx="365760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THREE PRINTED STAGES</a:t>
            </a:r>
            <a:endParaRPr lang="en-US" sz="1200" dirty="0"/>
          </a:p>
        </p:txBody>
      </p:sp>
      <p:sp>
        <p:nvSpPr>
          <p:cNvPr id="8" name="Text 6"/>
          <p:cNvSpPr txBox="1"/>
          <p:nvPr/>
        </p:nvSpPr>
        <p:spPr>
          <a:xfrm>
            <a:off x="457200" y="2724912"/>
            <a:ext cx="402336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latin typeface="Calibri" pitchFamily="34" charset="0"/>
                <a:ea typeface="Calibri" pitchFamily="34" charset="-122"/>
                <a:cs typeface="Calibri" pitchFamily="34" charset="-120"/>
              </a:rPr>
              <a:t>Model reply: empty content plus tool_calls</a:t>
            </a:r>
            <a:endParaRPr lang="en-US" sz="1400" dirty="0"/>
          </a:p>
          <a:p>
            <a:pPr marL="342900" indent="-342900">
              <a:spcAft>
                <a:spcPts val="600"/>
              </a:spcAft>
              <a:buSzPct val="100000"/>
              <a:buChar char="•"/>
            </a:pPr>
            <a:r>
              <a:rPr lang="en-US" sz="1400" dirty="0">
                <a:solidFill>
                  <a:schemeClr val="bg1"/>
                </a:solidFill>
                <a:latin typeface="Calibri" pitchFamily="34" charset="0"/>
                <a:ea typeface="Calibri" pitchFamily="34" charset="-122"/>
                <a:cs typeface="Calibri" pitchFamily="34" charset="-120"/>
              </a:rPr>
              <a:t>We execute gardner_density(3200) locally</a:t>
            </a:r>
            <a:endParaRPr lang="en-US" sz="1400" dirty="0"/>
          </a:p>
          <a:p>
            <a:pPr marL="342900" indent="-342900">
              <a:spcAft>
                <a:spcPts val="600"/>
              </a:spcAft>
              <a:buSzPct val="100000"/>
              <a:buChar char="•"/>
            </a:pPr>
            <a:r>
              <a:rPr lang="en-US" sz="1400" dirty="0">
                <a:solidFill>
                  <a:schemeClr val="bg1"/>
                </a:solidFill>
                <a:latin typeface="Calibri" pitchFamily="34" charset="0"/>
                <a:ea typeface="Calibri" pitchFamily="34" charset="-122"/>
                <a:cs typeface="Calibri" pitchFamily="34" charset="-120"/>
              </a:rPr>
              <a:t>Final answer quotes the tool result</a:t>
            </a:r>
            <a:endParaRPr lang="en-US" sz="1400" dirty="0"/>
          </a:p>
        </p:txBody>
      </p:sp>
      <p:sp>
        <p:nvSpPr>
          <p:cNvPr id="9" name="Card"/>
          <p:cNvSpPr/>
          <p:nvPr/>
        </p:nvSpPr>
        <p:spPr>
          <a:xfrm>
            <a:off x="4846320" y="1417320"/>
            <a:ext cx="3840480" cy="2926080"/>
          </a:xfrm>
          <a:prstGeom prst="roundRect">
            <a:avLst>
              <a:gd name="adj" fmla="val 2500"/>
            </a:avLst>
          </a:prstGeom>
          <a:solidFill>
            <a:srgbClr val="17252E"/>
          </a:solidFill>
          <a:ln w="12700">
            <a:solidFill>
              <a:srgbClr val="17252E"/>
            </a:solidFill>
            <a:prstDash val="solid"/>
          </a:ln>
        </p:spPr>
      </p:sp>
      <p:sp>
        <p:nvSpPr>
          <p:cNvPr id="10" name="Icon circle"/>
          <p:cNvSpPr/>
          <p:nvPr/>
        </p:nvSpPr>
        <p:spPr>
          <a:xfrm>
            <a:off x="5074920" y="1645920"/>
            <a:ext cx="502920" cy="502920"/>
          </a:xfrm>
          <a:prstGeom prst="ellipse">
            <a:avLst/>
          </a:prstGeom>
          <a:solidFill>
            <a:srgbClr val="E8871E"/>
          </a:solidFill>
          <a:ln w="12700">
            <a:solidFill>
              <a:srgbClr val="E8871E"/>
            </a:solidFill>
            <a:prstDash val="solid"/>
          </a:ln>
        </p:spPr>
      </p:sp>
      <p:pic>
        <p:nvPicPr>
          <p:cNvPr id="11" name="Image 0" descr="FaTerminal">    </p:cNvPr>
          <p:cNvPicPr>
            <a:picLocks noChangeAspect="1"/>
          </p:cNvPicPr>
          <p:nvPr/>
        </p:nvPicPr>
        <p:blipFill>
          <a:blip r:embed="rId1"/>
          <a:stretch>
            <a:fillRect/>
          </a:stretch>
        </p:blipFill>
        <p:spPr>
          <a:xfrm>
            <a:off x="5200650" y="1771650"/>
            <a:ext cx="251460" cy="251460"/>
          </a:xfrm>
          <a:prstGeom prst="rect">
            <a:avLst/>
          </a:prstGeom>
        </p:spPr>
      </p:pic>
      <p:sp>
        <p:nvSpPr>
          <p:cNvPr id="12" name="Text 9"/>
          <p:cNvSpPr txBox="1"/>
          <p:nvPr/>
        </p:nvSpPr>
        <p:spPr>
          <a:xfrm>
            <a:off x="5074920" y="2286000"/>
            <a:ext cx="3383280" cy="36576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Any OpenAI-compatible endpoint</a:t>
            </a:r>
            <a:endParaRPr lang="en-US" sz="1500" dirty="0"/>
          </a:p>
        </p:txBody>
      </p:sp>
      <p:sp>
        <p:nvSpPr>
          <p:cNvPr id="13" name="Text 10"/>
          <p:cNvSpPr txBox="1"/>
          <p:nvPr/>
        </p:nvSpPr>
        <p:spPr>
          <a:xfrm>
            <a:off x="5074920" y="2697480"/>
            <a:ext cx="3383280" cy="91440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Only OPENAI_API_KEY, OPENAI_BASE_URL and MODEL change between providers. The code and slides do not.</a:t>
            </a:r>
            <a:endParaRPr lang="en-US" sz="1300" dirty="0"/>
          </a:p>
        </p:txBody>
      </p:sp>
      <p:sp>
        <p:nvSpPr>
          <p:cNvPr id="14" name="Text 11"/>
          <p:cNvSpPr txBox="1"/>
          <p:nvPr/>
        </p:nvSpPr>
        <p:spPr>
          <a:xfrm>
            <a:off x="5074920" y="3657600"/>
            <a:ext cx="3383280" cy="365760"/>
          </a:xfrm>
          <a:prstGeom prst="rect">
            <a:avLst/>
          </a:prstGeom>
          <a:noFill/>
          <a:ln/>
        </p:spPr>
        <p:txBody>
          <a:bodyPr wrap="square" lIns="0" tIns="0" rIns="0" bIns="0" rtlCol="0" anchor="ctr"/>
          <a:lstStyle/>
          <a:p>
            <a:pPr indent="0" marL="0">
              <a:buNone/>
            </a:pPr>
            <a:r>
              <a:rPr lang="en-US" sz="1400" i="1" dirty="0">
                <a:solidFill>
                  <a:srgbClr val="C9D3D9"/>
                </a:solidFill>
                <a:latin typeface="Calibri" pitchFamily="34" charset="0"/>
                <a:ea typeface="Calibri" pitchFamily="34" charset="-122"/>
                <a:cs typeface="Calibri" pitchFamily="34" charset="-120"/>
              </a:rPr>
              <a:t>Expected: ρ ≈ 2.33 g/cm³</a:t>
            </a:r>
            <a:endParaRPr lang="en-US" sz="14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3 · MCP ARCHITECTURE · 5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N × M integration problem</a:t>
            </a:r>
            <a:endParaRPr lang="en-US" sz="3000" dirty="0"/>
          </a:p>
        </p:txBody>
      </p:sp>
      <p:sp>
        <p:nvSpPr>
          <p:cNvPr id="4" name="Card"/>
          <p:cNvSpPr/>
          <p:nvPr/>
        </p:nvSpPr>
        <p:spPr>
          <a:xfrm>
            <a:off x="457200" y="1463040"/>
            <a:ext cx="4023360" cy="2743200"/>
          </a:xfrm>
          <a:prstGeom prst="roundRect">
            <a:avLst>
              <a:gd name="adj" fmla="val 26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40080" y="1554480"/>
            <a:ext cx="3657600" cy="27432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BEFORE: custom glue everywhere</a:t>
            </a:r>
            <a:endParaRPr lang="en-US" sz="1200" dirty="0"/>
          </a:p>
        </p:txBody>
      </p:sp>
      <p:sp>
        <p:nvSpPr>
          <p:cNvPr id="6" name="Box"/>
          <p:cNvSpPr txBox="1"/>
          <p:nvPr/>
        </p:nvSpPr>
        <p:spPr>
          <a:xfrm>
            <a:off x="685800" y="1965960"/>
            <a:ext cx="1188720" cy="457200"/>
          </a:xfrm>
          <a:prstGeom prst="roundRect">
            <a:avLst>
              <a:gd name="adj" fmla="val 16000"/>
            </a:avLst>
          </a:prstGeom>
          <a:solidFill>
            <a:srgbClr val="2F4858"/>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Chat app</a:t>
            </a:r>
            <a:endParaRPr lang="en-US" sz="1200" dirty="0"/>
          </a:p>
        </p:txBody>
      </p:sp>
      <p:sp>
        <p:nvSpPr>
          <p:cNvPr id="7" name="Box"/>
          <p:cNvSpPr txBox="1"/>
          <p:nvPr/>
        </p:nvSpPr>
        <p:spPr>
          <a:xfrm>
            <a:off x="685800" y="2651760"/>
            <a:ext cx="1188720" cy="457200"/>
          </a:xfrm>
          <a:prstGeom prst="roundRect">
            <a:avLst>
              <a:gd name="adj" fmla="val 16000"/>
            </a:avLst>
          </a:prstGeom>
          <a:solidFill>
            <a:srgbClr val="2F4858"/>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IDE</a:t>
            </a:r>
            <a:endParaRPr lang="en-US" sz="1200" dirty="0"/>
          </a:p>
        </p:txBody>
      </p:sp>
      <p:sp>
        <p:nvSpPr>
          <p:cNvPr id="8" name="Box"/>
          <p:cNvSpPr txBox="1"/>
          <p:nvPr/>
        </p:nvSpPr>
        <p:spPr>
          <a:xfrm>
            <a:off x="685800" y="3337560"/>
            <a:ext cx="1188720" cy="457200"/>
          </a:xfrm>
          <a:prstGeom prst="roundRect">
            <a:avLst>
              <a:gd name="adj" fmla="val 16000"/>
            </a:avLst>
          </a:prstGeom>
          <a:solidFill>
            <a:srgbClr val="2F4858"/>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Agent</a:t>
            </a:r>
            <a:endParaRPr lang="en-US" sz="1200" dirty="0"/>
          </a:p>
        </p:txBody>
      </p:sp>
      <p:sp>
        <p:nvSpPr>
          <p:cNvPr id="9" name="Box"/>
          <p:cNvSpPr txBox="1"/>
          <p:nvPr/>
        </p:nvSpPr>
        <p:spPr>
          <a:xfrm>
            <a:off x="3108960" y="1965960"/>
            <a:ext cx="1188720" cy="457200"/>
          </a:xfrm>
          <a:prstGeom prst="roundRect">
            <a:avLst>
              <a:gd name="adj" fmla="val 16000"/>
            </a:avLst>
          </a:prstGeom>
          <a:solidFill>
            <a:srgbClr val="1F8A8A"/>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XRD code</a:t>
            </a:r>
            <a:endParaRPr lang="en-US" sz="1200" dirty="0"/>
          </a:p>
        </p:txBody>
      </p:sp>
      <p:sp>
        <p:nvSpPr>
          <p:cNvPr id="10" name="Box"/>
          <p:cNvSpPr txBox="1"/>
          <p:nvPr/>
        </p:nvSpPr>
        <p:spPr>
          <a:xfrm>
            <a:off x="3108960" y="2651760"/>
            <a:ext cx="1188720" cy="457200"/>
          </a:xfrm>
          <a:prstGeom prst="roundRect">
            <a:avLst>
              <a:gd name="adj" fmla="val 16000"/>
            </a:avLst>
          </a:prstGeom>
          <a:solidFill>
            <a:srgbClr val="1F8A8A"/>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Well logs</a:t>
            </a:r>
            <a:endParaRPr lang="en-US" sz="1200" dirty="0"/>
          </a:p>
        </p:txBody>
      </p:sp>
      <p:sp>
        <p:nvSpPr>
          <p:cNvPr id="11" name="Box"/>
          <p:cNvSpPr txBox="1"/>
          <p:nvPr/>
        </p:nvSpPr>
        <p:spPr>
          <a:xfrm>
            <a:off x="3108960" y="3337560"/>
            <a:ext cx="1188720" cy="457200"/>
          </a:xfrm>
          <a:prstGeom prst="roundRect">
            <a:avLst>
              <a:gd name="adj" fmla="val 16000"/>
            </a:avLst>
          </a:prstGeom>
          <a:solidFill>
            <a:srgbClr val="1F8A8A"/>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Lab DB</a:t>
            </a:r>
            <a:endParaRPr lang="en-US" sz="1200" dirty="0"/>
          </a:p>
        </p:txBody>
      </p:sp>
      <p:sp>
        <p:nvSpPr>
          <p:cNvPr id="12" name="Shape 10"/>
          <p:cNvSpPr/>
          <p:nvPr/>
        </p:nvSpPr>
        <p:spPr>
          <a:xfrm>
            <a:off x="1874520" y="2194560"/>
            <a:ext cx="1234440" cy="0"/>
          </a:xfrm>
          <a:prstGeom prst="line">
            <a:avLst/>
          </a:prstGeom>
          <a:noFill/>
          <a:ln w="12700">
            <a:solidFill>
              <a:srgbClr val="C8553D"/>
            </a:solidFill>
            <a:prstDash val="solid"/>
          </a:ln>
        </p:spPr>
      </p:sp>
      <p:sp>
        <p:nvSpPr>
          <p:cNvPr id="13" name="Shape 11"/>
          <p:cNvSpPr/>
          <p:nvPr/>
        </p:nvSpPr>
        <p:spPr>
          <a:xfrm>
            <a:off x="1874520" y="2194560"/>
            <a:ext cx="1234440" cy="685800"/>
          </a:xfrm>
          <a:prstGeom prst="line">
            <a:avLst/>
          </a:prstGeom>
          <a:noFill/>
          <a:ln w="12700">
            <a:solidFill>
              <a:srgbClr val="C8553D"/>
            </a:solidFill>
            <a:prstDash val="solid"/>
          </a:ln>
        </p:spPr>
      </p:sp>
      <p:sp>
        <p:nvSpPr>
          <p:cNvPr id="14" name="Shape 12"/>
          <p:cNvSpPr/>
          <p:nvPr/>
        </p:nvSpPr>
        <p:spPr>
          <a:xfrm>
            <a:off x="1874520" y="2194560"/>
            <a:ext cx="1234440" cy="1371600"/>
          </a:xfrm>
          <a:prstGeom prst="line">
            <a:avLst/>
          </a:prstGeom>
          <a:noFill/>
          <a:ln w="12700">
            <a:solidFill>
              <a:srgbClr val="C8553D"/>
            </a:solidFill>
            <a:prstDash val="solid"/>
          </a:ln>
        </p:spPr>
      </p:sp>
      <p:sp>
        <p:nvSpPr>
          <p:cNvPr id="15" name="Shape 13"/>
          <p:cNvSpPr/>
          <p:nvPr/>
        </p:nvSpPr>
        <p:spPr>
          <a:xfrm flipV="1">
            <a:off x="1874520" y="2880360"/>
            <a:ext cx="1234440" cy="-685800"/>
          </a:xfrm>
          <a:prstGeom prst="line">
            <a:avLst/>
          </a:prstGeom>
          <a:noFill/>
          <a:ln w="12700">
            <a:solidFill>
              <a:srgbClr val="C8553D"/>
            </a:solidFill>
            <a:prstDash val="solid"/>
          </a:ln>
        </p:spPr>
      </p:sp>
      <p:sp>
        <p:nvSpPr>
          <p:cNvPr id="16" name="Shape 14"/>
          <p:cNvSpPr/>
          <p:nvPr/>
        </p:nvSpPr>
        <p:spPr>
          <a:xfrm>
            <a:off x="1874520" y="2880360"/>
            <a:ext cx="1234440" cy="0"/>
          </a:xfrm>
          <a:prstGeom prst="line">
            <a:avLst/>
          </a:prstGeom>
          <a:noFill/>
          <a:ln w="12700">
            <a:solidFill>
              <a:srgbClr val="C8553D"/>
            </a:solidFill>
            <a:prstDash val="solid"/>
          </a:ln>
        </p:spPr>
      </p:sp>
      <p:sp>
        <p:nvSpPr>
          <p:cNvPr id="17" name="Shape 15"/>
          <p:cNvSpPr/>
          <p:nvPr/>
        </p:nvSpPr>
        <p:spPr>
          <a:xfrm>
            <a:off x="1874520" y="2880360"/>
            <a:ext cx="1234440" cy="685800"/>
          </a:xfrm>
          <a:prstGeom prst="line">
            <a:avLst/>
          </a:prstGeom>
          <a:noFill/>
          <a:ln w="12700">
            <a:solidFill>
              <a:srgbClr val="C8553D"/>
            </a:solidFill>
            <a:prstDash val="solid"/>
          </a:ln>
        </p:spPr>
      </p:sp>
      <p:sp>
        <p:nvSpPr>
          <p:cNvPr id="18" name="Shape 16"/>
          <p:cNvSpPr/>
          <p:nvPr/>
        </p:nvSpPr>
        <p:spPr>
          <a:xfrm flipV="1">
            <a:off x="1874520" y="3566160"/>
            <a:ext cx="1234440" cy="-1371600"/>
          </a:xfrm>
          <a:prstGeom prst="line">
            <a:avLst/>
          </a:prstGeom>
          <a:noFill/>
          <a:ln w="12700">
            <a:solidFill>
              <a:srgbClr val="C8553D"/>
            </a:solidFill>
            <a:prstDash val="solid"/>
          </a:ln>
        </p:spPr>
      </p:sp>
      <p:sp>
        <p:nvSpPr>
          <p:cNvPr id="19" name="Shape 17"/>
          <p:cNvSpPr/>
          <p:nvPr/>
        </p:nvSpPr>
        <p:spPr>
          <a:xfrm flipV="1">
            <a:off x="1874520" y="3566160"/>
            <a:ext cx="1234440" cy="-685800"/>
          </a:xfrm>
          <a:prstGeom prst="line">
            <a:avLst/>
          </a:prstGeom>
          <a:noFill/>
          <a:ln w="12700">
            <a:solidFill>
              <a:srgbClr val="C8553D"/>
            </a:solidFill>
            <a:prstDash val="solid"/>
          </a:ln>
        </p:spPr>
      </p:sp>
      <p:sp>
        <p:nvSpPr>
          <p:cNvPr id="20" name="Shape 18"/>
          <p:cNvSpPr/>
          <p:nvPr/>
        </p:nvSpPr>
        <p:spPr>
          <a:xfrm>
            <a:off x="1874520" y="3566160"/>
            <a:ext cx="1234440" cy="0"/>
          </a:xfrm>
          <a:prstGeom prst="line">
            <a:avLst/>
          </a:prstGeom>
          <a:noFill/>
          <a:ln w="12700">
            <a:solidFill>
              <a:srgbClr val="C8553D"/>
            </a:solidFill>
            <a:prstDash val="solid"/>
          </a:ln>
        </p:spPr>
      </p:sp>
      <p:sp>
        <p:nvSpPr>
          <p:cNvPr id="21" name="Card"/>
          <p:cNvSpPr/>
          <p:nvPr/>
        </p:nvSpPr>
        <p:spPr>
          <a:xfrm>
            <a:off x="4663440" y="1463040"/>
            <a:ext cx="4023360" cy="2743200"/>
          </a:xfrm>
          <a:prstGeom prst="roundRect">
            <a:avLst>
              <a:gd name="adj" fmla="val 26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2" name="Text 20"/>
          <p:cNvSpPr txBox="1"/>
          <p:nvPr/>
        </p:nvSpPr>
        <p:spPr>
          <a:xfrm>
            <a:off x="4846320" y="1554480"/>
            <a:ext cx="3657600" cy="274320"/>
          </a:xfrm>
          <a:prstGeom prst="rect">
            <a:avLst/>
          </a:prstGeom>
          <a:noFill/>
          <a:ln/>
        </p:spPr>
        <p:txBody>
          <a:bodyPr wrap="square" lIns="0" tIns="0" rIns="0" bIns="0" rtlCol="0" anchor="ctr"/>
          <a:lstStyle/>
          <a:p>
            <a:pPr indent="0" marL="0">
              <a:buNone/>
            </a:pPr>
            <a:r>
              <a:rPr lang="en-US" sz="1200" b="1" dirty="0">
                <a:solidFill>
                  <a:srgbClr val="1F8A8A"/>
                </a:solidFill>
                <a:latin typeface="Calibri" pitchFamily="34" charset="0"/>
                <a:ea typeface="Calibri" pitchFamily="34" charset="-122"/>
                <a:cs typeface="Calibri" pitchFamily="34" charset="-120"/>
              </a:rPr>
              <a:t>AFTER: one protocol</a:t>
            </a:r>
            <a:endParaRPr lang="en-US" sz="1200" dirty="0"/>
          </a:p>
        </p:txBody>
      </p:sp>
      <p:sp>
        <p:nvSpPr>
          <p:cNvPr id="23" name="Box"/>
          <p:cNvSpPr txBox="1"/>
          <p:nvPr/>
        </p:nvSpPr>
        <p:spPr>
          <a:xfrm>
            <a:off x="4892040" y="1965960"/>
            <a:ext cx="1005840" cy="457200"/>
          </a:xfrm>
          <a:prstGeom prst="roundRect">
            <a:avLst>
              <a:gd name="adj" fmla="val 16000"/>
            </a:avLst>
          </a:prstGeom>
          <a:solidFill>
            <a:srgbClr val="2F4858"/>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Chat app</a:t>
            </a:r>
            <a:endParaRPr lang="en-US" sz="1200" dirty="0"/>
          </a:p>
        </p:txBody>
      </p:sp>
      <p:sp>
        <p:nvSpPr>
          <p:cNvPr id="24" name="Box"/>
          <p:cNvSpPr txBox="1"/>
          <p:nvPr/>
        </p:nvSpPr>
        <p:spPr>
          <a:xfrm>
            <a:off x="4892040" y="2651760"/>
            <a:ext cx="1005840" cy="457200"/>
          </a:xfrm>
          <a:prstGeom prst="roundRect">
            <a:avLst>
              <a:gd name="adj" fmla="val 16000"/>
            </a:avLst>
          </a:prstGeom>
          <a:solidFill>
            <a:srgbClr val="2F4858"/>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IDE</a:t>
            </a:r>
            <a:endParaRPr lang="en-US" sz="1200" dirty="0"/>
          </a:p>
        </p:txBody>
      </p:sp>
      <p:sp>
        <p:nvSpPr>
          <p:cNvPr id="25" name="Box"/>
          <p:cNvSpPr txBox="1"/>
          <p:nvPr/>
        </p:nvSpPr>
        <p:spPr>
          <a:xfrm>
            <a:off x="4892040" y="3337560"/>
            <a:ext cx="1005840" cy="457200"/>
          </a:xfrm>
          <a:prstGeom prst="roundRect">
            <a:avLst>
              <a:gd name="adj" fmla="val 16000"/>
            </a:avLst>
          </a:prstGeom>
          <a:solidFill>
            <a:srgbClr val="2F4858"/>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Agent</a:t>
            </a:r>
            <a:endParaRPr lang="en-US" sz="1200" dirty="0"/>
          </a:p>
        </p:txBody>
      </p:sp>
      <p:sp>
        <p:nvSpPr>
          <p:cNvPr id="26" name="Box"/>
          <p:cNvSpPr txBox="1"/>
          <p:nvPr/>
        </p:nvSpPr>
        <p:spPr>
          <a:xfrm>
            <a:off x="6355080" y="2331720"/>
            <a:ext cx="731520" cy="914400"/>
          </a:xfrm>
          <a:prstGeom prst="roundRect">
            <a:avLst>
              <a:gd name="adj" fmla="val 10000"/>
            </a:avLst>
          </a:prstGeom>
          <a:solidFill>
            <a:srgbClr val="E8871E"/>
          </a:solidFill>
          <a:ln/>
        </p:spPr>
        <p:txBody>
          <a:bodyPr wrap="square" lIns="50800" tIns="50800" rIns="50800" bIns="5080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MCP</a:t>
            </a:r>
            <a:endParaRPr lang="en-US" sz="1600" dirty="0"/>
          </a:p>
        </p:txBody>
      </p:sp>
      <p:sp>
        <p:nvSpPr>
          <p:cNvPr id="27" name="Box"/>
          <p:cNvSpPr txBox="1"/>
          <p:nvPr/>
        </p:nvSpPr>
        <p:spPr>
          <a:xfrm>
            <a:off x="7498080" y="1965960"/>
            <a:ext cx="1005840" cy="457200"/>
          </a:xfrm>
          <a:prstGeom prst="roundRect">
            <a:avLst>
              <a:gd name="adj" fmla="val 16000"/>
            </a:avLst>
          </a:prstGeom>
          <a:solidFill>
            <a:srgbClr val="1F8A8A"/>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XRD code</a:t>
            </a:r>
            <a:endParaRPr lang="en-US" sz="1200" dirty="0"/>
          </a:p>
        </p:txBody>
      </p:sp>
      <p:sp>
        <p:nvSpPr>
          <p:cNvPr id="28" name="Box"/>
          <p:cNvSpPr txBox="1"/>
          <p:nvPr/>
        </p:nvSpPr>
        <p:spPr>
          <a:xfrm>
            <a:off x="7498080" y="2651760"/>
            <a:ext cx="1005840" cy="457200"/>
          </a:xfrm>
          <a:prstGeom prst="roundRect">
            <a:avLst>
              <a:gd name="adj" fmla="val 16000"/>
            </a:avLst>
          </a:prstGeom>
          <a:solidFill>
            <a:srgbClr val="1F8A8A"/>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Well logs</a:t>
            </a:r>
            <a:endParaRPr lang="en-US" sz="1200" dirty="0"/>
          </a:p>
        </p:txBody>
      </p:sp>
      <p:sp>
        <p:nvSpPr>
          <p:cNvPr id="29" name="Box"/>
          <p:cNvSpPr txBox="1"/>
          <p:nvPr/>
        </p:nvSpPr>
        <p:spPr>
          <a:xfrm>
            <a:off x="7498080" y="3337560"/>
            <a:ext cx="1005840" cy="457200"/>
          </a:xfrm>
          <a:prstGeom prst="roundRect">
            <a:avLst>
              <a:gd name="adj" fmla="val 16000"/>
            </a:avLst>
          </a:prstGeom>
          <a:solidFill>
            <a:srgbClr val="1F8A8A"/>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Lab DB</a:t>
            </a:r>
            <a:endParaRPr lang="en-US" sz="1200" dirty="0"/>
          </a:p>
        </p:txBody>
      </p:sp>
      <p:sp>
        <p:nvSpPr>
          <p:cNvPr id="30" name="Shape 28"/>
          <p:cNvSpPr/>
          <p:nvPr/>
        </p:nvSpPr>
        <p:spPr>
          <a:xfrm>
            <a:off x="5897880" y="2194560"/>
            <a:ext cx="457200" cy="297180"/>
          </a:xfrm>
          <a:prstGeom prst="line">
            <a:avLst/>
          </a:prstGeom>
          <a:noFill/>
          <a:ln w="25400">
            <a:solidFill>
              <a:schemeClr val="accent6"/>
            </a:solidFill>
            <a:prstDash val="solid"/>
            <a:tailEnd type="triangle"/>
          </a:ln>
        </p:spPr>
      </p:sp>
      <p:sp>
        <p:nvSpPr>
          <p:cNvPr id="31" name="Shape 29"/>
          <p:cNvSpPr/>
          <p:nvPr/>
        </p:nvSpPr>
        <p:spPr>
          <a:xfrm>
            <a:off x="5897880" y="2880360"/>
            <a:ext cx="457200" cy="-45720"/>
          </a:xfrm>
          <a:prstGeom prst="line">
            <a:avLst/>
          </a:prstGeom>
          <a:noFill/>
          <a:ln w="25400">
            <a:solidFill>
              <a:schemeClr val="accent6"/>
            </a:solidFill>
            <a:prstDash val="solid"/>
            <a:tailEnd type="triangle"/>
          </a:ln>
        </p:spPr>
      </p:sp>
      <p:sp>
        <p:nvSpPr>
          <p:cNvPr id="32" name="Shape 30"/>
          <p:cNvSpPr/>
          <p:nvPr/>
        </p:nvSpPr>
        <p:spPr>
          <a:xfrm>
            <a:off x="5897880" y="3566160"/>
            <a:ext cx="457200" cy="-388620"/>
          </a:xfrm>
          <a:prstGeom prst="line">
            <a:avLst/>
          </a:prstGeom>
          <a:noFill/>
          <a:ln w="25400">
            <a:solidFill>
              <a:schemeClr val="accent6"/>
            </a:solidFill>
            <a:prstDash val="solid"/>
            <a:tailEnd type="triangle"/>
          </a:ln>
        </p:spPr>
      </p:sp>
      <p:sp>
        <p:nvSpPr>
          <p:cNvPr id="33" name="Text 31"/>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500" i="1" dirty="0">
                <a:solidFill>
                  <a:schemeClr val="accent3"/>
                </a:solidFill>
                <a:latin typeface="Cambria" pitchFamily="34" charset="0"/>
                <a:ea typeface="Cambria" pitchFamily="34" charset="-122"/>
                <a:cs typeface="Cambria" pitchFamily="34" charset="-120"/>
              </a:rPr>
              <a:t>N applications x M tools means N x M adapters. With MCP it is N + M.</a:t>
            </a:r>
            <a:endParaRPr lang="en-US" sz="15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3 · MCP ARCHITECTURE · 5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MCP architecture</a:t>
            </a:r>
            <a:endParaRPr lang="en-US" sz="3000" dirty="0"/>
          </a:p>
        </p:txBody>
      </p:sp>
      <p:sp>
        <p:nvSpPr>
          <p:cNvPr id="4" name="Box"/>
          <p:cNvSpPr txBox="1"/>
          <p:nvPr/>
        </p:nvSpPr>
        <p:spPr>
          <a:xfrm>
            <a:off x="457200" y="1600200"/>
            <a:ext cx="2011680" cy="1188720"/>
          </a:xfrm>
          <a:prstGeom prst="roundRect">
            <a:avLst>
              <a:gd name="adj" fmla="val 6154"/>
            </a:avLst>
          </a:prstGeom>
          <a:solidFill>
            <a:srgbClr val="2F4858"/>
          </a:solidFill>
          <a:ln/>
        </p:spPr>
        <p:txBody>
          <a:bodyPr wrap="square" lIns="50800" tIns="50800" rIns="50800" bIns="5080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HOST</a:t>
            </a:r>
            <a:endParaRPr lang="en-US" sz="1400" dirty="0"/>
          </a:p>
          <a:p>
            <a:pPr algn="ctr" indent="0" marL="0">
              <a:buNone/>
            </a:pPr>
            <a:r>
              <a:rPr lang="en-US" sz="1400" b="1" dirty="0">
                <a:solidFill>
                  <a:schemeClr val="bg1"/>
                </a:solidFill>
                <a:latin typeface="Calibri" pitchFamily="34" charset="0"/>
                <a:ea typeface="Calibri" pitchFamily="34" charset="-122"/>
                <a:cs typeface="Calibri" pitchFamily="34" charset="-120"/>
              </a:rPr>
              <a:t>LLM application</a:t>
            </a:r>
            <a:endParaRPr lang="en-US" sz="1400" dirty="0"/>
          </a:p>
        </p:txBody>
      </p:sp>
      <p:sp>
        <p:nvSpPr>
          <p:cNvPr id="5" name="Box"/>
          <p:cNvSpPr txBox="1"/>
          <p:nvPr/>
        </p:nvSpPr>
        <p:spPr>
          <a:xfrm>
            <a:off x="3063240" y="1600200"/>
            <a:ext cx="1828800" cy="1188720"/>
          </a:xfrm>
          <a:prstGeom prst="roundRect">
            <a:avLst>
              <a:gd name="adj" fmla="val 6154"/>
            </a:avLst>
          </a:prstGeom>
          <a:solidFill>
            <a:srgbClr val="3D5A80"/>
          </a:solidFill>
          <a:ln/>
        </p:spPr>
        <p:txBody>
          <a:bodyPr wrap="square" lIns="50800" tIns="50800" rIns="50800" bIns="5080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MCP client</a:t>
            </a:r>
            <a:endParaRPr lang="en-US" sz="1400" dirty="0"/>
          </a:p>
          <a:p>
            <a:pPr algn="ctr" indent="0" marL="0">
              <a:buNone/>
            </a:pPr>
            <a:r>
              <a:rPr lang="en-US" sz="1400" b="1" dirty="0">
                <a:solidFill>
                  <a:schemeClr val="bg1"/>
                </a:solidFill>
                <a:latin typeface="Calibri" pitchFamily="34" charset="0"/>
                <a:ea typeface="Calibri" pitchFamily="34" charset="-122"/>
                <a:cs typeface="Calibri" pitchFamily="34" charset="-120"/>
              </a:rPr>
              <a:t>(one per server)</a:t>
            </a:r>
            <a:endParaRPr lang="en-US" sz="1400" dirty="0"/>
          </a:p>
        </p:txBody>
      </p:sp>
      <p:sp>
        <p:nvSpPr>
          <p:cNvPr id="6" name="Box"/>
          <p:cNvSpPr txBox="1"/>
          <p:nvPr/>
        </p:nvSpPr>
        <p:spPr>
          <a:xfrm>
            <a:off x="5486400" y="1600200"/>
            <a:ext cx="1645920" cy="1188720"/>
          </a:xfrm>
          <a:prstGeom prst="roundRect">
            <a:avLst>
              <a:gd name="adj" fmla="val 6154"/>
            </a:avLst>
          </a:prstGeom>
          <a:solidFill>
            <a:srgbClr val="1F8A8A"/>
          </a:solidFill>
          <a:ln/>
        </p:spPr>
        <p:txBody>
          <a:bodyPr wrap="square" lIns="50800" tIns="50800" rIns="50800" bIns="5080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MCP server</a:t>
            </a:r>
            <a:endParaRPr lang="en-US" sz="1400" dirty="0"/>
          </a:p>
          <a:p>
            <a:pPr algn="ctr" indent="0" marL="0">
              <a:buNone/>
            </a:pPr>
            <a:r>
              <a:rPr lang="en-US" sz="1400" b="1" dirty="0">
                <a:solidFill>
                  <a:schemeClr val="bg1"/>
                </a:solidFill>
                <a:latin typeface="Calibri" pitchFamily="34" charset="0"/>
                <a:ea typeface="Calibri" pitchFamily="34" charset="-122"/>
                <a:cs typeface="Calibri" pitchFamily="34" charset="-120"/>
              </a:rPr>
              <a:t>your tools</a:t>
            </a:r>
            <a:endParaRPr lang="en-US" sz="1400" dirty="0"/>
          </a:p>
        </p:txBody>
      </p:sp>
      <p:sp>
        <p:nvSpPr>
          <p:cNvPr id="7" name="Box"/>
          <p:cNvSpPr txBox="1"/>
          <p:nvPr/>
        </p:nvSpPr>
        <p:spPr>
          <a:xfrm>
            <a:off x="7498080" y="1600200"/>
            <a:ext cx="1188720" cy="1188720"/>
          </a:xfrm>
          <a:prstGeom prst="roundRect">
            <a:avLst>
              <a:gd name="adj" fmla="val 6154"/>
            </a:avLst>
          </a:prstGeom>
          <a:solidFill>
            <a:srgbClr val="E8871E"/>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Code, data,</a:t>
            </a:r>
            <a:endParaRPr lang="en-US" sz="1200" dirty="0"/>
          </a:p>
          <a:p>
            <a:pPr algn="ctr" indent="0" marL="0">
              <a:buNone/>
            </a:pPr>
            <a:r>
              <a:rPr lang="en-US" sz="1200" b="1" dirty="0">
                <a:solidFill>
                  <a:schemeClr val="bg1"/>
                </a:solidFill>
                <a:latin typeface="Calibri" pitchFamily="34" charset="0"/>
                <a:ea typeface="Calibri" pitchFamily="34" charset="-122"/>
                <a:cs typeface="Calibri" pitchFamily="34" charset="-120"/>
              </a:rPr>
              <a:t>instruments</a:t>
            </a:r>
            <a:endParaRPr lang="en-US" sz="1200" dirty="0"/>
          </a:p>
        </p:txBody>
      </p:sp>
      <p:sp>
        <p:nvSpPr>
          <p:cNvPr id="8" name="Shape 6"/>
          <p:cNvSpPr/>
          <p:nvPr/>
        </p:nvSpPr>
        <p:spPr>
          <a:xfrm>
            <a:off x="2487168" y="2194560"/>
            <a:ext cx="548640" cy="0"/>
          </a:xfrm>
          <a:prstGeom prst="line">
            <a:avLst/>
          </a:prstGeom>
          <a:noFill/>
          <a:ln w="25400">
            <a:solidFill>
              <a:schemeClr val="accent6"/>
            </a:solidFill>
            <a:prstDash val="solid"/>
            <a:tailEnd type="triangle"/>
          </a:ln>
        </p:spPr>
      </p:sp>
      <p:sp>
        <p:nvSpPr>
          <p:cNvPr id="9" name="Shape 7"/>
          <p:cNvSpPr/>
          <p:nvPr/>
        </p:nvSpPr>
        <p:spPr>
          <a:xfrm>
            <a:off x="4910328" y="2194560"/>
            <a:ext cx="548640" cy="0"/>
          </a:xfrm>
          <a:prstGeom prst="line">
            <a:avLst/>
          </a:prstGeom>
          <a:noFill/>
          <a:ln w="25400">
            <a:solidFill>
              <a:schemeClr val="accent6"/>
            </a:solidFill>
            <a:prstDash val="solid"/>
            <a:tailEnd type="triangle"/>
          </a:ln>
        </p:spPr>
      </p:sp>
      <p:sp>
        <p:nvSpPr>
          <p:cNvPr id="10" name="Shape 8"/>
          <p:cNvSpPr/>
          <p:nvPr/>
        </p:nvSpPr>
        <p:spPr>
          <a:xfrm>
            <a:off x="7150608" y="2194560"/>
            <a:ext cx="320040" cy="0"/>
          </a:xfrm>
          <a:prstGeom prst="line">
            <a:avLst/>
          </a:prstGeom>
          <a:noFill/>
          <a:ln w="25400">
            <a:solidFill>
              <a:schemeClr val="accent6"/>
            </a:solidFill>
            <a:prstDash val="solid"/>
            <a:tailEnd type="triangle"/>
          </a:ln>
        </p:spPr>
      </p:sp>
      <p:sp>
        <p:nvSpPr>
          <p:cNvPr id="11" name="Text 9"/>
          <p:cNvSpPr txBox="1"/>
          <p:nvPr/>
        </p:nvSpPr>
        <p:spPr>
          <a:xfrm>
            <a:off x="2926080" y="2880360"/>
            <a:ext cx="2194560" cy="274320"/>
          </a:xfrm>
          <a:prstGeom prst="rect">
            <a:avLst/>
          </a:prstGeom>
          <a:noFill/>
          <a:ln/>
        </p:spPr>
        <p:txBody>
          <a:bodyPr wrap="square" lIns="0" tIns="0" rIns="0" bIns="0" rtlCol="0" anchor="ctr"/>
          <a:lstStyle/>
          <a:p>
            <a:pPr algn="ctr" indent="0" marL="0">
              <a:buNone/>
            </a:pPr>
            <a:r>
              <a:rPr lang="en-US" sz="1200" b="1" dirty="0">
                <a:solidFill>
                  <a:schemeClr val="accent3"/>
                </a:solidFill>
                <a:latin typeface="Calibri" pitchFamily="34" charset="0"/>
                <a:ea typeface="Calibri" pitchFamily="34" charset="-122"/>
                <a:cs typeface="Calibri" pitchFamily="34" charset="-120"/>
              </a:rPr>
              <a:t>JSON-RPC 2.0</a:t>
            </a:r>
            <a:endParaRPr lang="en-US" sz="1200" dirty="0"/>
          </a:p>
        </p:txBody>
      </p:sp>
      <p:sp>
        <p:nvSpPr>
          <p:cNvPr id="12" name="Card"/>
          <p:cNvSpPr/>
          <p:nvPr/>
        </p:nvSpPr>
        <p:spPr>
          <a:xfrm>
            <a:off x="457200" y="3337560"/>
            <a:ext cx="402336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40080" y="3383280"/>
            <a:ext cx="3657600" cy="1005840"/>
          </a:xfrm>
          <a:prstGeom prst="rect">
            <a:avLst/>
          </a:prstGeom>
          <a:noFill/>
          <a:ln/>
        </p:spPr>
        <p:txBody>
          <a:bodyPr wrap="square" lIns="0" tIns="0" rIns="0" bIns="0" rtlCol="0" anchor="ctr"/>
          <a:lstStyle/>
          <a:p>
            <a:pPr indent="0" marL="0">
              <a:buNone/>
            </a:pPr>
            <a:r>
              <a:rPr lang="en-US" sz="1300" b="1" dirty="0">
                <a:solidFill>
                  <a:srgbClr val="1F8A8A"/>
                </a:solidFill>
                <a:latin typeface="Calibri" pitchFamily="34" charset="0"/>
                <a:ea typeface="Calibri" pitchFamily="34" charset="-122"/>
                <a:cs typeface="Calibri" pitchFamily="34" charset="-120"/>
              </a:rPr>
              <a:t>stdio transport</a:t>
            </a:r>
            <a:endParaRPr lang="en-US" sz="1300" dirty="0"/>
          </a:p>
          <a:p>
            <a:pPr indent="0" marL="0">
              <a:buNone/>
            </a:pPr>
            <a:r>
              <a:rPr lang="en-US" sz="1300" dirty="0">
                <a:solidFill>
                  <a:srgbClr val="17252E"/>
                </a:solidFill>
                <a:latin typeface="Calibri" pitchFamily="34" charset="0"/>
                <a:ea typeface="Calibri" pitchFamily="34" charset="-122"/>
                <a:cs typeface="Calibri" pitchFamily="34" charset="-120"/>
              </a:rPr>
              <a:t>Host starts the server as a subprocess. Local, simple, no ports. Used in this tutorial.</a:t>
            </a:r>
            <a:endParaRPr lang="en-US" sz="1300" dirty="0"/>
          </a:p>
        </p:txBody>
      </p:sp>
      <p:sp>
        <p:nvSpPr>
          <p:cNvPr id="14" name="Card"/>
          <p:cNvSpPr/>
          <p:nvPr/>
        </p:nvSpPr>
        <p:spPr>
          <a:xfrm>
            <a:off x="4663440" y="3337560"/>
            <a:ext cx="4023360" cy="1097280"/>
          </a:xfrm>
          <a:prstGeom prst="roundRect">
            <a:avLst>
              <a:gd name="adj" fmla="val 66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4846320" y="3383280"/>
            <a:ext cx="3657600" cy="1005840"/>
          </a:xfrm>
          <a:prstGeom prst="rect">
            <a:avLst/>
          </a:prstGeom>
          <a:noFill/>
          <a:ln/>
        </p:spPr>
        <p:txBody>
          <a:bodyPr wrap="square" lIns="0" tIns="0" rIns="0" bIns="0" rtlCol="0" anchor="ctr"/>
          <a:lstStyle/>
          <a:p>
            <a:pPr indent="0" marL="0">
              <a:buNone/>
            </a:pPr>
            <a:r>
              <a:rPr lang="en-US" sz="1300" b="1" dirty="0">
                <a:solidFill>
                  <a:srgbClr val="3D5A80"/>
                </a:solidFill>
                <a:latin typeface="Calibri" pitchFamily="34" charset="0"/>
                <a:ea typeface="Calibri" pitchFamily="34" charset="-122"/>
                <a:cs typeface="Calibri" pitchFamily="34" charset="-120"/>
              </a:rPr>
              <a:t>Streamable HTTP transport</a:t>
            </a:r>
            <a:endParaRPr lang="en-US" sz="1300" dirty="0"/>
          </a:p>
          <a:p>
            <a:pPr indent="0" marL="0">
              <a:buNone/>
            </a:pPr>
            <a:r>
              <a:rPr lang="en-US" sz="1300" dirty="0">
                <a:solidFill>
                  <a:srgbClr val="17252E"/>
                </a:solidFill>
                <a:latin typeface="Calibri" pitchFamily="34" charset="0"/>
                <a:ea typeface="Calibri" pitchFamily="34" charset="-122"/>
                <a:cs typeface="Calibri" pitchFamily="34" charset="-120"/>
              </a:rPr>
              <a:t>Server runs remotely or shared. Add authentication for real deployments.</a:t>
            </a:r>
            <a:endParaRPr lang="en-US" sz="13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3 · MCP ARCHITECTURE · 5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Three primitives, three owners</a:t>
            </a:r>
            <a:endParaRPr lang="en-US" sz="3000" dirty="0"/>
          </a:p>
        </p:txBody>
      </p:sp>
      <p:sp>
        <p:nvSpPr>
          <p:cNvPr id="4" name="Card"/>
          <p:cNvSpPr/>
          <p:nvPr/>
        </p:nvSpPr>
        <p:spPr>
          <a:xfrm>
            <a:off x="457200" y="1463040"/>
            <a:ext cx="2651760" cy="3017520"/>
          </a:xfrm>
          <a:prstGeom prst="roundRect">
            <a:avLst>
              <a:gd name="adj" fmla="val 275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Icon circle"/>
          <p:cNvSpPr/>
          <p:nvPr/>
        </p:nvSpPr>
        <p:spPr>
          <a:xfrm>
            <a:off x="640080" y="1645920"/>
            <a:ext cx="548640" cy="548640"/>
          </a:xfrm>
          <a:prstGeom prst="ellipse">
            <a:avLst/>
          </a:prstGeom>
          <a:solidFill>
            <a:srgbClr val="E8871E"/>
          </a:solidFill>
          <a:ln w="12700">
            <a:solidFill>
              <a:srgbClr val="E8871E"/>
            </a:solidFill>
            <a:prstDash val="solid"/>
          </a:ln>
        </p:spPr>
      </p:sp>
      <p:pic>
        <p:nvPicPr>
          <p:cNvPr id="6" name="Image 0" descr="FaCogs">    </p:cNvPr>
          <p:cNvPicPr>
            <a:picLocks noChangeAspect="1"/>
          </p:cNvPicPr>
          <p:nvPr/>
        </p:nvPicPr>
        <p:blipFill>
          <a:blip r:embed="rId1"/>
          <a:stretch>
            <a:fillRect/>
          </a:stretch>
        </p:blipFill>
        <p:spPr>
          <a:xfrm>
            <a:off x="777240" y="1783080"/>
            <a:ext cx="274320" cy="274320"/>
          </a:xfrm>
          <a:prstGeom prst="rect">
            <a:avLst/>
          </a:prstGeom>
        </p:spPr>
      </p:pic>
      <p:sp>
        <p:nvSpPr>
          <p:cNvPr id="7" name="Text 4"/>
          <p:cNvSpPr txBox="1"/>
          <p:nvPr/>
        </p:nvSpPr>
        <p:spPr>
          <a:xfrm>
            <a:off x="1280160" y="1645920"/>
            <a:ext cx="1737360" cy="54864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Tools</a:t>
            </a:r>
            <a:endParaRPr lang="en-US" sz="2000" dirty="0"/>
          </a:p>
        </p:txBody>
      </p:sp>
      <p:sp>
        <p:nvSpPr>
          <p:cNvPr id="8" name="Text 5"/>
          <p:cNvSpPr txBox="1"/>
          <p:nvPr/>
        </p:nvSpPr>
        <p:spPr>
          <a:xfrm>
            <a:off x="640080" y="2331720"/>
            <a:ext cx="2286000" cy="274320"/>
          </a:xfrm>
          <a:prstGeom prst="rect">
            <a:avLst/>
          </a:prstGeom>
          <a:noFill/>
          <a:ln/>
        </p:spPr>
        <p:txBody>
          <a:bodyPr wrap="square" lIns="0" tIns="0" rIns="0" bIns="0" rtlCol="0" anchor="ctr"/>
          <a:lstStyle/>
          <a:p>
            <a:pPr indent="0" marL="0">
              <a:buNone/>
            </a:pPr>
            <a:r>
              <a:rPr lang="en-US" sz="1200" b="1" dirty="0">
                <a:solidFill>
                  <a:srgbClr val="E8871E"/>
                </a:solidFill>
                <a:latin typeface="Calibri" pitchFamily="34" charset="0"/>
                <a:ea typeface="Calibri" pitchFamily="34" charset="-122"/>
                <a:cs typeface="Calibri" pitchFamily="34" charset="-120"/>
              </a:rPr>
              <a:t>Model-controlled</a:t>
            </a:r>
            <a:endParaRPr lang="en-US" sz="1200" dirty="0"/>
          </a:p>
        </p:txBody>
      </p:sp>
      <p:sp>
        <p:nvSpPr>
          <p:cNvPr id="9" name="Text 6"/>
          <p:cNvSpPr txBox="1"/>
          <p:nvPr/>
        </p:nvSpPr>
        <p:spPr>
          <a:xfrm>
            <a:off x="640080" y="2651760"/>
            <a:ext cx="228600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Functions the model may call.</a:t>
            </a:r>
            <a:endParaRPr lang="en-US" sz="1400" dirty="0"/>
          </a:p>
        </p:txBody>
      </p:sp>
      <p:sp>
        <p:nvSpPr>
          <p:cNvPr id="10" name="Code panel"/>
          <p:cNvSpPr/>
          <p:nvPr/>
        </p:nvSpPr>
        <p:spPr>
          <a:xfrm>
            <a:off x="640080" y="3429000"/>
            <a:ext cx="2286000" cy="822960"/>
          </a:xfrm>
          <a:prstGeom prst="roundRect">
            <a:avLst>
              <a:gd name="adj" fmla="val 6667"/>
            </a:avLst>
          </a:prstGeom>
          <a:solidFill>
            <a:srgbClr val="17252E"/>
          </a:solidFill>
          <a:ln w="12700">
            <a:solidFill>
              <a:srgbClr val="17252E"/>
            </a:solidFill>
            <a:prstDash val="solid"/>
          </a:ln>
        </p:spPr>
      </p:sp>
      <p:sp>
        <p:nvSpPr>
          <p:cNvPr id="11" name="Code"/>
          <p:cNvSpPr txBox="1"/>
          <p:nvPr/>
        </p:nvSpPr>
        <p:spPr>
          <a:xfrm>
            <a:off x="777240" y="3520440"/>
            <a:ext cx="2011680" cy="640080"/>
          </a:xfrm>
          <a:prstGeom prst="rect">
            <a:avLst/>
          </a:prstGeom>
          <a:noFill/>
          <a:ln/>
        </p:spPr>
        <p:txBody>
          <a:bodyPr wrap="square" lIns="0" tIns="0" rIns="0" bIns="0" rtlCol="0" anchor="t"/>
          <a:lstStyle/>
          <a:p>
            <a:pPr indent="0" marL="0">
              <a:buNone/>
            </a:pPr>
            <a:r>
              <a:rPr lang="en-US" sz="1100" dirty="0">
                <a:solidFill>
                  <a:srgbClr val="E6EDF1"/>
                </a:solidFill>
                <a:latin typeface="Courier New" pitchFamily="34" charset="0"/>
                <a:ea typeface="Courier New" pitchFamily="34" charset="-122"/>
                <a:cs typeface="Courier New" pitchFamily="34" charset="-120"/>
              </a:rPr>
              <a:t>gardner_density(vp)</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scherrer_size(fwhm, 2θ)</a:t>
            </a:r>
            <a:endParaRPr lang="en-US" sz="1100" dirty="0"/>
          </a:p>
        </p:txBody>
      </p:sp>
      <p:sp>
        <p:nvSpPr>
          <p:cNvPr id="12" name="Card"/>
          <p:cNvSpPr/>
          <p:nvPr/>
        </p:nvSpPr>
        <p:spPr>
          <a:xfrm>
            <a:off x="3264408" y="1463040"/>
            <a:ext cx="2651760" cy="3017520"/>
          </a:xfrm>
          <a:prstGeom prst="roundRect">
            <a:avLst>
              <a:gd name="adj" fmla="val 275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Icon circle"/>
          <p:cNvSpPr/>
          <p:nvPr/>
        </p:nvSpPr>
        <p:spPr>
          <a:xfrm>
            <a:off x="3447288" y="1645920"/>
            <a:ext cx="548640" cy="548640"/>
          </a:xfrm>
          <a:prstGeom prst="ellipse">
            <a:avLst/>
          </a:prstGeom>
          <a:solidFill>
            <a:srgbClr val="1F8A8A"/>
          </a:solidFill>
          <a:ln w="12700">
            <a:solidFill>
              <a:srgbClr val="1F8A8A"/>
            </a:solidFill>
            <a:prstDash val="solid"/>
          </a:ln>
        </p:spPr>
      </p:sp>
      <p:pic>
        <p:nvPicPr>
          <p:cNvPr id="14" name="Image 1" descr="FaBook">    </p:cNvPr>
          <p:cNvPicPr>
            <a:picLocks noChangeAspect="1"/>
          </p:cNvPicPr>
          <p:nvPr/>
        </p:nvPicPr>
        <p:blipFill>
          <a:blip r:embed="rId2"/>
          <a:stretch>
            <a:fillRect/>
          </a:stretch>
        </p:blipFill>
        <p:spPr>
          <a:xfrm>
            <a:off x="3584448" y="1783080"/>
            <a:ext cx="274320" cy="274320"/>
          </a:xfrm>
          <a:prstGeom prst="rect">
            <a:avLst/>
          </a:prstGeom>
        </p:spPr>
      </p:pic>
      <p:sp>
        <p:nvSpPr>
          <p:cNvPr id="15" name="Text 11"/>
          <p:cNvSpPr txBox="1"/>
          <p:nvPr/>
        </p:nvSpPr>
        <p:spPr>
          <a:xfrm>
            <a:off x="4087368" y="1645920"/>
            <a:ext cx="1737360" cy="54864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Resources</a:t>
            </a:r>
            <a:endParaRPr lang="en-US" sz="2000" dirty="0"/>
          </a:p>
        </p:txBody>
      </p:sp>
      <p:sp>
        <p:nvSpPr>
          <p:cNvPr id="16" name="Text 12"/>
          <p:cNvSpPr txBox="1"/>
          <p:nvPr/>
        </p:nvSpPr>
        <p:spPr>
          <a:xfrm>
            <a:off x="3447288" y="2331720"/>
            <a:ext cx="2286000" cy="274320"/>
          </a:xfrm>
          <a:prstGeom prst="rect">
            <a:avLst/>
          </a:prstGeom>
          <a:noFill/>
          <a:ln/>
        </p:spPr>
        <p:txBody>
          <a:bodyPr wrap="square" lIns="0" tIns="0" rIns="0" bIns="0" rtlCol="0" anchor="ctr"/>
          <a:lstStyle/>
          <a:p>
            <a:pPr indent="0" marL="0">
              <a:buNone/>
            </a:pPr>
            <a:r>
              <a:rPr lang="en-US" sz="1200" b="1" dirty="0">
                <a:solidFill>
                  <a:srgbClr val="1F8A8A"/>
                </a:solidFill>
                <a:latin typeface="Calibri" pitchFamily="34" charset="0"/>
                <a:ea typeface="Calibri" pitchFamily="34" charset="-122"/>
                <a:cs typeface="Calibri" pitchFamily="34" charset="-120"/>
              </a:rPr>
              <a:t>Application-controlled</a:t>
            </a:r>
            <a:endParaRPr lang="en-US" sz="1200" dirty="0"/>
          </a:p>
        </p:txBody>
      </p:sp>
      <p:sp>
        <p:nvSpPr>
          <p:cNvPr id="17" name="Text 13"/>
          <p:cNvSpPr txBox="1"/>
          <p:nvPr/>
        </p:nvSpPr>
        <p:spPr>
          <a:xfrm>
            <a:off x="3447288" y="2651760"/>
            <a:ext cx="228600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Read-only data the app can load.</a:t>
            </a:r>
            <a:endParaRPr lang="en-US" sz="1400" dirty="0"/>
          </a:p>
        </p:txBody>
      </p:sp>
      <p:sp>
        <p:nvSpPr>
          <p:cNvPr id="18" name="Code panel"/>
          <p:cNvSpPr/>
          <p:nvPr/>
        </p:nvSpPr>
        <p:spPr>
          <a:xfrm>
            <a:off x="3447288" y="3429000"/>
            <a:ext cx="2286000" cy="822960"/>
          </a:xfrm>
          <a:prstGeom prst="roundRect">
            <a:avLst>
              <a:gd name="adj" fmla="val 6667"/>
            </a:avLst>
          </a:prstGeom>
          <a:solidFill>
            <a:srgbClr val="17252E"/>
          </a:solidFill>
          <a:ln w="12700">
            <a:solidFill>
              <a:srgbClr val="17252E"/>
            </a:solidFill>
            <a:prstDash val="solid"/>
          </a:ln>
        </p:spPr>
      </p:sp>
      <p:sp>
        <p:nvSpPr>
          <p:cNvPr id="19" name="Code"/>
          <p:cNvSpPr txBox="1"/>
          <p:nvPr/>
        </p:nvSpPr>
        <p:spPr>
          <a:xfrm>
            <a:off x="3584448" y="3520440"/>
            <a:ext cx="2011680" cy="640080"/>
          </a:xfrm>
          <a:prstGeom prst="rect">
            <a:avLst/>
          </a:prstGeom>
          <a:noFill/>
          <a:ln/>
        </p:spPr>
        <p:txBody>
          <a:bodyPr wrap="square" lIns="0" tIns="0" rIns="0" bIns="0" rtlCol="0" anchor="t"/>
          <a:lstStyle/>
          <a:p>
            <a:pPr indent="0" marL="0">
              <a:buNone/>
            </a:pPr>
            <a:r>
              <a:rPr lang="en-US" sz="1100" dirty="0">
                <a:solidFill>
                  <a:srgbClr val="E6EDF1"/>
                </a:solidFill>
                <a:latin typeface="Courier New" pitchFamily="34" charset="0"/>
                <a:ea typeface="Courier New" pitchFamily="34" charset="-122"/>
                <a:cs typeface="Courier New" pitchFamily="34" charset="-120"/>
              </a:rPr>
              <a:t>geo://rock-properties</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welllog://sample</a:t>
            </a:r>
            <a:endParaRPr lang="en-US" sz="1100" dirty="0"/>
          </a:p>
        </p:txBody>
      </p:sp>
      <p:sp>
        <p:nvSpPr>
          <p:cNvPr id="20" name="Card"/>
          <p:cNvSpPr/>
          <p:nvPr/>
        </p:nvSpPr>
        <p:spPr>
          <a:xfrm>
            <a:off x="6071616" y="1463040"/>
            <a:ext cx="2651760" cy="3017520"/>
          </a:xfrm>
          <a:prstGeom prst="roundRect">
            <a:avLst>
              <a:gd name="adj" fmla="val 275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Icon circle"/>
          <p:cNvSpPr/>
          <p:nvPr/>
        </p:nvSpPr>
        <p:spPr>
          <a:xfrm>
            <a:off x="6254496" y="1645920"/>
            <a:ext cx="548640" cy="548640"/>
          </a:xfrm>
          <a:prstGeom prst="ellipse">
            <a:avLst/>
          </a:prstGeom>
          <a:solidFill>
            <a:srgbClr val="3D5A80"/>
          </a:solidFill>
          <a:ln w="12700">
            <a:solidFill>
              <a:srgbClr val="3D5A80"/>
            </a:solidFill>
            <a:prstDash val="solid"/>
          </a:ln>
        </p:spPr>
      </p:sp>
      <p:pic>
        <p:nvPicPr>
          <p:cNvPr id="22" name="Image 2" descr="FaComments">    </p:cNvPr>
          <p:cNvPicPr>
            <a:picLocks noChangeAspect="1"/>
          </p:cNvPicPr>
          <p:nvPr/>
        </p:nvPicPr>
        <p:blipFill>
          <a:blip r:embed="rId3"/>
          <a:stretch>
            <a:fillRect/>
          </a:stretch>
        </p:blipFill>
        <p:spPr>
          <a:xfrm>
            <a:off x="6391656" y="1783080"/>
            <a:ext cx="274320" cy="274320"/>
          </a:xfrm>
          <a:prstGeom prst="rect">
            <a:avLst/>
          </a:prstGeom>
        </p:spPr>
      </p:pic>
      <p:sp>
        <p:nvSpPr>
          <p:cNvPr id="23" name="Text 18"/>
          <p:cNvSpPr txBox="1"/>
          <p:nvPr/>
        </p:nvSpPr>
        <p:spPr>
          <a:xfrm>
            <a:off x="6894576" y="1645920"/>
            <a:ext cx="1737360" cy="54864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Prompts</a:t>
            </a:r>
            <a:endParaRPr lang="en-US" sz="2000" dirty="0"/>
          </a:p>
        </p:txBody>
      </p:sp>
      <p:sp>
        <p:nvSpPr>
          <p:cNvPr id="24" name="Text 19"/>
          <p:cNvSpPr txBox="1"/>
          <p:nvPr/>
        </p:nvSpPr>
        <p:spPr>
          <a:xfrm>
            <a:off x="6254496" y="2331720"/>
            <a:ext cx="2286000" cy="274320"/>
          </a:xfrm>
          <a:prstGeom prst="rect">
            <a:avLst/>
          </a:prstGeom>
          <a:noFill/>
          <a:ln/>
        </p:spPr>
        <p:txBody>
          <a:bodyPr wrap="square" lIns="0" tIns="0" rIns="0" bIns="0" rtlCol="0" anchor="ctr"/>
          <a:lstStyle/>
          <a:p>
            <a:pPr indent="0" marL="0">
              <a:buNone/>
            </a:pPr>
            <a:r>
              <a:rPr lang="en-US" sz="1200" b="1" dirty="0">
                <a:solidFill>
                  <a:srgbClr val="3D5A80"/>
                </a:solidFill>
                <a:latin typeface="Calibri" pitchFamily="34" charset="0"/>
                <a:ea typeface="Calibri" pitchFamily="34" charset="-122"/>
                <a:cs typeface="Calibri" pitchFamily="34" charset="-120"/>
              </a:rPr>
              <a:t>User-controlled</a:t>
            </a:r>
            <a:endParaRPr lang="en-US" sz="1200" dirty="0"/>
          </a:p>
        </p:txBody>
      </p:sp>
      <p:sp>
        <p:nvSpPr>
          <p:cNvPr id="25" name="Text 20"/>
          <p:cNvSpPr txBox="1"/>
          <p:nvPr/>
        </p:nvSpPr>
        <p:spPr>
          <a:xfrm>
            <a:off x="6254496" y="2651760"/>
            <a:ext cx="228600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Reusable templates the user picks.</a:t>
            </a:r>
            <a:endParaRPr lang="en-US" sz="1400" dirty="0"/>
          </a:p>
        </p:txBody>
      </p:sp>
      <p:sp>
        <p:nvSpPr>
          <p:cNvPr id="26" name="Code panel"/>
          <p:cNvSpPr/>
          <p:nvPr/>
        </p:nvSpPr>
        <p:spPr>
          <a:xfrm>
            <a:off x="6254496" y="3429000"/>
            <a:ext cx="2286000" cy="822960"/>
          </a:xfrm>
          <a:prstGeom prst="roundRect">
            <a:avLst>
              <a:gd name="adj" fmla="val 6667"/>
            </a:avLst>
          </a:prstGeom>
          <a:solidFill>
            <a:srgbClr val="17252E"/>
          </a:solidFill>
          <a:ln w="12700">
            <a:solidFill>
              <a:srgbClr val="17252E"/>
            </a:solidFill>
            <a:prstDash val="solid"/>
          </a:ln>
        </p:spPr>
      </p:sp>
      <p:sp>
        <p:nvSpPr>
          <p:cNvPr id="27" name="Code"/>
          <p:cNvSpPr txBox="1"/>
          <p:nvPr/>
        </p:nvSpPr>
        <p:spPr>
          <a:xfrm>
            <a:off x="6391656" y="3520440"/>
            <a:ext cx="2011680" cy="640080"/>
          </a:xfrm>
          <a:prstGeom prst="rect">
            <a:avLst/>
          </a:prstGeom>
          <a:noFill/>
          <a:ln/>
        </p:spPr>
        <p:txBody>
          <a:bodyPr wrap="square" lIns="0" tIns="0" rIns="0" bIns="0" rtlCol="0" anchor="t"/>
          <a:lstStyle/>
          <a:p>
            <a:pPr indent="0" marL="0">
              <a:buNone/>
            </a:pPr>
            <a:r>
              <a:rPr lang="en-US" sz="1100" dirty="0">
                <a:solidFill>
                  <a:srgbClr val="E6EDF1"/>
                </a:solidFill>
                <a:latin typeface="Courier New" pitchFamily="34" charset="0"/>
                <a:ea typeface="Courier New" pitchFamily="34" charset="-122"/>
                <a:cs typeface="Courier New" pitchFamily="34" charset="-120"/>
              </a:rPr>
              <a:t>interpret_reflector</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(upper, lower)</a:t>
            </a:r>
            <a:endParaRPr lang="en-US" sz="11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3 · MCP ARCHITECTURE · 5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MCP Python SDK v2 at a glance</a:t>
            </a:r>
            <a:endParaRPr lang="en-US" sz="3000" dirty="0"/>
          </a:p>
        </p:txBody>
      </p:sp>
      <p:graphicFrame>
        <p:nvGraphicFramePr>
          <p:cNvPr id="14" name="v1 v2 table"/>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920240"/>
                <a:gridCol w="2926080"/>
                <a:gridCol w="3383280"/>
              </a:tblGrid>
              <a:tr h="384048">
                <a:tc>
                  <a:txBody>
                    <a:bodyPr/>
                    <a:lstStyle/>
                    <a:p>
                      <a:pPr indent="0" marL="0">
                        <a:buNone/>
                      </a:pP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2F485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v1</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2F485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v2 (used here)</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2F4858"/>
                    </a:solidFill>
                  </a:tcPr>
                </a:tc>
              </a:tr>
              <a:tr h="384048">
                <a:tc>
                  <a:txBody>
                    <a:bodyPr/>
                    <a:lstStyle/>
                    <a:p>
                      <a:pPr indent="0" marL="0">
                        <a:buNone/>
                      </a:pPr>
                      <a:r>
                        <a:rPr lang="en-US" sz="1300" b="1" dirty="0">
                          <a:solidFill>
                            <a:srgbClr val="17252E"/>
                          </a:solidFill>
                          <a:latin typeface="Calibri" pitchFamily="34" charset="0"/>
                          <a:ea typeface="Calibri" pitchFamily="34" charset="-122"/>
                          <a:cs typeface="Calibri" pitchFamily="34" charset="-120"/>
                        </a:rPr>
                        <a:t>Server class</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EEF2F4"/>
                    </a:solidFill>
                  </a:tcPr>
                </a:tc>
                <a:tc>
                  <a:txBody>
                    <a:bodyPr/>
                    <a:lstStyle/>
                    <a:p>
                      <a:pPr indent="0" marL="0">
                        <a:buNone/>
                      </a:pPr>
                      <a:r>
                        <a:rPr lang="en-US" sz="1150" dirty="0">
                          <a:solidFill>
                            <a:srgbClr val="17252E"/>
                          </a:solidFill>
                          <a:latin typeface="Courier New" pitchFamily="34" charset="0"/>
                          <a:ea typeface="Courier New" pitchFamily="34" charset="-122"/>
                          <a:cs typeface="Courier New" pitchFamily="34" charset="-120"/>
                        </a:rPr>
                        <a:t>FastMCP</a:t>
                      </a:r>
                      <a:endParaRPr lang="en-US" sz="1150" dirty="0">
                        <a:latin typeface="Courier New" charset="0"/>
                        <a:ea typeface="Courier New" charset="0"/>
                        <a:cs typeface="Courier New"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EEF2F4"/>
                    </a:solidFill>
                  </a:tcPr>
                </a:tc>
                <a:tc>
                  <a:txBody>
                    <a:bodyPr/>
                    <a:lstStyle/>
                    <a:p>
                      <a:pPr indent="0" marL="0">
                        <a:buNone/>
                      </a:pPr>
                      <a:r>
                        <a:rPr lang="en-US" sz="1150" dirty="0">
                          <a:solidFill>
                            <a:srgbClr val="17252E"/>
                          </a:solidFill>
                          <a:latin typeface="Courier New" pitchFamily="34" charset="0"/>
                          <a:ea typeface="Courier New" pitchFamily="34" charset="-122"/>
                          <a:cs typeface="Courier New" pitchFamily="34" charset="-120"/>
                        </a:rPr>
                        <a:t>MCPServer</a:t>
                      </a:r>
                      <a:endParaRPr lang="en-US" sz="1150" dirty="0">
                        <a:latin typeface="Courier New" charset="0"/>
                        <a:ea typeface="Courier New" charset="0"/>
                        <a:cs typeface="Courier New"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EEF2F4"/>
                    </a:solidFill>
                  </a:tcPr>
                </a:tc>
              </a:tr>
              <a:tr h="384048">
                <a:tc>
                  <a:txBody>
                    <a:bodyPr/>
                    <a:lstStyle/>
                    <a:p>
                      <a:pPr indent="0" marL="0">
                        <a:buNone/>
                      </a:pPr>
                      <a:r>
                        <a:rPr lang="en-US" sz="1300" b="1" dirty="0">
                          <a:solidFill>
                            <a:srgbClr val="17252E"/>
                          </a:solidFill>
                          <a:latin typeface="Calibri" pitchFamily="34" charset="0"/>
                          <a:ea typeface="Calibri" pitchFamily="34" charset="-122"/>
                          <a:cs typeface="Calibri" pitchFamily="34" charset="-120"/>
                        </a:rPr>
                        <a:t>Import</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FFFFFF"/>
                    </a:solidFill>
                  </a:tcPr>
                </a:tc>
                <a:tc>
                  <a:txBody>
                    <a:bodyPr/>
                    <a:lstStyle/>
                    <a:p>
                      <a:pPr indent="0" marL="0">
                        <a:buNone/>
                      </a:pPr>
                      <a:r>
                        <a:rPr lang="en-US" sz="1150" dirty="0">
                          <a:solidFill>
                            <a:srgbClr val="17252E"/>
                          </a:solidFill>
                          <a:latin typeface="Courier New" pitchFamily="34" charset="0"/>
                          <a:ea typeface="Courier New" pitchFamily="34" charset="-122"/>
                          <a:cs typeface="Courier New" pitchFamily="34" charset="-120"/>
                        </a:rPr>
                        <a:t>mcp.server.fastmcp</a:t>
                      </a:r>
                      <a:endParaRPr lang="en-US" sz="1150" dirty="0">
                        <a:latin typeface="Courier New" charset="0"/>
                        <a:ea typeface="Courier New" charset="0"/>
                        <a:cs typeface="Courier New"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FFFFFF"/>
                    </a:solidFill>
                  </a:tcPr>
                </a:tc>
                <a:tc>
                  <a:txBody>
                    <a:bodyPr/>
                    <a:lstStyle/>
                    <a:p>
                      <a:pPr indent="0" marL="0">
                        <a:buNone/>
                      </a:pPr>
                      <a:r>
                        <a:rPr lang="en-US" sz="1150" dirty="0">
                          <a:solidFill>
                            <a:srgbClr val="17252E"/>
                          </a:solidFill>
                          <a:latin typeface="Courier New" pitchFamily="34" charset="0"/>
                          <a:ea typeface="Courier New" pitchFamily="34" charset="-122"/>
                          <a:cs typeface="Courier New" pitchFamily="34" charset="-120"/>
                        </a:rPr>
                        <a:t>mcp.server.mcpserver</a:t>
                      </a:r>
                      <a:endParaRPr lang="en-US" sz="1150" dirty="0">
                        <a:latin typeface="Courier New" charset="0"/>
                        <a:ea typeface="Courier New" charset="0"/>
                        <a:cs typeface="Courier New"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7252E"/>
                          </a:solidFill>
                          <a:latin typeface="Calibri" pitchFamily="34" charset="0"/>
                          <a:ea typeface="Calibri" pitchFamily="34" charset="-122"/>
                          <a:cs typeface="Calibri" pitchFamily="34" charset="-120"/>
                        </a:rPr>
                        <a:t>Client</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EEF2F4"/>
                    </a:solidFill>
                  </a:tcPr>
                </a:tc>
                <a:tc>
                  <a:txBody>
                    <a:bodyPr/>
                    <a:lstStyle/>
                    <a:p>
                      <a:pPr indent="0" marL="0">
                        <a:buNone/>
                      </a:pPr>
                      <a:r>
                        <a:rPr lang="en-US" sz="1150" dirty="0">
                          <a:solidFill>
                            <a:srgbClr val="17252E"/>
                          </a:solidFill>
                          <a:latin typeface="Courier New" pitchFamily="34" charset="0"/>
                          <a:ea typeface="Courier New" pitchFamily="34" charset="-122"/>
                          <a:cs typeface="Courier New" pitchFamily="34" charset="-120"/>
                        </a:rPr>
                        <a:t>ClientSession + stdio_client</a:t>
                      </a:r>
                      <a:endParaRPr lang="en-US" sz="1150" dirty="0">
                        <a:latin typeface="Courier New" charset="0"/>
                        <a:ea typeface="Courier New" charset="0"/>
                        <a:cs typeface="Courier New"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EEF2F4"/>
                    </a:solidFill>
                  </a:tcPr>
                </a:tc>
                <a:tc>
                  <a:txBody>
                    <a:bodyPr/>
                    <a:lstStyle/>
                    <a:p>
                      <a:pPr indent="0" marL="0">
                        <a:buNone/>
                      </a:pPr>
                      <a:r>
                        <a:rPr lang="en-US" sz="1150" dirty="0">
                          <a:solidFill>
                            <a:srgbClr val="17252E"/>
                          </a:solidFill>
                          <a:latin typeface="Courier New" pitchFamily="34" charset="0"/>
                          <a:ea typeface="Courier New" pitchFamily="34" charset="-122"/>
                          <a:cs typeface="Courier New" pitchFamily="34" charset="-120"/>
                        </a:rPr>
                        <a:t>Client(target)</a:t>
                      </a:r>
                      <a:endParaRPr lang="en-US" sz="1150" dirty="0">
                        <a:latin typeface="Courier New" charset="0"/>
                        <a:ea typeface="Courier New" charset="0"/>
                        <a:cs typeface="Courier New"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EEF2F4"/>
                    </a:solidFill>
                  </a:tcPr>
                </a:tc>
              </a:tr>
              <a:tr h="384048">
                <a:tc>
                  <a:txBody>
                    <a:bodyPr/>
                    <a:lstStyle/>
                    <a:p>
                      <a:pPr indent="0" marL="0">
                        <a:buNone/>
                      </a:pPr>
                      <a:r>
                        <a:rPr lang="en-US" sz="1300" b="1" dirty="0">
                          <a:solidFill>
                            <a:srgbClr val="17252E"/>
                          </a:solidFill>
                          <a:latin typeface="Calibri" pitchFamily="34" charset="0"/>
                          <a:ea typeface="Calibri" pitchFamily="34" charset="-122"/>
                          <a:cs typeface="Calibri" pitchFamily="34" charset="-120"/>
                        </a:rPr>
                        <a:t>Expected failure</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FFFFFF"/>
                    </a:solidFill>
                  </a:tcPr>
                </a:tc>
                <a:tc>
                  <a:txBody>
                    <a:bodyPr/>
                    <a:lstStyle/>
                    <a:p>
                      <a:pPr indent="0" marL="0">
                        <a:buNone/>
                      </a:pPr>
                      <a:r>
                        <a:rPr lang="en-US" sz="1150" dirty="0">
                          <a:solidFill>
                            <a:srgbClr val="17252E"/>
                          </a:solidFill>
                          <a:latin typeface="Courier New" pitchFamily="34" charset="0"/>
                          <a:ea typeface="Courier New" pitchFamily="34" charset="-122"/>
                          <a:cs typeface="Courier New" pitchFamily="34" charset="-120"/>
                        </a:rPr>
                        <a:t>any exception</a:t>
                      </a:r>
                      <a:endParaRPr lang="en-US" sz="1150" dirty="0">
                        <a:latin typeface="Courier New" charset="0"/>
                        <a:ea typeface="Courier New" charset="0"/>
                        <a:cs typeface="Courier New"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FFFFFF"/>
                    </a:solidFill>
                  </a:tcPr>
                </a:tc>
                <a:tc>
                  <a:txBody>
                    <a:bodyPr/>
                    <a:lstStyle/>
                    <a:p>
                      <a:pPr indent="0" marL="0">
                        <a:buNone/>
                      </a:pPr>
                      <a:r>
                        <a:rPr lang="en-US" sz="1150" dirty="0">
                          <a:solidFill>
                            <a:srgbClr val="17252E"/>
                          </a:solidFill>
                          <a:latin typeface="Courier New" pitchFamily="34" charset="0"/>
                          <a:ea typeface="Courier New" pitchFamily="34" charset="-122"/>
                          <a:cs typeface="Courier New" pitchFamily="34" charset="-120"/>
                        </a:rPr>
                        <a:t>ToolError</a:t>
                      </a:r>
                      <a:endParaRPr lang="en-US" sz="1150" dirty="0">
                        <a:latin typeface="Courier New" charset="0"/>
                        <a:ea typeface="Courier New" charset="0"/>
                        <a:cs typeface="Courier New"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7252E"/>
                          </a:solidFill>
                          <a:latin typeface="Calibri" pitchFamily="34" charset="0"/>
                          <a:ea typeface="Calibri" pitchFamily="34" charset="-122"/>
                          <a:cs typeface="Calibri" pitchFamily="34" charset="-120"/>
                        </a:rPr>
                        <a:t>Test a server</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EEF2F4"/>
                    </a:solidFill>
                  </a:tcPr>
                </a:tc>
                <a:tc>
                  <a:txBody>
                    <a:bodyPr/>
                    <a:lstStyle/>
                    <a:p>
                      <a:pPr indent="0" marL="0">
                        <a:buNone/>
                      </a:pPr>
                      <a:r>
                        <a:rPr lang="en-US" sz="1150" dirty="0">
                          <a:solidFill>
                            <a:srgbClr val="17252E"/>
                          </a:solidFill>
                          <a:latin typeface="Courier New" pitchFamily="34" charset="0"/>
                          <a:ea typeface="Courier New" pitchFamily="34" charset="-122"/>
                          <a:cs typeface="Courier New" pitchFamily="34" charset="-120"/>
                        </a:rPr>
                        <a:t>wire up streams</a:t>
                      </a:r>
                      <a:endParaRPr lang="en-US" sz="1150" dirty="0">
                        <a:latin typeface="Courier New" charset="0"/>
                        <a:ea typeface="Courier New" charset="0"/>
                        <a:cs typeface="Courier New"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EEF2F4"/>
                    </a:solidFill>
                  </a:tcPr>
                </a:tc>
                <a:tc>
                  <a:txBody>
                    <a:bodyPr/>
                    <a:lstStyle/>
                    <a:p>
                      <a:pPr indent="0" marL="0">
                        <a:buNone/>
                      </a:pPr>
                      <a:r>
                        <a:rPr lang="en-US" sz="1150" dirty="0">
                          <a:solidFill>
                            <a:srgbClr val="17252E"/>
                          </a:solidFill>
                          <a:latin typeface="Courier New" pitchFamily="34" charset="0"/>
                          <a:ea typeface="Courier New" pitchFamily="34" charset="-122"/>
                          <a:cs typeface="Courier New" pitchFamily="34" charset="-120"/>
                        </a:rPr>
                        <a:t>Client(server) in-process</a:t>
                      </a:r>
                      <a:endParaRPr lang="en-US" sz="1150" dirty="0">
                        <a:latin typeface="Courier New" charset="0"/>
                        <a:ea typeface="Courier New" charset="0"/>
                        <a:cs typeface="Courier New"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EEF2F4"/>
                    </a:solidFill>
                  </a:tcPr>
                </a:tc>
              </a:tr>
            </a:tbl>
          </a:graphicData>
        </a:graphic>
      </p:graphicFrame>
      <p:sp>
        <p:nvSpPr>
          <p:cNvPr id="5" name="Code panel"/>
          <p:cNvSpPr/>
          <p:nvPr/>
        </p:nvSpPr>
        <p:spPr>
          <a:xfrm>
            <a:off x="457200" y="3931920"/>
            <a:ext cx="3291840" cy="502920"/>
          </a:xfrm>
          <a:prstGeom prst="roundRect">
            <a:avLst>
              <a:gd name="adj" fmla="val 10909"/>
            </a:avLst>
          </a:prstGeom>
          <a:solidFill>
            <a:srgbClr val="17252E"/>
          </a:solidFill>
          <a:ln w="12700">
            <a:solidFill>
              <a:srgbClr val="17252E"/>
            </a:solidFill>
            <a:prstDash val="solid"/>
          </a:ln>
        </p:spPr>
      </p:sp>
      <p:sp>
        <p:nvSpPr>
          <p:cNvPr id="6" name="Code"/>
          <p:cNvSpPr txBox="1"/>
          <p:nvPr/>
        </p:nvSpPr>
        <p:spPr>
          <a:xfrm>
            <a:off x="594360" y="4023360"/>
            <a:ext cx="3017520" cy="320040"/>
          </a:xfrm>
          <a:prstGeom prst="rect">
            <a:avLst/>
          </a:prstGeom>
          <a:noFill/>
          <a:ln/>
        </p:spPr>
        <p:txBody>
          <a:bodyPr wrap="square" lIns="0" tIns="0" rIns="0" bIns="0" rtlCol="0" anchor="t"/>
          <a:lstStyle/>
          <a:p>
            <a:pPr indent="0" marL="0">
              <a:buNone/>
            </a:pPr>
            <a:r>
              <a:rPr lang="en-US" sz="1200" dirty="0">
                <a:solidFill>
                  <a:srgbClr val="E6EDF1"/>
                </a:solidFill>
                <a:latin typeface="Courier New" pitchFamily="34" charset="0"/>
                <a:ea typeface="Courier New" pitchFamily="34" charset="-122"/>
                <a:cs typeface="Courier New" pitchFamily="34" charset="-120"/>
              </a:rPr>
              <a:t>uv add "mcp&gt;=2,&lt;3"</a:t>
            </a:r>
            <a:endParaRPr lang="en-US" sz="1200" dirty="0"/>
          </a:p>
        </p:txBody>
      </p:sp>
      <p:sp>
        <p:nvSpPr>
          <p:cNvPr id="7" name="Text 4"/>
          <p:cNvSpPr txBox="1"/>
          <p:nvPr/>
        </p:nvSpPr>
        <p:spPr>
          <a:xfrm>
            <a:off x="4023360" y="3931920"/>
            <a:ext cx="4663440" cy="502920"/>
          </a:xfrm>
          <a:prstGeom prst="rect">
            <a:avLst/>
          </a:prstGeom>
          <a:noFill/>
          <a:ln/>
        </p:spPr>
        <p:txBody>
          <a:bodyPr wrap="square" lIns="0" tIns="0" rIns="0" bIns="0" rtlCol="0" anchor="ctr"/>
          <a:lstStyle/>
          <a:p>
            <a:pPr indent="0" marL="0">
              <a:buNone/>
            </a:pPr>
            <a:r>
              <a:rPr lang="en-US" sz="1300" dirty="0">
                <a:solidFill>
                  <a:schemeClr val="accent3"/>
                </a:solidFill>
                <a:latin typeface="Calibri" pitchFamily="34" charset="0"/>
                <a:ea typeface="Calibri" pitchFamily="34" charset="-122"/>
                <a:cs typeface="Calibri" pitchFamily="34" charset="-120"/>
              </a:rPr>
              <a:t>Docs: py.sdk.modelcontextprotocol.io</a:t>
            </a:r>
            <a:endParaRPr lang="en-US" sz="13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4 · BUILD A SERVER · 9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Designing a scientific server</a:t>
            </a:r>
            <a:endParaRPr lang="en-US" sz="3000" dirty="0"/>
          </a:p>
        </p:txBody>
      </p:sp>
      <p:sp>
        <p:nvSpPr>
          <p:cNvPr id="4" name="Shape 2"/>
          <p:cNvSpPr/>
          <p:nvPr/>
        </p:nvSpPr>
        <p:spPr>
          <a:xfrm>
            <a:off x="457200" y="1463040"/>
            <a:ext cx="384048" cy="384048"/>
          </a:xfrm>
          <a:prstGeom prst="ellipse">
            <a:avLst/>
          </a:prstGeom>
          <a:solidFill>
            <a:srgbClr val="E8871E"/>
          </a:solidFill>
          <a:ln w="12700">
            <a:solidFill>
              <a:srgbClr val="FFFFFF"/>
            </a:solidFill>
            <a:prstDash val="solid"/>
          </a:ln>
        </p:spPr>
      </p:sp>
      <p:sp>
        <p:nvSpPr>
          <p:cNvPr id="5" name="Text 3"/>
          <p:cNvSpPr txBox="1"/>
          <p:nvPr/>
        </p:nvSpPr>
        <p:spPr>
          <a:xfrm>
            <a:off x="457200" y="1463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1005840" y="1417320"/>
            <a:ext cx="7680960" cy="512064"/>
          </a:xfrm>
          <a:prstGeom prst="rect">
            <a:avLst/>
          </a:prstGeom>
          <a:noFill/>
          <a:ln/>
        </p:spPr>
        <p:txBody>
          <a:bodyPr wrap="square" lIns="0" tIns="0" rIns="0" bIns="0" rtlCol="0" anchor="ctr"/>
          <a:lstStyle/>
          <a:p>
            <a:pPr indent="0" marL="0">
              <a:buNone/>
            </a:pPr>
            <a:r>
              <a:rPr lang="en-US" sz="1300" b="1" dirty="0">
                <a:solidFill>
                  <a:srgbClr val="17252E"/>
                </a:solidFill>
                <a:latin typeface="Calibri" pitchFamily="34" charset="0"/>
                <a:ea typeface="Calibri" pitchFamily="34" charset="-122"/>
                <a:cs typeface="Calibri" pitchFamily="34" charset="-120"/>
              </a:rPr>
              <a:t>The docstring is the prompt</a:t>
            </a:r>
            <a:endParaRPr lang="en-US" sz="1300" dirty="0"/>
          </a:p>
          <a:p>
            <a:pPr indent="0" marL="0">
              <a:buNone/>
            </a:pPr>
            <a:r>
              <a:rPr lang="en-US" sz="1300" dirty="0">
                <a:solidFill>
                  <a:srgbClr val="2F4858"/>
                </a:solidFill>
                <a:latin typeface="Calibri" pitchFamily="34" charset="0"/>
                <a:ea typeface="Calibri" pitchFamily="34" charset="-122"/>
                <a:cs typeface="Calibri" pitchFamily="34" charset="-120"/>
              </a:rPr>
              <a:t>The model reads it to decide when to call. State formula, units, return shape.</a:t>
            </a:r>
            <a:endParaRPr lang="en-US" sz="1300" dirty="0"/>
          </a:p>
        </p:txBody>
      </p:sp>
      <p:sp>
        <p:nvSpPr>
          <p:cNvPr id="7" name="Shape 5"/>
          <p:cNvSpPr/>
          <p:nvPr/>
        </p:nvSpPr>
        <p:spPr>
          <a:xfrm>
            <a:off x="457200" y="2075688"/>
            <a:ext cx="384048" cy="384048"/>
          </a:xfrm>
          <a:prstGeom prst="ellipse">
            <a:avLst/>
          </a:prstGeom>
          <a:solidFill>
            <a:srgbClr val="1F8A8A"/>
          </a:solidFill>
          <a:ln w="12700">
            <a:solidFill>
              <a:srgbClr val="FFFFFF"/>
            </a:solidFill>
            <a:prstDash val="solid"/>
          </a:ln>
        </p:spPr>
      </p:sp>
      <p:sp>
        <p:nvSpPr>
          <p:cNvPr id="8" name="Text 6"/>
          <p:cNvSpPr txBox="1"/>
          <p:nvPr/>
        </p:nvSpPr>
        <p:spPr>
          <a:xfrm>
            <a:off x="457200" y="20756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9" name="Text 7"/>
          <p:cNvSpPr txBox="1"/>
          <p:nvPr/>
        </p:nvSpPr>
        <p:spPr>
          <a:xfrm>
            <a:off x="1005840" y="2029968"/>
            <a:ext cx="7680960" cy="512064"/>
          </a:xfrm>
          <a:prstGeom prst="rect">
            <a:avLst/>
          </a:prstGeom>
          <a:noFill/>
          <a:ln/>
        </p:spPr>
        <p:txBody>
          <a:bodyPr wrap="square" lIns="0" tIns="0" rIns="0" bIns="0" rtlCol="0" anchor="ctr"/>
          <a:lstStyle/>
          <a:p>
            <a:pPr indent="0" marL="0">
              <a:buNone/>
            </a:pPr>
            <a:r>
              <a:rPr lang="en-US" sz="1300" b="1" dirty="0">
                <a:solidFill>
                  <a:srgbClr val="17252E"/>
                </a:solidFill>
                <a:latin typeface="Calibri" pitchFamily="34" charset="0"/>
                <a:ea typeface="Calibri" pitchFamily="34" charset="-122"/>
                <a:cs typeface="Calibri" pitchFamily="34" charset="-120"/>
              </a:rPr>
              <a:t>Typed arguments with units</a:t>
            </a:r>
            <a:endParaRPr lang="en-US" sz="1300" dirty="0"/>
          </a:p>
          <a:p>
            <a:pPr indent="0" marL="0">
              <a:buNone/>
            </a:pPr>
            <a:r>
              <a:rPr lang="en-US" sz="1300" dirty="0">
                <a:solidFill>
                  <a:srgbClr val="2F4858"/>
                </a:solidFill>
                <a:latin typeface="Calibri" pitchFamily="34" charset="0"/>
                <a:ea typeface="Calibri" pitchFamily="34" charset="-122"/>
                <a:cs typeface="Calibri" pitchFamily="34" charset="-120"/>
              </a:rPr>
              <a:t>Name parameters vp_m_s, rho_g_cc. Describe valid ranges with Field(description=...).</a:t>
            </a:r>
            <a:endParaRPr lang="en-US" sz="1300" dirty="0"/>
          </a:p>
        </p:txBody>
      </p:sp>
      <p:sp>
        <p:nvSpPr>
          <p:cNvPr id="10" name="Shape 8"/>
          <p:cNvSpPr/>
          <p:nvPr/>
        </p:nvSpPr>
        <p:spPr>
          <a:xfrm>
            <a:off x="457200" y="2688336"/>
            <a:ext cx="384048" cy="384048"/>
          </a:xfrm>
          <a:prstGeom prst="ellipse">
            <a:avLst/>
          </a:prstGeom>
          <a:solidFill>
            <a:srgbClr val="3D5A80"/>
          </a:solidFill>
          <a:ln w="12700">
            <a:solidFill>
              <a:srgbClr val="FFFFFF"/>
            </a:solidFill>
            <a:prstDash val="solid"/>
          </a:ln>
        </p:spPr>
      </p:sp>
      <p:sp>
        <p:nvSpPr>
          <p:cNvPr id="11" name="Text 9"/>
          <p:cNvSpPr txBox="1"/>
          <p:nvPr/>
        </p:nvSpPr>
        <p:spPr>
          <a:xfrm>
            <a:off x="457200" y="2688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12" name="Text 10"/>
          <p:cNvSpPr txBox="1"/>
          <p:nvPr/>
        </p:nvSpPr>
        <p:spPr>
          <a:xfrm>
            <a:off x="1005840" y="2642616"/>
            <a:ext cx="7680960" cy="512064"/>
          </a:xfrm>
          <a:prstGeom prst="rect">
            <a:avLst/>
          </a:prstGeom>
          <a:noFill/>
          <a:ln/>
        </p:spPr>
        <p:txBody>
          <a:bodyPr wrap="square" lIns="0" tIns="0" rIns="0" bIns="0" rtlCol="0" anchor="ctr"/>
          <a:lstStyle/>
          <a:p>
            <a:pPr indent="0" marL="0">
              <a:buNone/>
            </a:pPr>
            <a:r>
              <a:rPr lang="en-US" sz="1300" b="1" dirty="0">
                <a:solidFill>
                  <a:srgbClr val="17252E"/>
                </a:solidFill>
                <a:latin typeface="Calibri" pitchFamily="34" charset="0"/>
                <a:ea typeface="Calibri" pitchFamily="34" charset="-122"/>
                <a:cs typeface="Calibri" pitchFamily="34" charset="-120"/>
              </a:rPr>
              <a:t>Return value, units, method, inputs</a:t>
            </a:r>
            <a:endParaRPr lang="en-US" sz="1300" dirty="0"/>
          </a:p>
          <a:p>
            <a:pPr indent="0" marL="0">
              <a:buNone/>
            </a:pPr>
            <a:r>
              <a:rPr lang="en-US" sz="1300" dirty="0">
                <a:solidFill>
                  <a:srgbClr val="2F4858"/>
                </a:solidFill>
                <a:latin typeface="Calibri" pitchFamily="34" charset="0"/>
                <a:ea typeface="Calibri" pitchFamily="34" charset="-122"/>
                <a:cs typeface="Calibri" pitchFamily="34" charset="-120"/>
              </a:rPr>
              <a:t>Provenance travels with the number.</a:t>
            </a:r>
            <a:endParaRPr lang="en-US" sz="1300" dirty="0"/>
          </a:p>
        </p:txBody>
      </p:sp>
      <p:sp>
        <p:nvSpPr>
          <p:cNvPr id="13" name="Shape 11"/>
          <p:cNvSpPr/>
          <p:nvPr/>
        </p:nvSpPr>
        <p:spPr>
          <a:xfrm>
            <a:off x="457200" y="3300984"/>
            <a:ext cx="384048" cy="384048"/>
          </a:xfrm>
          <a:prstGeom prst="ellipse">
            <a:avLst/>
          </a:prstGeom>
          <a:solidFill>
            <a:srgbClr val="C8553D"/>
          </a:solidFill>
          <a:ln w="12700">
            <a:solidFill>
              <a:srgbClr val="FFFFFF"/>
            </a:solidFill>
            <a:prstDash val="solid"/>
          </a:ln>
        </p:spPr>
      </p:sp>
      <p:sp>
        <p:nvSpPr>
          <p:cNvPr id="14" name="Text 12"/>
          <p:cNvSpPr txBox="1"/>
          <p:nvPr/>
        </p:nvSpPr>
        <p:spPr>
          <a:xfrm>
            <a:off x="457200" y="330098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4</a:t>
            </a:r>
            <a:endParaRPr lang="en-US" sz="1400" dirty="0"/>
          </a:p>
        </p:txBody>
      </p:sp>
      <p:sp>
        <p:nvSpPr>
          <p:cNvPr id="15" name="Text 13"/>
          <p:cNvSpPr txBox="1"/>
          <p:nvPr/>
        </p:nvSpPr>
        <p:spPr>
          <a:xfrm>
            <a:off x="1005840" y="3255264"/>
            <a:ext cx="7680960" cy="512064"/>
          </a:xfrm>
          <a:prstGeom prst="rect">
            <a:avLst/>
          </a:prstGeom>
          <a:noFill/>
          <a:ln/>
        </p:spPr>
        <p:txBody>
          <a:bodyPr wrap="square" lIns="0" tIns="0" rIns="0" bIns="0" rtlCol="0" anchor="ctr"/>
          <a:lstStyle/>
          <a:p>
            <a:pPr indent="0" marL="0">
              <a:buNone/>
            </a:pPr>
            <a:r>
              <a:rPr lang="en-US" sz="1300" b="1" dirty="0">
                <a:solidFill>
                  <a:srgbClr val="17252E"/>
                </a:solidFill>
                <a:latin typeface="Calibri" pitchFamily="34" charset="0"/>
                <a:ea typeface="Calibri" pitchFamily="34" charset="-122"/>
                <a:cs typeface="Calibri" pitchFamily="34" charset="-120"/>
              </a:rPr>
              <a:t>Fail loudly with ToolError</a:t>
            </a:r>
            <a:endParaRPr lang="en-US" sz="1300" dirty="0"/>
          </a:p>
          <a:p>
            <a:pPr indent="0" marL="0">
              <a:buNone/>
            </a:pPr>
            <a:r>
              <a:rPr lang="en-US" sz="1300" dirty="0">
                <a:solidFill>
                  <a:srgbClr val="2F4858"/>
                </a:solidFill>
                <a:latin typeface="Calibri" pitchFamily="34" charset="0"/>
                <a:ea typeface="Calibri" pitchFamily="34" charset="-122"/>
                <a:cs typeface="Calibri" pitchFamily="34" charset="-120"/>
              </a:rPr>
              <a:t>Out-of-range input returns a readable error the model can correct.</a:t>
            </a:r>
            <a:endParaRPr lang="en-US" sz="1300" dirty="0"/>
          </a:p>
        </p:txBody>
      </p:sp>
      <p:sp>
        <p:nvSpPr>
          <p:cNvPr id="16" name="Shape 14"/>
          <p:cNvSpPr/>
          <p:nvPr/>
        </p:nvSpPr>
        <p:spPr>
          <a:xfrm>
            <a:off x="457200" y="3913632"/>
            <a:ext cx="384048" cy="384048"/>
          </a:xfrm>
          <a:prstGeom prst="ellipse">
            <a:avLst/>
          </a:prstGeom>
          <a:solidFill>
            <a:srgbClr val="2F4858"/>
          </a:solidFill>
          <a:ln w="12700">
            <a:solidFill>
              <a:srgbClr val="FFFFFF"/>
            </a:solidFill>
            <a:prstDash val="solid"/>
          </a:ln>
        </p:spPr>
      </p:sp>
      <p:sp>
        <p:nvSpPr>
          <p:cNvPr id="17" name="Text 15"/>
          <p:cNvSpPr txBox="1"/>
          <p:nvPr/>
        </p:nvSpPr>
        <p:spPr>
          <a:xfrm>
            <a:off x="457200" y="39136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5</a:t>
            </a:r>
            <a:endParaRPr lang="en-US" sz="1400" dirty="0"/>
          </a:p>
        </p:txBody>
      </p:sp>
      <p:sp>
        <p:nvSpPr>
          <p:cNvPr id="18" name="Text 16"/>
          <p:cNvSpPr txBox="1"/>
          <p:nvPr/>
        </p:nvSpPr>
        <p:spPr>
          <a:xfrm>
            <a:off x="1005840" y="3867912"/>
            <a:ext cx="7680960" cy="512064"/>
          </a:xfrm>
          <a:prstGeom prst="rect">
            <a:avLst/>
          </a:prstGeom>
          <a:noFill/>
          <a:ln/>
        </p:spPr>
        <p:txBody>
          <a:bodyPr wrap="square" lIns="0" tIns="0" rIns="0" bIns="0" rtlCol="0" anchor="ctr"/>
          <a:lstStyle/>
          <a:p>
            <a:pPr indent="0" marL="0">
              <a:buNone/>
            </a:pPr>
            <a:r>
              <a:rPr lang="en-US" sz="1300" b="1" dirty="0">
                <a:solidFill>
                  <a:srgbClr val="17252E"/>
                </a:solidFill>
                <a:latin typeface="Calibri" pitchFamily="34" charset="0"/>
                <a:ea typeface="Calibri" pitchFamily="34" charset="-122"/>
                <a:cs typeface="Calibri" pitchFamily="34" charset="-120"/>
              </a:rPr>
              <a:t>Keep physics separate</a:t>
            </a:r>
            <a:endParaRPr lang="en-US" sz="1300" dirty="0"/>
          </a:p>
          <a:p>
            <a:pPr indent="0" marL="0">
              <a:buNone/>
            </a:pPr>
            <a:r>
              <a:rPr lang="en-US" sz="1300" dirty="0">
                <a:solidFill>
                  <a:srgbClr val="2F4858"/>
                </a:solidFill>
                <a:latin typeface="Calibri" pitchFamily="34" charset="0"/>
                <a:ea typeface="Calibri" pitchFamily="34" charset="-122"/>
                <a:cs typeface="Calibri" pitchFamily="34" charset="-120"/>
              </a:rPr>
              <a:t>src/sci_mcp/physics/ is plain, unit-tested Python. The server is a thin wrapper.</a:t>
            </a:r>
            <a:endParaRPr lang="en-US" sz="13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4 · BUILD A SERVER · 9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 complete server, one tool</a:t>
            </a:r>
            <a:endParaRPr lang="en-US" sz="3000" dirty="0"/>
          </a:p>
        </p:txBody>
      </p:sp>
      <p:sp>
        <p:nvSpPr>
          <p:cNvPr id="4" name="Code panel"/>
          <p:cNvSpPr/>
          <p:nvPr/>
        </p:nvSpPr>
        <p:spPr>
          <a:xfrm>
            <a:off x="457200" y="1417320"/>
            <a:ext cx="5120640" cy="3108960"/>
          </a:xfrm>
          <a:prstGeom prst="roundRect">
            <a:avLst>
              <a:gd name="adj" fmla="val 1765"/>
            </a:avLst>
          </a:prstGeom>
          <a:solidFill>
            <a:srgbClr val="17252E"/>
          </a:solidFill>
          <a:ln w="12700">
            <a:solidFill>
              <a:srgbClr val="17252E"/>
            </a:solidFill>
            <a:prstDash val="solid"/>
          </a:ln>
        </p:spPr>
      </p:sp>
      <p:sp>
        <p:nvSpPr>
          <p:cNvPr id="5" name="Code"/>
          <p:cNvSpPr txBox="1"/>
          <p:nvPr/>
        </p:nvSpPr>
        <p:spPr>
          <a:xfrm>
            <a:off x="594360" y="1508760"/>
            <a:ext cx="4846320" cy="2926080"/>
          </a:xfrm>
          <a:prstGeom prst="rect">
            <a:avLst/>
          </a:prstGeom>
          <a:noFill/>
          <a:ln/>
        </p:spPr>
        <p:txBody>
          <a:bodyPr wrap="square" lIns="0" tIns="0" rIns="0" bIns="0" rtlCol="0" anchor="t"/>
          <a:lstStyle/>
          <a:p>
            <a:pPr indent="0" marL="0">
              <a:buNone/>
            </a:pPr>
            <a:r>
              <a:rPr lang="en-US" sz="1050" dirty="0">
                <a:solidFill>
                  <a:srgbClr val="E6EDF1"/>
                </a:solidFill>
                <a:latin typeface="Courier New" pitchFamily="34" charset="0"/>
                <a:ea typeface="Courier New" pitchFamily="34" charset="-122"/>
                <a:cs typeface="Courier New" pitchFamily="34" charset="-120"/>
              </a:rPr>
              <a:t>from typing import Annotated</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from pydantic import Field</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from mcp.server.mcpserver import MCPServer</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mcp = MCPServer("geoscience")</a:t>
            </a:r>
            <a:endParaRPr lang="en-US" sz="1050" dirty="0"/>
          </a:p>
          <a:p>
            <a:pPr indent="0" marL="0">
              <a:buNone/>
            </a:pP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@mcp.tool()</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def gardner_density(</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vp_m_s: Annotated[float, Field(</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description="P-wave velocity, m/s (1000-8000)")],</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-&gt; dict:</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"""Bulk density from Vp via Gardner:</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rho = 0.31 * Vp**0.25  (g/cm3)."""</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return result(</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compute(geo.gardner_density, vp_m_s),</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"g/cm3", "Gardner (1974)", vp_m_s=vp_m_s)</a:t>
            </a:r>
            <a:endParaRPr lang="en-US" sz="1050" dirty="0"/>
          </a:p>
          <a:p>
            <a:pPr indent="0" marL="0">
              <a:buNone/>
            </a:pP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if __name__ == "__main__":</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mcp.run(transport="stdio")</a:t>
            </a:r>
            <a:endParaRPr lang="en-US" sz="1050" dirty="0"/>
          </a:p>
        </p:txBody>
      </p:sp>
      <p:sp>
        <p:nvSpPr>
          <p:cNvPr id="6" name="Card"/>
          <p:cNvSpPr/>
          <p:nvPr/>
        </p:nvSpPr>
        <p:spPr>
          <a:xfrm>
            <a:off x="5760720" y="1417320"/>
            <a:ext cx="2926080" cy="3108960"/>
          </a:xfrm>
          <a:prstGeom prst="roundRect">
            <a:avLst>
              <a:gd name="adj" fmla="val 25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5943600" y="1527048"/>
            <a:ext cx="2651760" cy="274320"/>
          </a:xfrm>
          <a:prstGeom prst="rect">
            <a:avLst/>
          </a:prstGeom>
          <a:noFill/>
          <a:ln/>
        </p:spPr>
        <p:txBody>
          <a:bodyPr wrap="square" lIns="0" tIns="0" rIns="0" bIns="0" rtlCol="0" anchor="ctr"/>
          <a:lstStyle/>
          <a:p>
            <a:pPr indent="0" marL="0">
              <a:buNone/>
            </a:pPr>
            <a:r>
              <a:rPr lang="en-US" sz="1100" b="1" dirty="0">
                <a:solidFill>
                  <a:schemeClr val="accent1"/>
                </a:solidFill>
                <a:latin typeface="Calibri" pitchFamily="34" charset="0"/>
                <a:ea typeface="Calibri" pitchFamily="34" charset="-122"/>
                <a:cs typeface="Calibri" pitchFamily="34" charset="-120"/>
              </a:rPr>
              <a:t>WHAT THE SDK DOES FOR YOU</a:t>
            </a:r>
            <a:endParaRPr lang="en-US" sz="1100" dirty="0"/>
          </a:p>
        </p:txBody>
      </p:sp>
      <p:sp>
        <p:nvSpPr>
          <p:cNvPr id="8" name="Text 6"/>
          <p:cNvSpPr txBox="1"/>
          <p:nvPr/>
        </p:nvSpPr>
        <p:spPr>
          <a:xfrm>
            <a:off x="5943600" y="1874520"/>
            <a:ext cx="256032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Builds the JSON Schema from the type hints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Uses the docstring as the description</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Validates arguments before your code runs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Serialises the dict result</a:t>
            </a:r>
            <a:endParaRPr lang="en-US" sz="13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4 · BUILD A SERVER · 9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Resources, prompts and clean errors</a:t>
            </a:r>
            <a:endParaRPr lang="en-US" sz="3000" dirty="0"/>
          </a:p>
        </p:txBody>
      </p:sp>
      <p:sp>
        <p:nvSpPr>
          <p:cNvPr id="4" name="Code panel"/>
          <p:cNvSpPr/>
          <p:nvPr/>
        </p:nvSpPr>
        <p:spPr>
          <a:xfrm>
            <a:off x="457200" y="1417320"/>
            <a:ext cx="5120640" cy="3108960"/>
          </a:xfrm>
          <a:prstGeom prst="roundRect">
            <a:avLst>
              <a:gd name="adj" fmla="val 1765"/>
            </a:avLst>
          </a:prstGeom>
          <a:solidFill>
            <a:srgbClr val="17252E"/>
          </a:solidFill>
          <a:ln w="12700">
            <a:solidFill>
              <a:srgbClr val="17252E"/>
            </a:solidFill>
            <a:prstDash val="solid"/>
          </a:ln>
        </p:spPr>
      </p:sp>
      <p:sp>
        <p:nvSpPr>
          <p:cNvPr id="5" name="Code"/>
          <p:cNvSpPr txBox="1"/>
          <p:nvPr/>
        </p:nvSpPr>
        <p:spPr>
          <a:xfrm>
            <a:off x="594360" y="1508760"/>
            <a:ext cx="4846320" cy="2926080"/>
          </a:xfrm>
          <a:prstGeom prst="rect">
            <a:avLst/>
          </a:prstGeom>
          <a:noFill/>
          <a:ln/>
        </p:spPr>
        <p:txBody>
          <a:bodyPr wrap="square" lIns="0" tIns="0" rIns="0" bIns="0" rtlCol="0" anchor="t"/>
          <a:lstStyle/>
          <a:p>
            <a:pPr indent="0" marL="0">
              <a:buNone/>
            </a:pPr>
            <a:r>
              <a:rPr lang="en-US" sz="1050" dirty="0">
                <a:solidFill>
                  <a:srgbClr val="E6EDF1"/>
                </a:solidFill>
                <a:latin typeface="Courier New" pitchFamily="34" charset="0"/>
                <a:ea typeface="Courier New" pitchFamily="34" charset="-122"/>
                <a:cs typeface="Courier New" pitchFamily="34" charset="-120"/>
              </a:rPr>
              <a:t>@mcp.resource("geo://rock-properties/{lithology}")</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def rock_property(lithology: str) -&gt; str:</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a:t>
            </a:r>
            <a:endParaRPr lang="en-US" sz="1050" dirty="0"/>
          </a:p>
          <a:p>
            <a:pPr indent="0" marL="0">
              <a:buNone/>
            </a:pP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@mcp.prompt()</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def interpret_reflector(upper: str, lower: str) -&gt; str:</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return f"A reflector separates {upper} over {lower}..."</a:t>
            </a:r>
            <a:endParaRPr lang="en-US" sz="1050" dirty="0"/>
          </a:p>
          <a:p>
            <a:pPr indent="0" marL="0">
              <a:buNone/>
            </a:pP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def compute(fn, *args):</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try:</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return fn(*args)</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except ValueError as exc:</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raise ToolError(str(exc)) from exc</a:t>
            </a:r>
            <a:endParaRPr lang="en-US" sz="1050" dirty="0"/>
          </a:p>
        </p:txBody>
      </p:sp>
      <p:sp>
        <p:nvSpPr>
          <p:cNvPr id="6" name="Card"/>
          <p:cNvSpPr/>
          <p:nvPr/>
        </p:nvSpPr>
        <p:spPr>
          <a:xfrm>
            <a:off x="5760720" y="1417320"/>
            <a:ext cx="292608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5943600" y="1508760"/>
            <a:ext cx="2606040" cy="1280160"/>
          </a:xfrm>
          <a:prstGeom prst="rect">
            <a:avLst/>
          </a:prstGeom>
          <a:noFill/>
          <a:ln/>
        </p:spPr>
        <p:txBody>
          <a:bodyPr wrap="square" lIns="0" tIns="0" rIns="0" bIns="0" rtlCol="0" anchor="ctr"/>
          <a:lstStyle/>
          <a:p>
            <a:pPr indent="0" marL="0">
              <a:buNone/>
            </a:pPr>
            <a:r>
              <a:rPr lang="en-US" sz="1300" b="1" dirty="0">
                <a:solidFill>
                  <a:srgbClr val="1F8A8A"/>
                </a:solidFill>
                <a:latin typeface="Calibri" pitchFamily="34" charset="0"/>
                <a:ea typeface="Calibri" pitchFamily="34" charset="-122"/>
                <a:cs typeface="Calibri" pitchFamily="34" charset="-120"/>
              </a:rPr>
              <a:t>ToolError</a:t>
            </a:r>
            <a:endParaRPr lang="en-US" sz="1300" dirty="0"/>
          </a:p>
          <a:p>
            <a:pPr indent="0" marL="0">
              <a:buNone/>
            </a:pPr>
            <a:r>
              <a:rPr lang="en-US" sz="1300" dirty="0">
                <a:solidFill>
                  <a:srgbClr val="17252E"/>
                </a:solidFill>
                <a:latin typeface="Calibri" pitchFamily="34" charset="0"/>
                <a:ea typeface="Calibri" pitchFamily="34" charset="-122"/>
                <a:cs typeface="Calibri" pitchFamily="34" charset="-120"/>
              </a:rPr>
              <a:t>is_error=True plus your message. The model can read it and retry.</a:t>
            </a:r>
            <a:endParaRPr lang="en-US" sz="1300" dirty="0"/>
          </a:p>
        </p:txBody>
      </p:sp>
      <p:sp>
        <p:nvSpPr>
          <p:cNvPr id="8" name="Card"/>
          <p:cNvSpPr/>
          <p:nvPr/>
        </p:nvSpPr>
        <p:spPr>
          <a:xfrm>
            <a:off x="5760720" y="3063240"/>
            <a:ext cx="292608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5943600" y="3154680"/>
            <a:ext cx="2606040" cy="1280160"/>
          </a:xfrm>
          <a:prstGeom prst="rect">
            <a:avLst/>
          </a:prstGeom>
          <a:noFill/>
          <a:ln/>
        </p:spPr>
        <p:txBody>
          <a:bodyPr wrap="square" lIns="0" tIns="0" rIns="0" bIns="0" rtlCol="0" anchor="ctr"/>
          <a:lstStyle/>
          <a:p>
            <a:pPr indent="0" marL="0">
              <a:buNone/>
            </a:pPr>
            <a:r>
              <a:rPr lang="en-US" sz="1300" b="1" dirty="0">
                <a:solidFill>
                  <a:srgbClr val="C8553D"/>
                </a:solidFill>
                <a:latin typeface="Calibri" pitchFamily="34" charset="0"/>
                <a:ea typeface="Calibri" pitchFamily="34" charset="-122"/>
                <a:cs typeface="Calibri" pitchFamily="34" charset="-120"/>
              </a:rPr>
              <a:t>Any other exception</a:t>
            </a:r>
            <a:endParaRPr lang="en-US" sz="1300" dirty="0"/>
          </a:p>
          <a:p>
            <a:pPr indent="0" marL="0">
              <a:buNone/>
            </a:pPr>
            <a:r>
              <a:rPr lang="en-US" sz="1300" dirty="0">
                <a:solidFill>
                  <a:srgbClr val="17252E"/>
                </a:solidFill>
                <a:latin typeface="Calibri" pitchFamily="34" charset="0"/>
                <a:ea typeface="Calibri" pitchFamily="34" charset="-122"/>
                <a:cs typeface="Calibri" pitchFamily="34" charset="-120"/>
              </a:rPr>
              <a:t>treated as a crash. The model sees only 'Error executing tool X'.</a:t>
            </a:r>
            <a:endParaRPr lang="en-US" sz="13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4 · BUILD A SERVER · 9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Running it: stdio and HTTP</a:t>
            </a:r>
            <a:endParaRPr lang="en-US" sz="3000" dirty="0"/>
          </a:p>
        </p:txBody>
      </p:sp>
      <p:sp>
        <p:nvSpPr>
          <p:cNvPr id="4" name="Text 2"/>
          <p:cNvSpPr txBox="1"/>
          <p:nvPr/>
        </p:nvSpPr>
        <p:spPr>
          <a:xfrm>
            <a:off x="457200" y="1371600"/>
            <a:ext cx="365760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STDIO (DEFAULT)</a:t>
            </a:r>
            <a:endParaRPr lang="en-US" sz="1200" dirty="0"/>
          </a:p>
        </p:txBody>
      </p:sp>
      <p:sp>
        <p:nvSpPr>
          <p:cNvPr id="5" name="Code panel"/>
          <p:cNvSpPr/>
          <p:nvPr/>
        </p:nvSpPr>
        <p:spPr>
          <a:xfrm>
            <a:off x="457200" y="1645920"/>
            <a:ext cx="4023360" cy="457200"/>
          </a:xfrm>
          <a:prstGeom prst="roundRect">
            <a:avLst>
              <a:gd name="adj" fmla="val 12000"/>
            </a:avLst>
          </a:prstGeom>
          <a:solidFill>
            <a:srgbClr val="17252E"/>
          </a:solidFill>
          <a:ln w="12700">
            <a:solidFill>
              <a:srgbClr val="17252E"/>
            </a:solidFill>
            <a:prstDash val="solid"/>
          </a:ln>
        </p:spPr>
      </p:sp>
      <p:sp>
        <p:nvSpPr>
          <p:cNvPr id="6" name="Code"/>
          <p:cNvSpPr txBox="1"/>
          <p:nvPr/>
        </p:nvSpPr>
        <p:spPr>
          <a:xfrm>
            <a:off x="594360" y="1737360"/>
            <a:ext cx="3749040" cy="274320"/>
          </a:xfrm>
          <a:prstGeom prst="rect">
            <a:avLst/>
          </a:prstGeom>
          <a:noFill/>
          <a:ln/>
        </p:spPr>
        <p:txBody>
          <a:bodyPr wrap="square" lIns="0" tIns="0" rIns="0" bIns="0" rtlCol="0" anchor="t"/>
          <a:lstStyle/>
          <a:p>
            <a:pPr indent="0" marL="0">
              <a:buNone/>
            </a:pPr>
            <a:r>
              <a:rPr lang="en-US" sz="1200" dirty="0">
                <a:solidFill>
                  <a:srgbClr val="E6EDF1"/>
                </a:solidFill>
                <a:latin typeface="Courier New" pitchFamily="34" charset="0"/>
                <a:ea typeface="Courier New" pitchFamily="34" charset="-122"/>
                <a:cs typeface="Courier New" pitchFamily="34" charset="-120"/>
              </a:rPr>
              <a:t>uv run sci-geo-server</a:t>
            </a:r>
            <a:endParaRPr lang="en-US" sz="1200" dirty="0"/>
          </a:p>
        </p:txBody>
      </p:sp>
      <p:sp>
        <p:nvSpPr>
          <p:cNvPr id="7" name="Text 5"/>
          <p:cNvSpPr txBox="1"/>
          <p:nvPr/>
        </p:nvSpPr>
        <p:spPr>
          <a:xfrm>
            <a:off x="457200" y="2286000"/>
            <a:ext cx="402336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REGISTER IN ANY MCP HOST</a:t>
            </a:r>
            <a:endParaRPr lang="en-US" sz="1200" dirty="0"/>
          </a:p>
        </p:txBody>
      </p:sp>
      <p:sp>
        <p:nvSpPr>
          <p:cNvPr id="8" name="Code panel"/>
          <p:cNvSpPr/>
          <p:nvPr/>
        </p:nvSpPr>
        <p:spPr>
          <a:xfrm>
            <a:off x="457200" y="2560320"/>
            <a:ext cx="4023360" cy="1371600"/>
          </a:xfrm>
          <a:prstGeom prst="roundRect">
            <a:avLst>
              <a:gd name="adj" fmla="val 4000"/>
            </a:avLst>
          </a:prstGeom>
          <a:solidFill>
            <a:srgbClr val="17252E"/>
          </a:solidFill>
          <a:ln w="12700">
            <a:solidFill>
              <a:srgbClr val="17252E"/>
            </a:solidFill>
            <a:prstDash val="solid"/>
          </a:ln>
        </p:spPr>
      </p:sp>
      <p:sp>
        <p:nvSpPr>
          <p:cNvPr id="9" name="Code"/>
          <p:cNvSpPr txBox="1"/>
          <p:nvPr/>
        </p:nvSpPr>
        <p:spPr>
          <a:xfrm>
            <a:off x="594360" y="2651760"/>
            <a:ext cx="3749040" cy="1188720"/>
          </a:xfrm>
          <a:prstGeom prst="rect">
            <a:avLst/>
          </a:prstGeom>
          <a:noFill/>
          <a:ln/>
        </p:spPr>
        <p:txBody>
          <a:bodyPr wrap="square" lIns="0" tIns="0" rIns="0" bIns="0" rtlCol="0" anchor="t"/>
          <a:lstStyle/>
          <a:p>
            <a:pPr indent="0" marL="0">
              <a:buNone/>
            </a:pPr>
            <a:r>
              <a:rPr lang="en-US" sz="1050" dirty="0">
                <a:solidFill>
                  <a:srgbClr val="E6EDF1"/>
                </a:solidFill>
                <a:latin typeface="Courier New" pitchFamily="34" charset="0"/>
                <a:ea typeface="Courier New" pitchFamily="34" charset="-122"/>
                <a:cs typeface="Courier New" pitchFamily="34" charset="-120"/>
              </a:rPr>
              <a:t>{"mcpServers": {"geoscience": {</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"command": "uv",</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"args": ["--directory", "/path/to/</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mcp-science-tutorial",</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    "run", "sci-geo-server"]}}}</a:t>
            </a:r>
            <a:endParaRPr lang="en-US" sz="1050" dirty="0"/>
          </a:p>
        </p:txBody>
      </p:sp>
      <p:sp>
        <p:nvSpPr>
          <p:cNvPr id="10" name="Text 8"/>
          <p:cNvSpPr txBox="1"/>
          <p:nvPr/>
        </p:nvSpPr>
        <p:spPr>
          <a:xfrm>
            <a:off x="4663440" y="1371600"/>
            <a:ext cx="365760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STREAMABLE HTTP</a:t>
            </a:r>
            <a:endParaRPr lang="en-US" sz="1200" dirty="0"/>
          </a:p>
        </p:txBody>
      </p:sp>
      <p:sp>
        <p:nvSpPr>
          <p:cNvPr id="11" name="Code panel"/>
          <p:cNvSpPr/>
          <p:nvPr/>
        </p:nvSpPr>
        <p:spPr>
          <a:xfrm>
            <a:off x="4663440" y="1645920"/>
            <a:ext cx="4023360" cy="731520"/>
          </a:xfrm>
          <a:prstGeom prst="roundRect">
            <a:avLst>
              <a:gd name="adj" fmla="val 7500"/>
            </a:avLst>
          </a:prstGeom>
          <a:solidFill>
            <a:srgbClr val="17252E"/>
          </a:solidFill>
          <a:ln w="12700">
            <a:solidFill>
              <a:srgbClr val="17252E"/>
            </a:solidFill>
            <a:prstDash val="solid"/>
          </a:ln>
        </p:spPr>
      </p:sp>
      <p:sp>
        <p:nvSpPr>
          <p:cNvPr id="12" name="Code"/>
          <p:cNvSpPr txBox="1"/>
          <p:nvPr/>
        </p:nvSpPr>
        <p:spPr>
          <a:xfrm>
            <a:off x="4800600" y="1737360"/>
            <a:ext cx="3749040" cy="548640"/>
          </a:xfrm>
          <a:prstGeom prst="rect">
            <a:avLst/>
          </a:prstGeom>
          <a:noFill/>
          <a:ln/>
        </p:spPr>
        <p:txBody>
          <a:bodyPr wrap="square" lIns="0" tIns="0" rIns="0" bIns="0" rtlCol="0" anchor="t"/>
          <a:lstStyle/>
          <a:p>
            <a:pPr indent="0" marL="0">
              <a:buNone/>
            </a:pPr>
            <a:r>
              <a:rPr lang="en-US" sz="1100" dirty="0">
                <a:solidFill>
                  <a:srgbClr val="E6EDF1"/>
                </a:solidFill>
                <a:latin typeface="Courier New" pitchFamily="34" charset="0"/>
                <a:ea typeface="Courier New" pitchFamily="34" charset="-122"/>
                <a:cs typeface="Courier New" pitchFamily="34" charset="-120"/>
              </a:rPr>
              <a:t>uv run sci-geo-server --http</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mcp.run(transport="streamable-http")</a:t>
            </a:r>
            <a:endParaRPr lang="en-US" sz="1100" dirty="0"/>
          </a:p>
        </p:txBody>
      </p:sp>
      <p:sp>
        <p:nvSpPr>
          <p:cNvPr id="13" name="Text 11"/>
          <p:cNvSpPr txBox="1"/>
          <p:nvPr/>
        </p:nvSpPr>
        <p:spPr>
          <a:xfrm>
            <a:off x="4663440" y="2560320"/>
            <a:ext cx="402336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CLIENT, ANY TARGET</a:t>
            </a:r>
            <a:endParaRPr lang="en-US" sz="1200" dirty="0"/>
          </a:p>
        </p:txBody>
      </p:sp>
      <p:sp>
        <p:nvSpPr>
          <p:cNvPr id="14" name="Code panel"/>
          <p:cNvSpPr/>
          <p:nvPr/>
        </p:nvSpPr>
        <p:spPr>
          <a:xfrm>
            <a:off x="4663440" y="2834640"/>
            <a:ext cx="4023360" cy="1097280"/>
          </a:xfrm>
          <a:prstGeom prst="roundRect">
            <a:avLst>
              <a:gd name="adj" fmla="val 5000"/>
            </a:avLst>
          </a:prstGeom>
          <a:solidFill>
            <a:srgbClr val="17252E"/>
          </a:solidFill>
          <a:ln w="12700">
            <a:solidFill>
              <a:srgbClr val="17252E"/>
            </a:solidFill>
            <a:prstDash val="solid"/>
          </a:ln>
        </p:spPr>
      </p:sp>
      <p:sp>
        <p:nvSpPr>
          <p:cNvPr id="15" name="Code"/>
          <p:cNvSpPr txBox="1"/>
          <p:nvPr/>
        </p:nvSpPr>
        <p:spPr>
          <a:xfrm>
            <a:off x="4800600" y="2926080"/>
            <a:ext cx="3749040" cy="914400"/>
          </a:xfrm>
          <a:prstGeom prst="rect">
            <a:avLst/>
          </a:prstGeom>
          <a:noFill/>
          <a:ln/>
        </p:spPr>
        <p:txBody>
          <a:bodyPr wrap="square" lIns="0" tIns="0" rIns="0" bIns="0" rtlCol="0" anchor="t"/>
          <a:lstStyle/>
          <a:p>
            <a:pPr indent="0" marL="0">
              <a:buNone/>
            </a:pPr>
            <a:r>
              <a:rPr lang="en-US" sz="1050" dirty="0">
                <a:solidFill>
                  <a:srgbClr val="E6EDF1"/>
                </a:solidFill>
                <a:latin typeface="Courier New" pitchFamily="34" charset="0"/>
                <a:ea typeface="Courier New" pitchFamily="34" charset="-122"/>
                <a:cs typeface="Courier New" pitchFamily="34" charset="-120"/>
              </a:rPr>
              <a:t>Client(stdio_module("...server"))</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Client("http://127.0.0.1:8000/mcp")</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Client(server)   # in-process, tests</a:t>
            </a:r>
            <a:endParaRPr lang="en-US" sz="1050" dirty="0"/>
          </a:p>
        </p:txBody>
      </p:sp>
      <p:sp>
        <p:nvSpPr>
          <p:cNvPr id="16" name="Text 14"/>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500" i="1" dirty="0">
                <a:solidFill>
                  <a:schemeClr val="accent3"/>
                </a:solidFill>
                <a:latin typeface="Cambria" pitchFamily="34" charset="0"/>
                <a:ea typeface="Cambria" pitchFamily="34" charset="-122"/>
                <a:cs typeface="Cambria" pitchFamily="34" charset="-120"/>
              </a:rPr>
              <a:t>Same server code, three ways to reach it.</a:t>
            </a:r>
            <a:endParaRPr lang="en-US" sz="15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E8871E"/>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4 · BUILD A SERVER · 9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Demo 3: agent plus geoscience server</a:t>
            </a:r>
            <a:endParaRPr lang="en-US" sz="3000" dirty="0"/>
          </a:p>
        </p:txBody>
      </p:sp>
      <p:sp>
        <p:nvSpPr>
          <p:cNvPr id="4" name="Text 2"/>
          <p:cNvSpPr txBox="1"/>
          <p:nvPr/>
        </p:nvSpPr>
        <p:spPr>
          <a:xfrm>
            <a:off x="457200" y="1371600"/>
            <a:ext cx="182880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RUN</a:t>
            </a:r>
            <a:endParaRPr lang="en-US" sz="1200" dirty="0"/>
          </a:p>
        </p:txBody>
      </p:sp>
      <p:sp>
        <p:nvSpPr>
          <p:cNvPr id="5" name="Code panel"/>
          <p:cNvSpPr/>
          <p:nvPr/>
        </p:nvSpPr>
        <p:spPr>
          <a:xfrm>
            <a:off x="457200" y="1645920"/>
            <a:ext cx="4023360" cy="457200"/>
          </a:xfrm>
          <a:prstGeom prst="roundRect">
            <a:avLst>
              <a:gd name="adj" fmla="val 12000"/>
            </a:avLst>
          </a:prstGeom>
          <a:solidFill>
            <a:srgbClr val="17252E"/>
          </a:solidFill>
          <a:ln w="12700">
            <a:solidFill>
              <a:srgbClr val="17252E"/>
            </a:solidFill>
            <a:prstDash val="solid"/>
          </a:ln>
        </p:spPr>
      </p:sp>
      <p:sp>
        <p:nvSpPr>
          <p:cNvPr id="6" name="Code"/>
          <p:cNvSpPr txBox="1"/>
          <p:nvPr/>
        </p:nvSpPr>
        <p:spPr>
          <a:xfrm>
            <a:off x="594360" y="1737360"/>
            <a:ext cx="3749040" cy="274320"/>
          </a:xfrm>
          <a:prstGeom prst="rect">
            <a:avLst/>
          </a:prstGeom>
          <a:noFill/>
          <a:ln/>
        </p:spPr>
        <p:txBody>
          <a:bodyPr wrap="square" lIns="0" tIns="0" rIns="0" bIns="0" rtlCol="0" anchor="t"/>
          <a:lstStyle/>
          <a:p>
            <a:pPr indent="0" marL="0">
              <a:buNone/>
            </a:pPr>
            <a:r>
              <a:rPr lang="en-US" sz="1200" dirty="0">
                <a:solidFill>
                  <a:srgbClr val="E6EDF1"/>
                </a:solidFill>
                <a:latin typeface="Courier New" pitchFamily="34" charset="0"/>
                <a:ea typeface="Courier New" pitchFamily="34" charset="-122"/>
                <a:cs typeface="Courier New" pitchFamily="34" charset="-120"/>
              </a:rPr>
              <a:t>uv run demos/d04_agent_geo.py</a:t>
            </a:r>
            <a:endParaRPr lang="en-US" sz="1200" dirty="0"/>
          </a:p>
        </p:txBody>
      </p:sp>
      <p:sp>
        <p:nvSpPr>
          <p:cNvPr id="7" name="Text 5"/>
          <p:cNvSpPr txBox="1"/>
          <p:nvPr/>
        </p:nvSpPr>
        <p:spPr>
          <a:xfrm>
            <a:off x="457200" y="2286000"/>
            <a:ext cx="4023360" cy="82296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Shale (Vp 2800) over sandstone (Vp 3600) at 1500 m. Density, impedance, R, two-way time, polarity.</a:t>
            </a:r>
            <a:endParaRPr lang="en-US" sz="1400" dirty="0"/>
          </a:p>
        </p:txBody>
      </p:sp>
      <p:sp>
        <p:nvSpPr>
          <p:cNvPr id="8" name="Text 6"/>
          <p:cNvSpPr txBox="1"/>
          <p:nvPr/>
        </p:nvSpPr>
        <p:spPr>
          <a:xfrm>
            <a:off x="4846320" y="1371600"/>
            <a:ext cx="365760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EXPECTED TOOL OUTPUTS</a:t>
            </a:r>
            <a:endParaRPr lang="en-US" sz="1200" dirty="0"/>
          </a:p>
        </p:txBody>
      </p:sp>
      <p:graphicFrame>
        <p:nvGraphicFramePr>
          <p:cNvPr id="19" name="Expected outputs"/>
          <p:cNvGraphicFramePr>
            <a:graphicFrameLocks noGrp="1"/>
          </p:cNvGraphicFramePr>
          <p:nvPr>
            <p:extLst>
              <p:ext uri="{D42A27DB-BD31-4B8C-83A1-F6EECF244321}">
                <p14:modId xmlns:p14="http://schemas.microsoft.com/office/powerpoint/2010/main" val="1579011935"/>
              </p:ext>
            </p:extLst>
          </p:nvPr>
        </p:nvGraphicFramePr>
        <p:xfrm>
          <a:off x="4846320" y="1645920"/>
          <a:ext cx="3840480" cy="914400"/>
        </p:xfrm>
        <a:graphic>
          <a:graphicData uri="http://schemas.openxmlformats.org/drawingml/2006/table">
            <a:tbl>
              <a:tblPr/>
              <a:tblGrid>
                <a:gridCol w="2103120"/>
                <a:gridCol w="1737360"/>
              </a:tblGrid>
              <a:tr h="347472">
                <a:tc>
                  <a:txBody>
                    <a:bodyPr/>
                    <a:lstStyle/>
                    <a:p>
                      <a:pPr indent="0" marL="0">
                        <a:buNone/>
                      </a:pPr>
                      <a:r>
                        <a:rPr lang="en-US" sz="1250" b="1" dirty="0">
                          <a:solidFill>
                            <a:srgbClr val="17252E"/>
                          </a:solidFill>
                          <a:latin typeface="Calibri" pitchFamily="34" charset="0"/>
                          <a:ea typeface="Calibri" pitchFamily="34" charset="-122"/>
                          <a:cs typeface="Calibri" pitchFamily="34" charset="-120"/>
                        </a:rPr>
                        <a:t>Tool</a:t>
                      </a:r>
                      <a:endParaRPr lang="en-US" sz="12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E8871E"/>
                    </a:solidFill>
                  </a:tcPr>
                </a:tc>
                <a:tc>
                  <a:txBody>
                    <a:bodyPr/>
                    <a:lstStyle/>
                    <a:p>
                      <a:pPr indent="0" marL="0">
                        <a:buNone/>
                      </a:pPr>
                      <a:r>
                        <a:rPr lang="en-US" sz="1250" b="1" dirty="0">
                          <a:solidFill>
                            <a:srgbClr val="17252E"/>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E8871E"/>
                    </a:solidFill>
                  </a:tcPr>
                </a:tc>
              </a:tr>
              <a:tr h="347472">
                <a:tc>
                  <a:txBody>
                    <a:bodyPr/>
                    <a:lstStyle/>
                    <a:p>
                      <a:pPr indent="0" marL="0">
                        <a:buNone/>
                      </a:pPr>
                      <a:r>
                        <a:rPr lang="en-US" sz="1250" dirty="0">
                          <a:solidFill>
                            <a:srgbClr val="FFFFFF"/>
                          </a:solidFill>
                          <a:latin typeface="Calibri" pitchFamily="34" charset="0"/>
                          <a:ea typeface="Calibri" pitchFamily="34" charset="-122"/>
                          <a:cs typeface="Calibri" pitchFamily="34" charset="-120"/>
                        </a:rPr>
                        <a:t>Gardner ρ (2800 m/s)</a:t>
                      </a:r>
                      <a:endParaRPr lang="en-US" sz="12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17252E"/>
                    </a:solidFill>
                  </a:tcPr>
                </a:tc>
                <a:tc>
                  <a:txBody>
                    <a:bodyPr/>
                    <a:lstStyle/>
                    <a:p>
                      <a:pPr indent="0" marL="0">
                        <a:buNone/>
                      </a:pPr>
                      <a:r>
                        <a:rPr lang="en-US" sz="1250" dirty="0">
                          <a:solidFill>
                            <a:srgbClr val="FFFFFF"/>
                          </a:solidFill>
                          <a:latin typeface="Calibri" pitchFamily="34" charset="0"/>
                          <a:ea typeface="Calibri" pitchFamily="34" charset="-122"/>
                          <a:cs typeface="Calibri" pitchFamily="34" charset="-120"/>
                        </a:rPr>
                        <a:t>2.255 g/cm³</a:t>
                      </a:r>
                      <a:endParaRPr lang="en-US" sz="12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17252E"/>
                    </a:solidFill>
                  </a:tcPr>
                </a:tc>
              </a:tr>
              <a:tr h="347472">
                <a:tc>
                  <a:txBody>
                    <a:bodyPr/>
                    <a:lstStyle/>
                    <a:p>
                      <a:pPr indent="0" marL="0">
                        <a:buNone/>
                      </a:pPr>
                      <a:r>
                        <a:rPr lang="en-US" sz="1250" dirty="0">
                          <a:solidFill>
                            <a:srgbClr val="FFFFFF"/>
                          </a:solidFill>
                          <a:latin typeface="Calibri" pitchFamily="34" charset="0"/>
                          <a:ea typeface="Calibri" pitchFamily="34" charset="-122"/>
                          <a:cs typeface="Calibri" pitchFamily="34" charset="-120"/>
                        </a:rPr>
                        <a:t>Gardner ρ (3600 m/s)</a:t>
                      </a:r>
                      <a:endParaRPr lang="en-US" sz="12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223743"/>
                    </a:solidFill>
                  </a:tcPr>
                </a:tc>
                <a:tc>
                  <a:txBody>
                    <a:bodyPr/>
                    <a:lstStyle/>
                    <a:p>
                      <a:pPr indent="0" marL="0">
                        <a:buNone/>
                      </a:pPr>
                      <a:r>
                        <a:rPr lang="en-US" sz="1250" dirty="0">
                          <a:solidFill>
                            <a:srgbClr val="FFFFFF"/>
                          </a:solidFill>
                          <a:latin typeface="Calibri" pitchFamily="34" charset="0"/>
                          <a:ea typeface="Calibri" pitchFamily="34" charset="-122"/>
                          <a:cs typeface="Calibri" pitchFamily="34" charset="-120"/>
                        </a:rPr>
                        <a:t>2.401 g/cm³</a:t>
                      </a:r>
                      <a:endParaRPr lang="en-US" sz="12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223743"/>
                    </a:solidFill>
                  </a:tcPr>
                </a:tc>
              </a:tr>
              <a:tr h="347472">
                <a:tc>
                  <a:txBody>
                    <a:bodyPr/>
                    <a:lstStyle/>
                    <a:p>
                      <a:pPr indent="0" marL="0">
                        <a:buNone/>
                      </a:pPr>
                      <a:r>
                        <a:rPr lang="en-US" sz="1250" dirty="0">
                          <a:solidFill>
                            <a:srgbClr val="FFFFFF"/>
                          </a:solidFill>
                          <a:latin typeface="Calibri" pitchFamily="34" charset="0"/>
                          <a:ea typeface="Calibri" pitchFamily="34" charset="-122"/>
                          <a:cs typeface="Calibri" pitchFamily="34" charset="-120"/>
                        </a:rPr>
                        <a:t>Z shale / sand</a:t>
                      </a:r>
                      <a:endParaRPr lang="en-US" sz="12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17252E"/>
                    </a:solidFill>
                  </a:tcPr>
                </a:tc>
                <a:tc>
                  <a:txBody>
                    <a:bodyPr/>
                    <a:lstStyle/>
                    <a:p>
                      <a:pPr indent="0" marL="0">
                        <a:buNone/>
                      </a:pPr>
                      <a:r>
                        <a:rPr lang="en-US" sz="1250" dirty="0">
                          <a:solidFill>
                            <a:srgbClr val="FFFFFF"/>
                          </a:solidFill>
                          <a:latin typeface="Calibri" pitchFamily="34" charset="0"/>
                          <a:ea typeface="Calibri" pitchFamily="34" charset="-122"/>
                          <a:cs typeface="Calibri" pitchFamily="34" charset="-120"/>
                        </a:rPr>
                        <a:t>6.31e6 / 8.64e6</a:t>
                      </a:r>
                      <a:endParaRPr lang="en-US" sz="12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17252E"/>
                    </a:solidFill>
                  </a:tcPr>
                </a:tc>
              </a:tr>
              <a:tr h="347472">
                <a:tc>
                  <a:txBody>
                    <a:bodyPr/>
                    <a:lstStyle/>
                    <a:p>
                      <a:pPr indent="0" marL="0">
                        <a:buNone/>
                      </a:pPr>
                      <a:r>
                        <a:rPr lang="en-US" sz="1250" dirty="0">
                          <a:solidFill>
                            <a:srgbClr val="FFFFFF"/>
                          </a:solidFill>
                          <a:latin typeface="Calibri" pitchFamily="34" charset="0"/>
                          <a:ea typeface="Calibri" pitchFamily="34" charset="-122"/>
                          <a:cs typeface="Calibri" pitchFamily="34" charset="-120"/>
                        </a:rPr>
                        <a:t>Reflection coeff.</a:t>
                      </a:r>
                      <a:endParaRPr lang="en-US" sz="12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223743"/>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+0.156</a:t>
                      </a:r>
                      <a:endParaRPr lang="en-US" sz="12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223743"/>
                    </a:solidFill>
                  </a:tcPr>
                </a:tc>
              </a:tr>
              <a:tr h="347472">
                <a:tc>
                  <a:txBody>
                    <a:bodyPr/>
                    <a:lstStyle/>
                    <a:p>
                      <a:pPr indent="0" marL="0">
                        <a:buNone/>
                      </a:pPr>
                      <a:r>
                        <a:rPr lang="en-US" sz="1250" dirty="0">
                          <a:solidFill>
                            <a:srgbClr val="FFFFFF"/>
                          </a:solidFill>
                          <a:latin typeface="Calibri" pitchFamily="34" charset="0"/>
                          <a:ea typeface="Calibri" pitchFamily="34" charset="-122"/>
                          <a:cs typeface="Calibri" pitchFamily="34" charset="-120"/>
                        </a:rPr>
                        <a:t>Two-way time</a:t>
                      </a:r>
                      <a:endParaRPr lang="en-US" sz="12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17252E"/>
                    </a:solidFill>
                  </a:tcPr>
                </a:tc>
                <a:tc>
                  <a:txBody>
                    <a:bodyPr/>
                    <a:lstStyle/>
                    <a:p>
                      <a:pPr indent="0" marL="0">
                        <a:buNone/>
                      </a:pPr>
                      <a:r>
                        <a:rPr lang="en-US" sz="1250" dirty="0">
                          <a:solidFill>
                            <a:srgbClr val="FFFFFF"/>
                          </a:solidFill>
                          <a:latin typeface="Calibri" pitchFamily="34" charset="0"/>
                          <a:ea typeface="Calibri" pitchFamily="34" charset="-122"/>
                          <a:cs typeface="Calibri" pitchFamily="34" charset="-120"/>
                        </a:rPr>
                        <a:t>1071 ms</a:t>
                      </a:r>
                      <a:endParaRPr lang="en-US" sz="1250" dirty="0">
                        <a:latin typeface="Calibri" charset="0"/>
                        <a:ea typeface="Calibri" charset="0"/>
                        <a:cs typeface="Calibri" charset="0"/>
                      </a:endParaRPr>
                    </a:p>
                  </a:txBody>
                  <a:tcPr marL="91440" marR="91440" marT="27432" marB="27432" anchor="ctr">
                    <a:lnL w="0" cap="flat" cmpd="sng" algn="ctr">
                      <a:noFill/>
                    </a:lnL>
                    <a:lnR w="0" cap="flat" cmpd="sng" algn="ctr">
                      <a:noFill/>
                    </a:lnR>
                    <a:lnT w="0" cap="flat" cmpd="sng" algn="ctr">
                      <a:noFill/>
                    </a:lnT>
                    <a:lnB w="0" cap="flat" cmpd="sng" algn="ctr">
                      <a:noFill/>
                    </a:lnB>
                    <a:solidFill>
                      <a:srgbClr val="17252E"/>
                    </a:solidFill>
                  </a:tcPr>
                </a:tc>
              </a:tr>
            </a:tbl>
          </a:graphicData>
        </a:graphic>
      </p:graphicFrame>
      <p:sp>
        <p:nvSpPr>
          <p:cNvPr id="10" name="Text 7"/>
          <p:cNvSpPr txBox="1"/>
          <p:nvPr/>
        </p:nvSpPr>
        <p:spPr>
          <a:xfrm>
            <a:off x="457200" y="3474720"/>
            <a:ext cx="4023360" cy="822960"/>
          </a:xfrm>
          <a:prstGeom prst="rect">
            <a:avLst/>
          </a:prstGeom>
          <a:noFill/>
          <a:ln/>
        </p:spPr>
        <p:txBody>
          <a:bodyPr wrap="square" lIns="0" tIns="0" rIns="0" bIns="0" rtlCol="0" anchor="t"/>
          <a:lstStyle/>
          <a:p>
            <a:pPr indent="0" marL="0">
              <a:buNone/>
            </a:pPr>
            <a:r>
              <a:rPr lang="en-US" sz="1200" i="1" dirty="0">
                <a:solidFill>
                  <a:srgbClr val="C9D3D9"/>
                </a:solidFill>
                <a:latin typeface="Calibri" pitchFamily="34" charset="0"/>
                <a:ea typeface="Calibri" pitchFamily="34" charset="-122"/>
                <a:cs typeface="Calibri" pitchFamily="34" charset="-120"/>
              </a:rPr>
              <a:t>Positive R: polarity depends on convention; the model should say which it uses.</a:t>
            </a:r>
            <a:endParaRPr lang="en-US" sz="12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5 · MATERIALS AND GEOSCIENCE · 7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Materials: from XRD peak to crystallite</a:t>
            </a:r>
            <a:endParaRPr lang="en-US" sz="3000" dirty="0"/>
          </a:p>
        </p:txBody>
      </p:sp>
      <p:sp>
        <p:nvSpPr>
          <p:cNvPr id="4" name="Result"/>
          <p:cNvSpPr txBox="1"/>
          <p:nvPr/>
        </p:nvSpPr>
        <p:spPr>
          <a:xfrm>
            <a:off x="457200" y="1600200"/>
            <a:ext cx="1783080" cy="822960"/>
          </a:xfrm>
          <a:prstGeom prst="roundRect">
            <a:avLst>
              <a:gd name="adj" fmla="val 8889"/>
            </a:avLst>
          </a:prstGeom>
          <a:solidFill>
            <a:srgbClr val="2F4858"/>
          </a:solidFill>
          <a:ln/>
        </p:spPr>
        <p:txBody>
          <a:bodyPr wrap="square" lIns="50800" tIns="50800" rIns="50800" bIns="5080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2θ = 38.47°</a:t>
            </a:r>
            <a:endParaRPr lang="en-US" sz="1700" dirty="0"/>
          </a:p>
        </p:txBody>
      </p:sp>
      <p:sp>
        <p:nvSpPr>
          <p:cNvPr id="5" name="Text 3"/>
          <p:cNvSpPr txBox="1"/>
          <p:nvPr/>
        </p:nvSpPr>
        <p:spPr>
          <a:xfrm>
            <a:off x="411480" y="2514600"/>
            <a:ext cx="1874520" cy="548640"/>
          </a:xfrm>
          <a:prstGeom prst="rect">
            <a:avLst/>
          </a:prstGeom>
          <a:noFill/>
          <a:ln/>
        </p:spPr>
        <p:txBody>
          <a:bodyPr wrap="square" lIns="0" tIns="0" rIns="0" bIns="0" rtlCol="0" anchor="t"/>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peak position</a:t>
            </a:r>
            <a:endParaRPr lang="en-US" sz="1000" dirty="0"/>
          </a:p>
        </p:txBody>
      </p:sp>
      <p:sp>
        <p:nvSpPr>
          <p:cNvPr id="6" name="Shape 4"/>
          <p:cNvSpPr/>
          <p:nvPr/>
        </p:nvSpPr>
        <p:spPr>
          <a:xfrm>
            <a:off x="2258568" y="2011680"/>
            <a:ext cx="274320" cy="0"/>
          </a:xfrm>
          <a:prstGeom prst="line">
            <a:avLst/>
          </a:prstGeom>
          <a:noFill/>
          <a:ln w="25400">
            <a:solidFill>
              <a:schemeClr val="accent6"/>
            </a:solidFill>
            <a:prstDash val="solid"/>
            <a:tailEnd type="triangle"/>
          </a:ln>
        </p:spPr>
      </p:sp>
      <p:sp>
        <p:nvSpPr>
          <p:cNvPr id="7" name="Result"/>
          <p:cNvSpPr txBox="1"/>
          <p:nvPr/>
        </p:nvSpPr>
        <p:spPr>
          <a:xfrm>
            <a:off x="2560320" y="1600200"/>
            <a:ext cx="1783080" cy="822960"/>
          </a:xfrm>
          <a:prstGeom prst="roundRect">
            <a:avLst>
              <a:gd name="adj" fmla="val 8889"/>
            </a:avLst>
          </a:prstGeom>
          <a:solidFill>
            <a:srgbClr val="3D5A80"/>
          </a:solidFill>
          <a:ln/>
        </p:spPr>
        <p:txBody>
          <a:bodyPr wrap="square" lIns="50800" tIns="50800" rIns="50800" bIns="5080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d = 2.338 Å</a:t>
            </a:r>
            <a:endParaRPr lang="en-US" sz="1700" dirty="0"/>
          </a:p>
        </p:txBody>
      </p:sp>
      <p:sp>
        <p:nvSpPr>
          <p:cNvPr id="8" name="Text 6"/>
          <p:cNvSpPr txBox="1"/>
          <p:nvPr/>
        </p:nvSpPr>
        <p:spPr>
          <a:xfrm>
            <a:off x="2514600" y="2514600"/>
            <a:ext cx="1874520" cy="548640"/>
          </a:xfrm>
          <a:prstGeom prst="rect">
            <a:avLst/>
          </a:prstGeom>
          <a:noFill/>
          <a:ln/>
        </p:spPr>
        <p:txBody>
          <a:bodyPr wrap="square" lIns="0" tIns="0" rIns="0" bIns="0" rtlCol="0" anchor="t"/>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bragg_d_spacing</a:t>
            </a:r>
            <a:endParaRPr lang="en-US" sz="1000" dirty="0"/>
          </a:p>
        </p:txBody>
      </p:sp>
      <p:sp>
        <p:nvSpPr>
          <p:cNvPr id="9" name="Shape 7"/>
          <p:cNvSpPr/>
          <p:nvPr/>
        </p:nvSpPr>
        <p:spPr>
          <a:xfrm>
            <a:off x="4361688" y="2011680"/>
            <a:ext cx="274320" cy="0"/>
          </a:xfrm>
          <a:prstGeom prst="line">
            <a:avLst/>
          </a:prstGeom>
          <a:noFill/>
          <a:ln w="25400">
            <a:solidFill>
              <a:schemeClr val="accent6"/>
            </a:solidFill>
            <a:prstDash val="solid"/>
            <a:tailEnd type="triangle"/>
          </a:ln>
        </p:spPr>
      </p:sp>
      <p:sp>
        <p:nvSpPr>
          <p:cNvPr id="10" name="Result"/>
          <p:cNvSpPr txBox="1"/>
          <p:nvPr/>
        </p:nvSpPr>
        <p:spPr>
          <a:xfrm>
            <a:off x="4663440" y="1600200"/>
            <a:ext cx="1783080" cy="822960"/>
          </a:xfrm>
          <a:prstGeom prst="roundRect">
            <a:avLst>
              <a:gd name="adj" fmla="val 8889"/>
            </a:avLst>
          </a:prstGeom>
          <a:solidFill>
            <a:srgbClr val="1F8A8A"/>
          </a:solidFill>
          <a:ln/>
        </p:spPr>
        <p:txBody>
          <a:bodyPr wrap="square" lIns="50800" tIns="50800" rIns="50800" bIns="5080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a = 4.050 Å</a:t>
            </a:r>
            <a:endParaRPr lang="en-US" sz="1700" dirty="0"/>
          </a:p>
        </p:txBody>
      </p:sp>
      <p:sp>
        <p:nvSpPr>
          <p:cNvPr id="11" name="Text 9"/>
          <p:cNvSpPr txBox="1"/>
          <p:nvPr/>
        </p:nvSpPr>
        <p:spPr>
          <a:xfrm>
            <a:off x="4617720" y="2514600"/>
            <a:ext cx="1874520" cy="548640"/>
          </a:xfrm>
          <a:prstGeom prst="rect">
            <a:avLst/>
          </a:prstGeom>
          <a:noFill/>
          <a:ln/>
        </p:spPr>
        <p:txBody>
          <a:bodyPr wrap="square" lIns="0" tIns="0" rIns="0" bIns="0" rtlCol="0" anchor="t"/>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cubic_lattice_parameter</a:t>
            </a:r>
            <a:endParaRPr lang="en-US" sz="1000" dirty="0"/>
          </a:p>
          <a:p>
            <a:pPr algn="ctr" indent="0" marL="0">
              <a:buNone/>
            </a:pPr>
            <a:r>
              <a:rPr lang="en-US" sz="1000" dirty="0">
                <a:solidFill>
                  <a:schemeClr val="tx2"/>
                </a:solidFill>
                <a:latin typeface="Courier New" pitchFamily="34" charset="0"/>
                <a:ea typeface="Courier New" pitchFamily="34" charset="-122"/>
                <a:cs typeface="Courier New" pitchFamily="34" charset="-120"/>
              </a:rPr>
              <a:t>(hkl = 111)</a:t>
            </a:r>
            <a:endParaRPr lang="en-US" sz="1000" dirty="0"/>
          </a:p>
        </p:txBody>
      </p:sp>
      <p:sp>
        <p:nvSpPr>
          <p:cNvPr id="12" name="Shape 10"/>
          <p:cNvSpPr/>
          <p:nvPr/>
        </p:nvSpPr>
        <p:spPr>
          <a:xfrm>
            <a:off x="6464808" y="2011680"/>
            <a:ext cx="274320" cy="0"/>
          </a:xfrm>
          <a:prstGeom prst="line">
            <a:avLst/>
          </a:prstGeom>
          <a:noFill/>
          <a:ln w="25400">
            <a:solidFill>
              <a:schemeClr val="accent6"/>
            </a:solidFill>
            <a:prstDash val="solid"/>
            <a:tailEnd type="triangle"/>
          </a:ln>
        </p:spPr>
      </p:sp>
      <p:sp>
        <p:nvSpPr>
          <p:cNvPr id="13" name="Result"/>
          <p:cNvSpPr txBox="1"/>
          <p:nvPr/>
        </p:nvSpPr>
        <p:spPr>
          <a:xfrm>
            <a:off x="6766560" y="1600200"/>
            <a:ext cx="1783080" cy="822960"/>
          </a:xfrm>
          <a:prstGeom prst="roundRect">
            <a:avLst>
              <a:gd name="adj" fmla="val 8889"/>
            </a:avLst>
          </a:prstGeom>
          <a:solidFill>
            <a:srgbClr val="E8871E"/>
          </a:solidFill>
          <a:ln/>
        </p:spPr>
        <p:txBody>
          <a:bodyPr wrap="square" lIns="50800" tIns="50800" rIns="50800" bIns="5080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τ = 28.0 nm</a:t>
            </a:r>
            <a:endParaRPr lang="en-US" sz="1700" dirty="0"/>
          </a:p>
        </p:txBody>
      </p:sp>
      <p:sp>
        <p:nvSpPr>
          <p:cNvPr id="14" name="Text 12"/>
          <p:cNvSpPr txBox="1"/>
          <p:nvPr/>
        </p:nvSpPr>
        <p:spPr>
          <a:xfrm>
            <a:off x="6720840" y="2514600"/>
            <a:ext cx="1874520" cy="548640"/>
          </a:xfrm>
          <a:prstGeom prst="rect">
            <a:avLst/>
          </a:prstGeom>
          <a:noFill/>
          <a:ln/>
        </p:spPr>
        <p:txBody>
          <a:bodyPr wrap="square" lIns="0" tIns="0" rIns="0" bIns="0" rtlCol="0" anchor="t"/>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scherrer_</a:t>
            </a:r>
            <a:endParaRPr lang="en-US" sz="1000" dirty="0"/>
          </a:p>
          <a:p>
            <a:pPr algn="ctr" indent="0" marL="0">
              <a:buNone/>
            </a:pPr>
            <a:r>
              <a:rPr lang="en-US" sz="1000" dirty="0">
                <a:solidFill>
                  <a:schemeClr val="tx2"/>
                </a:solidFill>
                <a:latin typeface="Courier New" pitchFamily="34" charset="0"/>
                <a:ea typeface="Courier New" pitchFamily="34" charset="-122"/>
                <a:cs typeface="Courier New" pitchFamily="34" charset="-120"/>
              </a:rPr>
              <a:t>crystallite_size</a:t>
            </a:r>
            <a:endParaRPr lang="en-US" sz="1000" dirty="0"/>
          </a:p>
          <a:p>
            <a:pPr algn="ctr" indent="0" marL="0">
              <a:buNone/>
            </a:pPr>
            <a:r>
              <a:rPr lang="en-US" sz="1000" dirty="0">
                <a:solidFill>
                  <a:schemeClr val="tx2"/>
                </a:solidFill>
                <a:latin typeface="Courier New" pitchFamily="34" charset="0"/>
                <a:ea typeface="Courier New" pitchFamily="34" charset="-122"/>
                <a:cs typeface="Courier New" pitchFamily="34" charset="-120"/>
              </a:rPr>
              <a:t>(FWHM 0.30°)</a:t>
            </a:r>
            <a:endParaRPr lang="en-US" sz="1000" dirty="0"/>
          </a:p>
        </p:txBody>
      </p:sp>
      <p:sp>
        <p:nvSpPr>
          <p:cNvPr id="15" name="Card"/>
          <p:cNvSpPr/>
          <p:nvPr/>
        </p:nvSpPr>
        <p:spPr>
          <a:xfrm>
            <a:off x="457200" y="3291840"/>
            <a:ext cx="822960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685800" y="3383280"/>
            <a:ext cx="7772400" cy="1005840"/>
          </a:xfrm>
          <a:prstGeom prst="rect">
            <a:avLst/>
          </a:prstGeom>
          <a:noFill/>
          <a:ln/>
        </p:spPr>
        <p:txBody>
          <a:bodyPr wrap="square" lIns="0" tIns="0" rIns="0" bIns="0" rtlCol="0" anchor="ctr"/>
          <a:lstStyle/>
          <a:p>
            <a:pPr indent="0" marL="0">
              <a:buNone/>
            </a:pPr>
            <a:r>
              <a:rPr lang="en-US" sz="1400" b="1" dirty="0">
                <a:solidFill>
                  <a:srgbClr val="3D5A80"/>
                </a:solidFill>
                <a:latin typeface="Calibri" pitchFamily="34" charset="0"/>
                <a:ea typeface="Calibri" pitchFamily="34" charset="-122"/>
                <a:cs typeface="Calibri" pitchFamily="34" charset="-120"/>
              </a:rPr>
              <a:t>Aluminium (111), Cu K-alpha. </a:t>
            </a:r>
            <a:pPr indent="0" marL="0">
              <a:buNone/>
            </a:pPr>
            <a:r>
              <a:rPr lang="en-US" sz="1400" dirty="0">
                <a:solidFill>
                  <a:srgbClr val="17252E"/>
                </a:solidFill>
                <a:latin typeface="Calibri" pitchFamily="34" charset="0"/>
                <a:ea typeface="Calibri" pitchFamily="34" charset="-122"/>
                <a:cs typeface="Calibri" pitchFamily="34" charset="-120"/>
              </a:rPr>
              <a:t>The chain matches the reference lattice parameter of 4.05 Å. Each link is a tool; the model plans the order and passes results forward. Scherrer gives a lower bound because instrument broadening is not removed.</a:t>
            </a:r>
            <a:endParaRPr lang="en-US" sz="14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E8871E"/>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5 · MATERIALS AND GEOSCIENCE · 7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Materials demo: one question, four tools</a:t>
            </a:r>
            <a:endParaRPr lang="en-US" sz="3000" dirty="0"/>
          </a:p>
        </p:txBody>
      </p:sp>
      <p:sp>
        <p:nvSpPr>
          <p:cNvPr id="4" name="Text 2"/>
          <p:cNvSpPr txBox="1"/>
          <p:nvPr/>
        </p:nvSpPr>
        <p:spPr>
          <a:xfrm>
            <a:off x="457200" y="1371600"/>
            <a:ext cx="182880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RUN</a:t>
            </a:r>
            <a:endParaRPr lang="en-US" sz="1200" dirty="0"/>
          </a:p>
        </p:txBody>
      </p:sp>
      <p:sp>
        <p:nvSpPr>
          <p:cNvPr id="5" name="Code panel"/>
          <p:cNvSpPr/>
          <p:nvPr/>
        </p:nvSpPr>
        <p:spPr>
          <a:xfrm>
            <a:off x="457200" y="1645920"/>
            <a:ext cx="4023360" cy="457200"/>
          </a:xfrm>
          <a:prstGeom prst="roundRect">
            <a:avLst>
              <a:gd name="adj" fmla="val 12000"/>
            </a:avLst>
          </a:prstGeom>
          <a:solidFill>
            <a:srgbClr val="17252E"/>
          </a:solidFill>
          <a:ln w="12700">
            <a:solidFill>
              <a:srgbClr val="17252E"/>
            </a:solidFill>
            <a:prstDash val="solid"/>
          </a:ln>
        </p:spPr>
      </p:sp>
      <p:sp>
        <p:nvSpPr>
          <p:cNvPr id="6" name="Code"/>
          <p:cNvSpPr txBox="1"/>
          <p:nvPr/>
        </p:nvSpPr>
        <p:spPr>
          <a:xfrm>
            <a:off x="594360" y="1737360"/>
            <a:ext cx="3749040" cy="274320"/>
          </a:xfrm>
          <a:prstGeom prst="rect">
            <a:avLst/>
          </a:prstGeom>
          <a:noFill/>
          <a:ln/>
        </p:spPr>
        <p:txBody>
          <a:bodyPr wrap="square" lIns="0" tIns="0" rIns="0" bIns="0" rtlCol="0" anchor="t"/>
          <a:lstStyle/>
          <a:p>
            <a:pPr indent="0" marL="0">
              <a:buNone/>
            </a:pPr>
            <a:r>
              <a:rPr lang="en-US" sz="1200" dirty="0">
                <a:solidFill>
                  <a:srgbClr val="E6EDF1"/>
                </a:solidFill>
                <a:latin typeface="Courier New" pitchFamily="34" charset="0"/>
                <a:ea typeface="Courier New" pitchFamily="34" charset="-122"/>
                <a:cs typeface="Courier New" pitchFamily="34" charset="-120"/>
              </a:rPr>
              <a:t>uv run demos/d05_materials_and_geo.py</a:t>
            </a:r>
            <a:endParaRPr lang="en-US" sz="1200" dirty="0"/>
          </a:p>
        </p:txBody>
      </p:sp>
      <p:sp>
        <p:nvSpPr>
          <p:cNvPr id="7" name="Text 5"/>
          <p:cNvSpPr txBox="1"/>
          <p:nvPr/>
        </p:nvSpPr>
        <p:spPr>
          <a:xfrm>
            <a:off x="457200" y="2331720"/>
            <a:ext cx="365760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PROMPT 1 (XRD)</a:t>
            </a:r>
            <a:endParaRPr lang="en-US" sz="1200" dirty="0"/>
          </a:p>
        </p:txBody>
      </p:sp>
      <p:sp>
        <p:nvSpPr>
          <p:cNvPr id="8" name="Text 6"/>
          <p:cNvSpPr txBox="1"/>
          <p:nvPr/>
        </p:nvSpPr>
        <p:spPr>
          <a:xfrm>
            <a:off x="457200" y="2606040"/>
            <a:ext cx="4023360" cy="73152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Al peak at 2θ = 38.47° indexed (111), FWHM 0.30°. Give d, lattice parameter and crystallite size.</a:t>
            </a:r>
            <a:endParaRPr lang="en-US" sz="1400" dirty="0"/>
          </a:p>
        </p:txBody>
      </p:sp>
      <p:sp>
        <p:nvSpPr>
          <p:cNvPr id="9" name="Text 7"/>
          <p:cNvSpPr txBox="1"/>
          <p:nvPr/>
        </p:nvSpPr>
        <p:spPr>
          <a:xfrm>
            <a:off x="457200" y="3383280"/>
            <a:ext cx="365760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PROMPT 2 (ALLOY)</a:t>
            </a:r>
            <a:endParaRPr lang="en-US" sz="1200" dirty="0"/>
          </a:p>
        </p:txBody>
      </p:sp>
      <p:sp>
        <p:nvSpPr>
          <p:cNvPr id="10" name="Text 8"/>
          <p:cNvSpPr txBox="1"/>
          <p:nvPr/>
        </p:nvSpPr>
        <p:spPr>
          <a:xfrm>
            <a:off x="457200" y="3657600"/>
            <a:ext cx="4023360" cy="64008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30% B in A, a_A = 4.05 Å, a_B = 3.61 Å. Vegard lattice parameter?</a:t>
            </a:r>
            <a:endParaRPr lang="en-US" sz="1400" dirty="0"/>
          </a:p>
        </p:txBody>
      </p:sp>
      <p:sp>
        <p:nvSpPr>
          <p:cNvPr id="11" name="Card"/>
          <p:cNvSpPr/>
          <p:nvPr/>
        </p:nvSpPr>
        <p:spPr>
          <a:xfrm>
            <a:off x="4846320" y="1371600"/>
            <a:ext cx="3840480" cy="2926080"/>
          </a:xfrm>
          <a:prstGeom prst="roundRect">
            <a:avLst>
              <a:gd name="adj" fmla="val 2500"/>
            </a:avLst>
          </a:prstGeom>
          <a:solidFill>
            <a:srgbClr val="17252E"/>
          </a:solidFill>
          <a:ln w="12700">
            <a:solidFill>
              <a:srgbClr val="17252E"/>
            </a:solidFill>
            <a:prstDash val="solid"/>
          </a:ln>
        </p:spPr>
      </p:sp>
      <p:sp>
        <p:nvSpPr>
          <p:cNvPr id="12" name="Text 10"/>
          <p:cNvSpPr txBox="1"/>
          <p:nvPr/>
        </p:nvSpPr>
        <p:spPr>
          <a:xfrm>
            <a:off x="4846320" y="1554480"/>
            <a:ext cx="3840480" cy="82296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3.918 Å</a:t>
            </a:r>
            <a:endParaRPr lang="en-US" sz="4000" dirty="0"/>
          </a:p>
        </p:txBody>
      </p:sp>
      <p:sp>
        <p:nvSpPr>
          <p:cNvPr id="13" name="Text 11"/>
          <p:cNvSpPr txBox="1"/>
          <p:nvPr/>
        </p:nvSpPr>
        <p:spPr>
          <a:xfrm>
            <a:off x="4846320" y="2423160"/>
            <a:ext cx="3840480" cy="320040"/>
          </a:xfrm>
          <a:prstGeom prst="rect">
            <a:avLst/>
          </a:prstGeom>
          <a:noFill/>
          <a:ln/>
        </p:spPr>
        <p:txBody>
          <a:bodyPr wrap="square" lIns="0" tIns="0" rIns="0" bIns="0" rtlCol="0" anchor="ctr"/>
          <a:lstStyle/>
          <a:p>
            <a:pPr algn="ctr" indent="0" marL="0">
              <a:buNone/>
            </a:pPr>
            <a:r>
              <a:rPr lang="en-US" sz="1200" dirty="0">
                <a:solidFill>
                  <a:srgbClr val="C9D3D9"/>
                </a:solidFill>
                <a:latin typeface="Calibri" pitchFamily="34" charset="0"/>
                <a:ea typeface="Calibri" pitchFamily="34" charset="-122"/>
                <a:cs typeface="Calibri" pitchFamily="34" charset="-120"/>
              </a:rPr>
              <a:t>Vegard: (1 - 0.3) x 4.05 + 0.3 x 3.61</a:t>
            </a:r>
            <a:endParaRPr lang="en-US" sz="1200" dirty="0"/>
          </a:p>
        </p:txBody>
      </p:sp>
      <p:sp>
        <p:nvSpPr>
          <p:cNvPr id="14" name="Text 12"/>
          <p:cNvSpPr txBox="1"/>
          <p:nvPr/>
        </p:nvSpPr>
        <p:spPr>
          <a:xfrm>
            <a:off x="5120640" y="2926080"/>
            <a:ext cx="3383280" cy="12801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bg1"/>
                </a:solidFill>
                <a:latin typeface="Calibri" pitchFamily="34" charset="0"/>
                <a:ea typeface="Calibri" pitchFamily="34" charset="-122"/>
                <a:cs typeface="Calibri" pitchFamily="34" charset="-120"/>
              </a:rPr>
              <a:t>Does the model pick the right order?</a:t>
            </a:r>
            <a:endParaRPr lang="en-US" sz="1300" dirty="0"/>
          </a:p>
          <a:p>
            <a:pPr marL="342900" indent="-342900">
              <a:spcAft>
                <a:spcPts val="400"/>
              </a:spcAft>
              <a:buSzPct val="100000"/>
              <a:buChar char="•"/>
            </a:pPr>
            <a:r>
              <a:rPr lang="en-US" sz="1300" dirty="0">
                <a:solidFill>
                  <a:schemeClr val="bg1"/>
                </a:solidFill>
                <a:latin typeface="Calibri" pitchFamily="34" charset="0"/>
                <a:ea typeface="Calibri" pitchFamily="34" charset="-122"/>
                <a:cs typeface="Calibri" pitchFamily="34" charset="-120"/>
              </a:rPr>
              <a:t>Does it state units and caveats?</a:t>
            </a:r>
            <a:endParaRPr lang="en-US" sz="1300" dirty="0"/>
          </a:p>
          <a:p>
            <a:pPr marL="342900" indent="-342900">
              <a:spcAft>
                <a:spcPts val="400"/>
              </a:spcAft>
              <a:buSzPct val="100000"/>
              <a:buChar char="•"/>
            </a:pPr>
            <a:r>
              <a:rPr lang="en-US" sz="1300" dirty="0">
                <a:solidFill>
                  <a:schemeClr val="bg1"/>
                </a:solidFill>
                <a:latin typeface="Calibri" pitchFamily="34" charset="0"/>
                <a:ea typeface="Calibri" pitchFamily="34" charset="-122"/>
                <a:cs typeface="Calibri" pitchFamily="34" charset="-120"/>
              </a:rPr>
              <a:t>Which numbers came from tools?</a:t>
            </a:r>
            <a:endParaRPr lang="en-US" sz="13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5 · MATERIALS AND GEOSCIENCE · 7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Geoscience: reflection strength from rocks</a:t>
            </a:r>
            <a:endParaRPr lang="en-US" sz="3000" dirty="0"/>
          </a:p>
        </p:txBody>
      </p:sp>
      <p:graphicFrame>
        <p:nvGraphicFramePr>
          <p:cNvPr id="4" name="Chart 0" descr=""/>
          <p:cNvGraphicFramePr/>
          <p:nvPr/>
        </p:nvGraphicFramePr>
        <p:xfrm>
          <a:off x="457200" y="1371600"/>
          <a:ext cx="5120640" cy="310896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5760720" y="1371600"/>
            <a:ext cx="2926080" cy="3108960"/>
          </a:xfrm>
          <a:prstGeom prst="roundRect">
            <a:avLst>
              <a:gd name="adj" fmla="val 25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5943600" y="1481328"/>
            <a:ext cx="2651760" cy="274320"/>
          </a:xfrm>
          <a:prstGeom prst="rect">
            <a:avLst/>
          </a:prstGeom>
          <a:noFill/>
          <a:ln/>
        </p:spPr>
        <p:txBody>
          <a:bodyPr wrap="square" lIns="0" tIns="0" rIns="0" bIns="0" rtlCol="0" anchor="ctr"/>
          <a:lstStyle/>
          <a:p>
            <a:pPr indent="0" marL="0">
              <a:buNone/>
            </a:pPr>
            <a:r>
              <a:rPr lang="en-US" sz="1100" b="1" dirty="0">
                <a:solidFill>
                  <a:schemeClr val="accent1"/>
                </a:solidFill>
                <a:latin typeface="Calibri" pitchFamily="34" charset="0"/>
                <a:ea typeface="Calibri" pitchFamily="34" charset="-122"/>
                <a:cs typeface="Calibri" pitchFamily="34" charset="-120"/>
              </a:rPr>
              <a:t>TOOL CHAIN PER INTERFACE</a:t>
            </a:r>
            <a:endParaRPr lang="en-US" sz="1100" dirty="0"/>
          </a:p>
        </p:txBody>
      </p:sp>
      <p:sp>
        <p:nvSpPr>
          <p:cNvPr id="7" name="Text 4"/>
          <p:cNvSpPr txBox="1"/>
          <p:nvPr/>
        </p:nvSpPr>
        <p:spPr>
          <a:xfrm>
            <a:off x="5943600" y="1828800"/>
            <a:ext cx="2560320" cy="20116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1"/>
                </a:solidFill>
                <a:latin typeface="Calibri" pitchFamily="34" charset="0"/>
                <a:ea typeface="Calibri" pitchFamily="34" charset="-122"/>
                <a:cs typeface="Calibri" pitchFamily="34" charset="-120"/>
              </a:rPr>
              <a:t>gardner_density for each Vp</a:t>
            </a:r>
            <a:endParaRPr lang="en-US" sz="1250" dirty="0"/>
          </a:p>
          <a:p>
            <a:pPr marL="342900" indent="-342900">
              <a:spcAft>
                <a:spcPts val="500"/>
              </a:spcAft>
              <a:buSzPct val="100000"/>
              <a:buChar char="•"/>
            </a:pPr>
            <a:r>
              <a:rPr lang="en-US" sz="1250" dirty="0">
                <a:solidFill>
                  <a:schemeClr val="tx1"/>
                </a:solidFill>
                <a:latin typeface="Calibri" pitchFamily="34" charset="0"/>
                <a:ea typeface="Calibri" pitchFamily="34" charset="-122"/>
                <a:cs typeface="Calibri" pitchFamily="34" charset="-120"/>
              </a:rPr>
              <a:t>acoustic_impedance</a:t>
            </a:r>
            <a:endParaRPr lang="en-US" sz="1250" dirty="0"/>
          </a:p>
          <a:p>
            <a:pPr marL="342900" indent="-342900">
              <a:spcAft>
                <a:spcPts val="500"/>
              </a:spcAft>
              <a:buSzPct val="100000"/>
              <a:buChar char="•"/>
            </a:pPr>
            <a:r>
              <a:rPr lang="en-US" sz="1250" dirty="0">
                <a:solidFill>
                  <a:schemeClr val="tx1"/>
                </a:solidFill>
                <a:latin typeface="Calibri" pitchFamily="34" charset="0"/>
                <a:ea typeface="Calibri" pitchFamily="34" charset="-122"/>
                <a:cs typeface="Calibri" pitchFamily="34" charset="-120"/>
              </a:rPr>
              <a:t>reflection_coefficient</a:t>
            </a:r>
            <a:endParaRPr lang="en-US" sz="1250" dirty="0"/>
          </a:p>
          <a:p>
            <a:pPr marL="342900" indent="-342900">
              <a:spcAft>
                <a:spcPts val="500"/>
              </a:spcAft>
              <a:buSzPct val="100000"/>
              <a:buChar char="•"/>
            </a:pPr>
            <a:r>
              <a:rPr lang="en-US" sz="1250" dirty="0">
                <a:solidFill>
                  <a:schemeClr val="tx1"/>
                </a:solidFill>
                <a:latin typeface="Calibri" pitchFamily="34" charset="0"/>
                <a:ea typeface="Calibri" pitchFamily="34" charset="-122"/>
                <a:cs typeface="Calibri" pitchFamily="34" charset="-120"/>
              </a:rPr>
              <a:t>Resource: geo://rock-properties for typical Vp</a:t>
            </a:r>
            <a:endParaRPr lang="en-US" sz="1250" dirty="0"/>
          </a:p>
        </p:txBody>
      </p:sp>
      <p:sp>
        <p:nvSpPr>
          <p:cNvPr id="8" name="Text 5"/>
          <p:cNvSpPr txBox="1"/>
          <p:nvPr/>
        </p:nvSpPr>
        <p:spPr>
          <a:xfrm>
            <a:off x="5943600" y="3657600"/>
            <a:ext cx="2560320" cy="731520"/>
          </a:xfrm>
          <a:prstGeom prst="rect">
            <a:avLst/>
          </a:prstGeom>
          <a:noFill/>
          <a:ln/>
        </p:spPr>
        <p:txBody>
          <a:bodyPr wrap="square" lIns="0" tIns="0" rIns="0" bIns="0" rtlCol="0" anchor="t"/>
          <a:lstStyle/>
          <a:p>
            <a:pPr indent="0" marL="0">
              <a:buNone/>
            </a:pPr>
            <a:r>
              <a:rPr lang="en-US" sz="1100" i="1" dirty="0">
                <a:solidFill>
                  <a:schemeClr val="tx2"/>
                </a:solidFill>
                <a:latin typeface="Calibri" pitchFamily="34" charset="0"/>
                <a:ea typeface="Calibri" pitchFamily="34" charset="-122"/>
                <a:cs typeface="Calibri" pitchFamily="34" charset="-120"/>
              </a:rPr>
              <a:t>Vp values: shale 2800, sandstone 3600, salt 4500, limestone 5200 m/s.</a:t>
            </a:r>
            <a:endParaRPr lang="en-US" sz="11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5 · MATERIALS AND GEOSCIENCE · 7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One agent, many servers</a:t>
            </a:r>
            <a:endParaRPr lang="en-US" sz="3000" dirty="0"/>
          </a:p>
        </p:txBody>
      </p:sp>
      <p:sp>
        <p:nvSpPr>
          <p:cNvPr id="4" name="Box"/>
          <p:cNvSpPr txBox="1"/>
          <p:nvPr/>
        </p:nvSpPr>
        <p:spPr>
          <a:xfrm>
            <a:off x="457200" y="1874520"/>
            <a:ext cx="1920240" cy="1188720"/>
          </a:xfrm>
          <a:prstGeom prst="roundRect">
            <a:avLst>
              <a:gd name="adj" fmla="val 6154"/>
            </a:avLst>
          </a:prstGeom>
          <a:solidFill>
            <a:srgbClr val="2F4858"/>
          </a:solidFill>
          <a:ln/>
        </p:spPr>
        <p:txBody>
          <a:bodyPr wrap="square" lIns="50800" tIns="50800" rIns="50800" bIns="5080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Agent loop</a:t>
            </a:r>
            <a:endParaRPr lang="en-US" sz="1400" dirty="0"/>
          </a:p>
          <a:p>
            <a:pPr algn="ctr" indent="0" marL="0">
              <a:buNone/>
            </a:pPr>
            <a:r>
              <a:rPr lang="en-US" sz="1400" b="1" dirty="0">
                <a:solidFill>
                  <a:schemeClr val="bg1"/>
                </a:solidFill>
                <a:latin typeface="Calibri" pitchFamily="34" charset="0"/>
                <a:ea typeface="Calibri" pitchFamily="34" charset="-122"/>
                <a:cs typeface="Calibri" pitchFamily="34" charset="-120"/>
              </a:rPr>
              <a:t>(agent.py)</a:t>
            </a:r>
            <a:endParaRPr lang="en-US" sz="1400" dirty="0"/>
          </a:p>
        </p:txBody>
      </p:sp>
      <p:sp>
        <p:nvSpPr>
          <p:cNvPr id="5" name="Box"/>
          <p:cNvSpPr txBox="1"/>
          <p:nvPr/>
        </p:nvSpPr>
        <p:spPr>
          <a:xfrm>
            <a:off x="3017520" y="1874520"/>
            <a:ext cx="1920240" cy="1188720"/>
          </a:xfrm>
          <a:prstGeom prst="roundRect">
            <a:avLst>
              <a:gd name="adj" fmla="val 6154"/>
            </a:avLst>
          </a:prstGeom>
          <a:solidFill>
            <a:srgbClr val="3D5A80"/>
          </a:solidFill>
          <a:ln/>
        </p:spPr>
        <p:txBody>
          <a:bodyPr wrap="square" lIns="50800" tIns="50800" rIns="50800" bIns="5080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Toolbox</a:t>
            </a:r>
            <a:endParaRPr lang="en-US" sz="1400" dirty="0"/>
          </a:p>
          <a:p>
            <a:pPr algn="ctr" indent="0" marL="0">
              <a:buNone/>
            </a:pPr>
            <a:r>
              <a:rPr lang="en-US" sz="1400" b="1" dirty="0">
                <a:solidFill>
                  <a:schemeClr val="bg1"/>
                </a:solidFill>
                <a:latin typeface="Calibri" pitchFamily="34" charset="0"/>
                <a:ea typeface="Calibri" pitchFamily="34" charset="-122"/>
                <a:cs typeface="Calibri" pitchFamily="34" charset="-120"/>
              </a:rPr>
              <a:t>namespaces tools</a:t>
            </a:r>
            <a:endParaRPr lang="en-US" sz="1400" dirty="0"/>
          </a:p>
        </p:txBody>
      </p:sp>
      <p:sp>
        <p:nvSpPr>
          <p:cNvPr id="6" name="Box"/>
          <p:cNvSpPr txBox="1"/>
          <p:nvPr/>
        </p:nvSpPr>
        <p:spPr>
          <a:xfrm>
            <a:off x="5852160" y="1417320"/>
            <a:ext cx="2834640" cy="822960"/>
          </a:xfrm>
          <a:prstGeom prst="roundRect">
            <a:avLst>
              <a:gd name="adj" fmla="val 8889"/>
            </a:avLst>
          </a:prstGeom>
          <a:solidFill>
            <a:srgbClr val="1F8A8A"/>
          </a:solidFill>
          <a:ln/>
        </p:spPr>
        <p:txBody>
          <a:bodyPr wrap="square" lIns="50800" tIns="50800" rIns="50800" bIns="5080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materials server</a:t>
            </a:r>
            <a:endParaRPr lang="en-US" sz="1400" dirty="0"/>
          </a:p>
          <a:p>
            <a:pPr algn="ctr" indent="0" marL="0">
              <a:buNone/>
            </a:pPr>
            <a:r>
              <a:rPr lang="en-US" sz="1400" b="1" dirty="0">
                <a:solidFill>
                  <a:schemeClr val="bg1"/>
                </a:solidFill>
                <a:latin typeface="Calibri" pitchFamily="34" charset="0"/>
                <a:ea typeface="Calibri" pitchFamily="34" charset="-122"/>
                <a:cs typeface="Calibri" pitchFamily="34" charset="-120"/>
              </a:rPr>
              <a:t>5 tools</a:t>
            </a:r>
            <a:endParaRPr lang="en-US" sz="1400" dirty="0"/>
          </a:p>
        </p:txBody>
      </p:sp>
      <p:sp>
        <p:nvSpPr>
          <p:cNvPr id="7" name="Box"/>
          <p:cNvSpPr txBox="1"/>
          <p:nvPr/>
        </p:nvSpPr>
        <p:spPr>
          <a:xfrm>
            <a:off x="5852160" y="2697480"/>
            <a:ext cx="2834640" cy="822960"/>
          </a:xfrm>
          <a:prstGeom prst="roundRect">
            <a:avLst>
              <a:gd name="adj" fmla="val 8889"/>
            </a:avLst>
          </a:prstGeom>
          <a:solidFill>
            <a:srgbClr val="E8871E"/>
          </a:solidFill>
          <a:ln/>
        </p:spPr>
        <p:txBody>
          <a:bodyPr wrap="square" lIns="50800" tIns="50800" rIns="50800" bIns="5080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geoscience server</a:t>
            </a:r>
            <a:endParaRPr lang="en-US" sz="1400" dirty="0"/>
          </a:p>
          <a:p>
            <a:pPr algn="ctr" indent="0" marL="0">
              <a:buNone/>
            </a:pPr>
            <a:r>
              <a:rPr lang="en-US" sz="1400" b="1" dirty="0">
                <a:solidFill>
                  <a:schemeClr val="bg1"/>
                </a:solidFill>
                <a:latin typeface="Calibri" pitchFamily="34" charset="0"/>
                <a:ea typeface="Calibri" pitchFamily="34" charset="-122"/>
                <a:cs typeface="Calibri" pitchFamily="34" charset="-120"/>
              </a:rPr>
              <a:t>4 tools, 2 resources</a:t>
            </a:r>
            <a:endParaRPr lang="en-US" sz="1400" dirty="0"/>
          </a:p>
        </p:txBody>
      </p:sp>
      <p:sp>
        <p:nvSpPr>
          <p:cNvPr id="8" name="Shape 6"/>
          <p:cNvSpPr/>
          <p:nvPr/>
        </p:nvSpPr>
        <p:spPr>
          <a:xfrm>
            <a:off x="2395728" y="2468880"/>
            <a:ext cx="594360" cy="0"/>
          </a:xfrm>
          <a:prstGeom prst="line">
            <a:avLst/>
          </a:prstGeom>
          <a:noFill/>
          <a:ln w="25400">
            <a:solidFill>
              <a:schemeClr val="accent6"/>
            </a:solidFill>
            <a:prstDash val="solid"/>
            <a:tailEnd type="triangle"/>
          </a:ln>
        </p:spPr>
      </p:sp>
      <p:sp>
        <p:nvSpPr>
          <p:cNvPr id="9" name="Shape 7"/>
          <p:cNvSpPr/>
          <p:nvPr/>
        </p:nvSpPr>
        <p:spPr>
          <a:xfrm>
            <a:off x="4956048" y="2286000"/>
            <a:ext cx="868680" cy="-457200"/>
          </a:xfrm>
          <a:prstGeom prst="line">
            <a:avLst/>
          </a:prstGeom>
          <a:noFill/>
          <a:ln w="25400">
            <a:solidFill>
              <a:schemeClr val="accent6"/>
            </a:solidFill>
            <a:prstDash val="solid"/>
            <a:tailEnd type="triangle"/>
          </a:ln>
        </p:spPr>
      </p:sp>
      <p:sp>
        <p:nvSpPr>
          <p:cNvPr id="10" name="Shape 8"/>
          <p:cNvSpPr/>
          <p:nvPr/>
        </p:nvSpPr>
        <p:spPr>
          <a:xfrm>
            <a:off x="4956048" y="2651760"/>
            <a:ext cx="868680" cy="457200"/>
          </a:xfrm>
          <a:prstGeom prst="line">
            <a:avLst/>
          </a:prstGeom>
          <a:noFill/>
          <a:ln w="25400">
            <a:solidFill>
              <a:schemeClr val="accent6"/>
            </a:solidFill>
            <a:prstDash val="solid"/>
            <a:tailEnd type="triangle"/>
          </a:ln>
        </p:spPr>
      </p:sp>
      <p:sp>
        <p:nvSpPr>
          <p:cNvPr id="11" name="Code panel"/>
          <p:cNvSpPr/>
          <p:nvPr/>
        </p:nvSpPr>
        <p:spPr>
          <a:xfrm>
            <a:off x="457200" y="3657600"/>
            <a:ext cx="4572000" cy="731520"/>
          </a:xfrm>
          <a:prstGeom prst="roundRect">
            <a:avLst>
              <a:gd name="adj" fmla="val 7500"/>
            </a:avLst>
          </a:prstGeom>
          <a:solidFill>
            <a:srgbClr val="17252E"/>
          </a:solidFill>
          <a:ln w="12700">
            <a:solidFill>
              <a:srgbClr val="17252E"/>
            </a:solidFill>
            <a:prstDash val="solid"/>
          </a:ln>
        </p:spPr>
      </p:sp>
      <p:sp>
        <p:nvSpPr>
          <p:cNvPr id="12" name="Code"/>
          <p:cNvSpPr txBox="1"/>
          <p:nvPr/>
        </p:nvSpPr>
        <p:spPr>
          <a:xfrm>
            <a:off x="594360" y="3749040"/>
            <a:ext cx="4297680" cy="548640"/>
          </a:xfrm>
          <a:prstGeom prst="rect">
            <a:avLst/>
          </a:prstGeom>
          <a:noFill/>
          <a:ln/>
        </p:spPr>
        <p:txBody>
          <a:bodyPr wrap="square" lIns="0" tIns="0" rIns="0" bIns="0" rtlCol="0" anchor="t"/>
          <a:lstStyle/>
          <a:p>
            <a:pPr indent="0" marL="0">
              <a:buNone/>
            </a:pPr>
            <a:r>
              <a:rPr lang="en-US" sz="1100" dirty="0">
                <a:solidFill>
                  <a:srgbClr val="E6EDF1"/>
                </a:solidFill>
                <a:latin typeface="Courier New" pitchFamily="34" charset="0"/>
                <a:ea typeface="Courier New" pitchFamily="34" charset="-122"/>
                <a:cs typeface="Courier New" pitchFamily="34" charset="-120"/>
              </a:rPr>
              <a:t>materials__scherrer_crystallite_size</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geo__reflection_coefficient</a:t>
            </a:r>
            <a:endParaRPr lang="en-US" sz="1100" dirty="0"/>
          </a:p>
        </p:txBody>
      </p:sp>
      <p:sp>
        <p:nvSpPr>
          <p:cNvPr id="13" name="Text 11"/>
          <p:cNvSpPr txBox="1"/>
          <p:nvPr/>
        </p:nvSpPr>
        <p:spPr>
          <a:xfrm>
            <a:off x="5212080" y="3657600"/>
            <a:ext cx="3474720" cy="73152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Prefix = server name, so identical tool names never collide.</a:t>
            </a:r>
            <a:endParaRPr lang="en-US" sz="13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6 · PARALLEL CALLS · 5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Parallel tool calls</a:t>
            </a:r>
            <a:endParaRPr lang="en-US" sz="3000" dirty="0"/>
          </a:p>
        </p:txBody>
      </p:sp>
      <p:sp>
        <p:nvSpPr>
          <p:cNvPr id="4" name="Text 2"/>
          <p:cNvSpPr txBox="1"/>
          <p:nvPr/>
        </p:nvSpPr>
        <p:spPr>
          <a:xfrm>
            <a:off x="457200" y="1371600"/>
            <a:ext cx="457200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SEQUENTIAL  (one call per model turn)</a:t>
            </a:r>
            <a:endParaRPr lang="en-US" sz="1200" dirty="0"/>
          </a:p>
        </p:txBody>
      </p:sp>
      <p:sp>
        <p:nvSpPr>
          <p:cNvPr id="5" name="Box"/>
          <p:cNvSpPr txBox="1"/>
          <p:nvPr/>
        </p:nvSpPr>
        <p:spPr>
          <a:xfrm>
            <a:off x="457200" y="1691640"/>
            <a:ext cx="1234440" cy="457200"/>
          </a:xfrm>
          <a:prstGeom prst="roundRect">
            <a:avLst>
              <a:gd name="adj" fmla="val 16000"/>
            </a:avLst>
          </a:prstGeom>
          <a:solidFill>
            <a:srgbClr val="C8553D"/>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A1  1.5 s</a:t>
            </a:r>
            <a:endParaRPr lang="en-US" sz="1200" dirty="0"/>
          </a:p>
        </p:txBody>
      </p:sp>
      <p:sp>
        <p:nvSpPr>
          <p:cNvPr id="6" name="Box"/>
          <p:cNvSpPr txBox="1"/>
          <p:nvPr/>
        </p:nvSpPr>
        <p:spPr>
          <a:xfrm>
            <a:off x="1737360" y="1691640"/>
            <a:ext cx="1234440" cy="457200"/>
          </a:xfrm>
          <a:prstGeom prst="roundRect">
            <a:avLst>
              <a:gd name="adj" fmla="val 16000"/>
            </a:avLst>
          </a:prstGeom>
          <a:solidFill>
            <a:srgbClr val="C8553D"/>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A2  1.5 s</a:t>
            </a:r>
            <a:endParaRPr lang="en-US" sz="1200" dirty="0"/>
          </a:p>
        </p:txBody>
      </p:sp>
      <p:sp>
        <p:nvSpPr>
          <p:cNvPr id="7" name="Box"/>
          <p:cNvSpPr txBox="1"/>
          <p:nvPr/>
        </p:nvSpPr>
        <p:spPr>
          <a:xfrm>
            <a:off x="3017520" y="1691640"/>
            <a:ext cx="1234440" cy="457200"/>
          </a:xfrm>
          <a:prstGeom prst="roundRect">
            <a:avLst>
              <a:gd name="adj" fmla="val 16000"/>
            </a:avLst>
          </a:prstGeom>
          <a:solidFill>
            <a:srgbClr val="C8553D"/>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A3  1.5 s</a:t>
            </a:r>
            <a:endParaRPr lang="en-US" sz="1200" dirty="0"/>
          </a:p>
        </p:txBody>
      </p:sp>
      <p:sp>
        <p:nvSpPr>
          <p:cNvPr id="8" name="Box"/>
          <p:cNvSpPr txBox="1"/>
          <p:nvPr/>
        </p:nvSpPr>
        <p:spPr>
          <a:xfrm>
            <a:off x="4297680" y="1691640"/>
            <a:ext cx="1234440" cy="457200"/>
          </a:xfrm>
          <a:prstGeom prst="roundRect">
            <a:avLst>
              <a:gd name="adj" fmla="val 16000"/>
            </a:avLst>
          </a:prstGeom>
          <a:solidFill>
            <a:srgbClr val="C8553D"/>
          </a:solidFill>
          <a:ln/>
        </p:spPr>
        <p:txBody>
          <a:bodyPr wrap="square" lIns="50800" tIns="50800" rIns="50800" bIns="5080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A4  1.5 s</a:t>
            </a:r>
            <a:endParaRPr lang="en-US" sz="1200" dirty="0"/>
          </a:p>
        </p:txBody>
      </p:sp>
      <p:sp>
        <p:nvSpPr>
          <p:cNvPr id="9" name="Text 7"/>
          <p:cNvSpPr txBox="1"/>
          <p:nvPr/>
        </p:nvSpPr>
        <p:spPr>
          <a:xfrm>
            <a:off x="5669280" y="1691640"/>
            <a:ext cx="1645920" cy="457200"/>
          </a:xfrm>
          <a:prstGeom prst="rect">
            <a:avLst/>
          </a:prstGeom>
          <a:noFill/>
          <a:ln/>
        </p:spPr>
        <p:txBody>
          <a:bodyPr wrap="square" lIns="0" tIns="0" rIns="0" bIns="0" rtlCol="0" anchor="ctr"/>
          <a:lstStyle/>
          <a:p>
            <a:pPr indent="0" marL="0">
              <a:buNone/>
            </a:pPr>
            <a:r>
              <a:rPr lang="en-US" sz="1400" b="1" dirty="0">
                <a:solidFill>
                  <a:schemeClr val="accent4"/>
                </a:solidFill>
                <a:latin typeface="Calibri" pitchFamily="34" charset="0"/>
                <a:ea typeface="Calibri" pitchFamily="34" charset="-122"/>
                <a:cs typeface="Calibri" pitchFamily="34" charset="-120"/>
              </a:rPr>
              <a:t>total ≈ 6 s</a:t>
            </a:r>
            <a:endParaRPr lang="en-US" sz="1400" dirty="0"/>
          </a:p>
        </p:txBody>
      </p:sp>
      <p:sp>
        <p:nvSpPr>
          <p:cNvPr id="10" name="Text 8"/>
          <p:cNvSpPr txBox="1"/>
          <p:nvPr/>
        </p:nvSpPr>
        <p:spPr>
          <a:xfrm>
            <a:off x="457200" y="2468880"/>
            <a:ext cx="548640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PARALLEL  (one model turn, several tool_calls)</a:t>
            </a:r>
            <a:endParaRPr lang="en-US" sz="1200" dirty="0"/>
          </a:p>
        </p:txBody>
      </p:sp>
      <p:sp>
        <p:nvSpPr>
          <p:cNvPr id="11" name="Parallel bar"/>
          <p:cNvSpPr txBox="1"/>
          <p:nvPr/>
        </p:nvSpPr>
        <p:spPr>
          <a:xfrm>
            <a:off x="457200" y="2788920"/>
            <a:ext cx="1234440" cy="228600"/>
          </a:xfrm>
          <a:prstGeom prst="roundRect">
            <a:avLst>
              <a:gd name="adj" fmla="val 32000"/>
            </a:avLst>
          </a:prstGeom>
          <a:solidFill>
            <a:srgbClr val="1F8A8A"/>
          </a:solidFill>
          <a:ln/>
        </p:spPr>
        <p:txBody>
          <a:bodyPr wrap="square" lIns="50800" tIns="50800" rIns="50800" bIns="5080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A1</a:t>
            </a:r>
            <a:endParaRPr lang="en-US" sz="1000" dirty="0"/>
          </a:p>
        </p:txBody>
      </p:sp>
      <p:sp>
        <p:nvSpPr>
          <p:cNvPr id="12" name="Parallel bar"/>
          <p:cNvSpPr txBox="1"/>
          <p:nvPr/>
        </p:nvSpPr>
        <p:spPr>
          <a:xfrm>
            <a:off x="457200" y="3063240"/>
            <a:ext cx="1234440" cy="228600"/>
          </a:xfrm>
          <a:prstGeom prst="roundRect">
            <a:avLst>
              <a:gd name="adj" fmla="val 32000"/>
            </a:avLst>
          </a:prstGeom>
          <a:solidFill>
            <a:srgbClr val="1F8A8A"/>
          </a:solidFill>
          <a:ln/>
        </p:spPr>
        <p:txBody>
          <a:bodyPr wrap="square" lIns="50800" tIns="50800" rIns="50800" bIns="5080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A2</a:t>
            </a:r>
            <a:endParaRPr lang="en-US" sz="1000" dirty="0"/>
          </a:p>
        </p:txBody>
      </p:sp>
      <p:sp>
        <p:nvSpPr>
          <p:cNvPr id="13" name="Parallel bar"/>
          <p:cNvSpPr txBox="1"/>
          <p:nvPr/>
        </p:nvSpPr>
        <p:spPr>
          <a:xfrm>
            <a:off x="457200" y="3337560"/>
            <a:ext cx="1234440" cy="228600"/>
          </a:xfrm>
          <a:prstGeom prst="roundRect">
            <a:avLst>
              <a:gd name="adj" fmla="val 32000"/>
            </a:avLst>
          </a:prstGeom>
          <a:solidFill>
            <a:srgbClr val="1F8A8A"/>
          </a:solidFill>
          <a:ln/>
        </p:spPr>
        <p:txBody>
          <a:bodyPr wrap="square" lIns="50800" tIns="50800" rIns="50800" bIns="5080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A3</a:t>
            </a:r>
            <a:endParaRPr lang="en-US" sz="1000" dirty="0"/>
          </a:p>
        </p:txBody>
      </p:sp>
      <p:sp>
        <p:nvSpPr>
          <p:cNvPr id="14" name="Parallel bar"/>
          <p:cNvSpPr txBox="1"/>
          <p:nvPr/>
        </p:nvSpPr>
        <p:spPr>
          <a:xfrm>
            <a:off x="457200" y="3611880"/>
            <a:ext cx="1234440" cy="228600"/>
          </a:xfrm>
          <a:prstGeom prst="roundRect">
            <a:avLst>
              <a:gd name="adj" fmla="val 32000"/>
            </a:avLst>
          </a:prstGeom>
          <a:solidFill>
            <a:srgbClr val="1F8A8A"/>
          </a:solidFill>
          <a:ln/>
        </p:spPr>
        <p:txBody>
          <a:bodyPr wrap="square" lIns="50800" tIns="50800" rIns="50800" bIns="5080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A4</a:t>
            </a:r>
            <a:endParaRPr lang="en-US" sz="1000" dirty="0"/>
          </a:p>
        </p:txBody>
      </p:sp>
      <p:sp>
        <p:nvSpPr>
          <p:cNvPr id="15" name="Text 13"/>
          <p:cNvSpPr txBox="1"/>
          <p:nvPr/>
        </p:nvSpPr>
        <p:spPr>
          <a:xfrm>
            <a:off x="2011680" y="2788920"/>
            <a:ext cx="1645920" cy="105156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total ≈ 1.5 s</a:t>
            </a:r>
            <a:endParaRPr lang="en-US" sz="1400" dirty="0"/>
          </a:p>
        </p:txBody>
      </p:sp>
      <p:sp>
        <p:nvSpPr>
          <p:cNvPr id="16" name="Card"/>
          <p:cNvSpPr/>
          <p:nvPr/>
        </p:nvSpPr>
        <p:spPr>
          <a:xfrm>
            <a:off x="4572000" y="2514600"/>
            <a:ext cx="411480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4754880" y="2651760"/>
            <a:ext cx="374904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Independent calls can share one assistant message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Each result returns with its own tool_call_id</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Needs the model and server to support it</a:t>
            </a:r>
            <a:endParaRPr lang="en-US" sz="13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6 · PARALLEL CALLS · 5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Running calls concurrently</a:t>
            </a:r>
            <a:endParaRPr lang="en-US" sz="3000" dirty="0"/>
          </a:p>
        </p:txBody>
      </p:sp>
      <p:sp>
        <p:nvSpPr>
          <p:cNvPr id="4" name="Code panel"/>
          <p:cNvSpPr/>
          <p:nvPr/>
        </p:nvSpPr>
        <p:spPr>
          <a:xfrm>
            <a:off x="457200" y="1417320"/>
            <a:ext cx="4846320" cy="2743200"/>
          </a:xfrm>
          <a:prstGeom prst="roundRect">
            <a:avLst>
              <a:gd name="adj" fmla="val 2000"/>
            </a:avLst>
          </a:prstGeom>
          <a:solidFill>
            <a:srgbClr val="17252E"/>
          </a:solidFill>
          <a:ln w="12700">
            <a:solidFill>
              <a:srgbClr val="17252E"/>
            </a:solidFill>
            <a:prstDash val="solid"/>
          </a:ln>
        </p:spPr>
      </p:sp>
      <p:sp>
        <p:nvSpPr>
          <p:cNvPr id="5" name="Code"/>
          <p:cNvSpPr txBox="1"/>
          <p:nvPr/>
        </p:nvSpPr>
        <p:spPr>
          <a:xfrm>
            <a:off x="594360" y="1508760"/>
            <a:ext cx="4572000" cy="2560320"/>
          </a:xfrm>
          <a:prstGeom prst="rect">
            <a:avLst/>
          </a:prstGeom>
          <a:noFill/>
          <a:ln/>
        </p:spPr>
        <p:txBody>
          <a:bodyPr wrap="square" lIns="0" tIns="0" rIns="0" bIns="0" rtlCol="0" anchor="t"/>
          <a:lstStyle/>
          <a:p>
            <a:pPr indent="0" marL="0">
              <a:buNone/>
            </a:pPr>
            <a:r>
              <a:rPr lang="en-US" sz="1100" dirty="0">
                <a:solidFill>
                  <a:srgbClr val="E6EDF1"/>
                </a:solidFill>
                <a:latin typeface="Courier New" pitchFamily="34" charset="0"/>
                <a:ea typeface="Courier New" pitchFamily="34" charset="-122"/>
                <a:cs typeface="Courier New" pitchFamily="34" charset="-120"/>
              </a:rPr>
              <a:t>calls = msg.tool_calls or []</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messages.append(msg.model_dump(exclude_none=True))</a:t>
            </a:r>
            <a:endParaRPr lang="en-US" sz="1100" dirty="0"/>
          </a:p>
          <a:p>
            <a:pPr indent="0" marL="0">
              <a:buNone/>
            </a:pP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done = await asyncio.gather(</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*(execute(c) for c in calls))</a:t>
            </a:r>
            <a:endParaRPr lang="en-US" sz="1100" dirty="0"/>
          </a:p>
          <a:p>
            <a:pPr indent="0" marL="0">
              <a:buNone/>
            </a:pP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for call, trace in done:</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messages.append({</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"role": "tool",</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"tool_call_id": call.id,</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"content": trace.output})</a:t>
            </a:r>
            <a:endParaRPr lang="en-US" sz="1100" dirty="0"/>
          </a:p>
        </p:txBody>
      </p:sp>
      <p:sp>
        <p:nvSpPr>
          <p:cNvPr id="6" name="Card"/>
          <p:cNvSpPr/>
          <p:nvPr/>
        </p:nvSpPr>
        <p:spPr>
          <a:xfrm>
            <a:off x="5486400" y="1417320"/>
            <a:ext cx="3200400" cy="2743200"/>
          </a:xfrm>
          <a:prstGeom prst="roundRect">
            <a:avLst>
              <a:gd name="adj" fmla="val 266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5669280" y="1527048"/>
            <a:ext cx="2743200" cy="274320"/>
          </a:xfrm>
          <a:prstGeom prst="rect">
            <a:avLst/>
          </a:prstGeom>
          <a:noFill/>
          <a:ln/>
        </p:spPr>
        <p:txBody>
          <a:bodyPr wrap="square" lIns="0" tIns="0" rIns="0" bIns="0" rtlCol="0" anchor="ctr"/>
          <a:lstStyle/>
          <a:p>
            <a:pPr indent="0" marL="0">
              <a:buNone/>
            </a:pPr>
            <a:r>
              <a:rPr lang="en-US" sz="1100" b="1" dirty="0">
                <a:solidFill>
                  <a:schemeClr val="accent1"/>
                </a:solidFill>
                <a:latin typeface="Calibri" pitchFamily="34" charset="0"/>
                <a:ea typeface="Calibri" pitchFamily="34" charset="-122"/>
                <a:cs typeface="Calibri" pitchFamily="34" charset="-120"/>
              </a:rPr>
              <a:t>WATCH OUT FOR</a:t>
            </a:r>
            <a:endParaRPr lang="en-US" sz="1100" dirty="0"/>
          </a:p>
        </p:txBody>
      </p:sp>
      <p:sp>
        <p:nvSpPr>
          <p:cNvPr id="8" name="Text 6"/>
          <p:cNvSpPr txBox="1"/>
          <p:nvPr/>
        </p:nvSpPr>
        <p:spPr>
          <a:xfrm>
            <a:off x="5669280" y="1874520"/>
            <a:ext cx="283464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Only independent calls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Side effects: writes, instrument moves, billing</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Rate limits on remote services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One tool message per tool_call_id, always</a:t>
            </a:r>
            <a:endParaRPr lang="en-US" sz="13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E8871E"/>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6 · PARALLEL CALLS · 5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Demo 4: sequential vs parallel timing</a:t>
            </a:r>
            <a:endParaRPr lang="en-US" sz="3000" dirty="0"/>
          </a:p>
        </p:txBody>
      </p:sp>
      <p:sp>
        <p:nvSpPr>
          <p:cNvPr id="4" name="Text 2"/>
          <p:cNvSpPr txBox="1"/>
          <p:nvPr/>
        </p:nvSpPr>
        <p:spPr>
          <a:xfrm>
            <a:off x="457200" y="1371600"/>
            <a:ext cx="182880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RUN</a:t>
            </a:r>
            <a:endParaRPr lang="en-US" sz="1200" dirty="0"/>
          </a:p>
        </p:txBody>
      </p:sp>
      <p:sp>
        <p:nvSpPr>
          <p:cNvPr id="5" name="Code panel"/>
          <p:cNvSpPr/>
          <p:nvPr/>
        </p:nvSpPr>
        <p:spPr>
          <a:xfrm>
            <a:off x="457200" y="1645920"/>
            <a:ext cx="4023360" cy="457200"/>
          </a:xfrm>
          <a:prstGeom prst="roundRect">
            <a:avLst>
              <a:gd name="adj" fmla="val 12000"/>
            </a:avLst>
          </a:prstGeom>
          <a:solidFill>
            <a:srgbClr val="17252E"/>
          </a:solidFill>
          <a:ln w="12700">
            <a:solidFill>
              <a:srgbClr val="17252E"/>
            </a:solidFill>
            <a:prstDash val="solid"/>
          </a:ln>
        </p:spPr>
      </p:sp>
      <p:sp>
        <p:nvSpPr>
          <p:cNvPr id="6" name="Code"/>
          <p:cNvSpPr txBox="1"/>
          <p:nvPr/>
        </p:nvSpPr>
        <p:spPr>
          <a:xfrm>
            <a:off x="594360" y="1737360"/>
            <a:ext cx="3749040" cy="274320"/>
          </a:xfrm>
          <a:prstGeom prst="rect">
            <a:avLst/>
          </a:prstGeom>
          <a:noFill/>
          <a:ln/>
        </p:spPr>
        <p:txBody>
          <a:bodyPr wrap="square" lIns="0" tIns="0" rIns="0" bIns="0" rtlCol="0" anchor="t"/>
          <a:lstStyle/>
          <a:p>
            <a:pPr indent="0" marL="0">
              <a:buNone/>
            </a:pPr>
            <a:r>
              <a:rPr lang="en-US" sz="1200" dirty="0">
                <a:solidFill>
                  <a:srgbClr val="E6EDF1"/>
                </a:solidFill>
                <a:latin typeface="Courier New" pitchFamily="34" charset="0"/>
                <a:ea typeface="Courier New" pitchFamily="34" charset="-122"/>
                <a:cs typeface="Courier New" pitchFamily="34" charset="-120"/>
              </a:rPr>
              <a:t>uv run demos/d06_parallel_calls.py</a:t>
            </a:r>
            <a:endParaRPr lang="en-US" sz="1200" dirty="0"/>
          </a:p>
        </p:txBody>
      </p:sp>
      <p:sp>
        <p:nvSpPr>
          <p:cNvPr id="7" name="Text 5"/>
          <p:cNvSpPr txBox="1"/>
          <p:nvPr/>
        </p:nvSpPr>
        <p:spPr>
          <a:xfrm>
            <a:off x="457200" y="2377440"/>
            <a:ext cx="402336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latin typeface="Calibri" pitchFamily="34" charset="0"/>
                <a:ea typeface="Calibri" pitchFamily="34" charset="-122"/>
                <a:cs typeface="Calibri" pitchFamily="34" charset="-120"/>
              </a:rPr>
              <a:t>Four simulated instrument queries, 1.5 s each</a:t>
            </a:r>
            <a:endParaRPr lang="en-US" sz="1400" dirty="0"/>
          </a:p>
          <a:p>
            <a:pPr marL="342900" indent="-342900">
              <a:spcAft>
                <a:spcPts val="600"/>
              </a:spcAft>
              <a:buSzPct val="100000"/>
              <a:buChar char="•"/>
            </a:pPr>
            <a:r>
              <a:rPr lang="en-US" sz="1400" dirty="0">
                <a:solidFill>
                  <a:schemeClr val="bg1"/>
                </a:solidFill>
                <a:latin typeface="Calibri" pitchFamily="34" charset="0"/>
                <a:ea typeface="Calibri" pitchFamily="34" charset="-122"/>
                <a:cs typeface="Calibri" pitchFamily="34" charset="-120"/>
              </a:rPr>
              <a:t>Count the tool calls in each [turn] line</a:t>
            </a:r>
            <a:endParaRPr lang="en-US" sz="1400" dirty="0"/>
          </a:p>
          <a:p>
            <a:pPr marL="342900" indent="-342900">
              <a:spcAft>
                <a:spcPts val="600"/>
              </a:spcAft>
              <a:buSzPct val="100000"/>
              <a:buChar char="•"/>
            </a:pPr>
            <a:r>
              <a:rPr lang="en-US" sz="1400" dirty="0">
                <a:solidFill>
                  <a:schemeClr val="bg1"/>
                </a:solidFill>
                <a:latin typeface="Calibri" pitchFamily="34" charset="0"/>
                <a:ea typeface="Calibri" pitchFamily="34" charset="-122"/>
                <a:cs typeface="Calibri" pitchFamily="34" charset="-120"/>
              </a:rPr>
              <a:t>Compare wall-clock for both modes</a:t>
            </a:r>
            <a:endParaRPr lang="en-US" sz="1400" dirty="0"/>
          </a:p>
        </p:txBody>
      </p:sp>
      <p:graphicFrame>
        <p:nvGraphicFramePr>
          <p:cNvPr id="8" name="Chart 0" descr=""/>
          <p:cNvGraphicFramePr/>
          <p:nvPr/>
        </p:nvGraphicFramePr>
        <p:xfrm>
          <a:off x="4663440" y="1371600"/>
          <a:ext cx="4023360" cy="30175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7 · EXERCISE · 12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Exercise: build a porosity tool</a:t>
            </a:r>
            <a:endParaRPr lang="en-US" sz="3000" dirty="0"/>
          </a:p>
        </p:txBody>
      </p:sp>
      <p:sp>
        <p:nvSpPr>
          <p:cNvPr id="4" name="Card"/>
          <p:cNvSpPr/>
          <p:nvPr/>
        </p:nvSpPr>
        <p:spPr>
          <a:xfrm>
            <a:off x="457200" y="1417320"/>
            <a:ext cx="2651760" cy="2240280"/>
          </a:xfrm>
          <a:prstGeom prst="roundRect">
            <a:avLst>
              <a:gd name="adj" fmla="val 326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40080" y="1572768"/>
            <a:ext cx="502920" cy="502920"/>
          </a:xfrm>
          <a:prstGeom prst="ellipse">
            <a:avLst/>
          </a:prstGeom>
          <a:solidFill>
            <a:srgbClr val="E8871E"/>
          </a:solidFill>
          <a:ln w="12700">
            <a:solidFill>
              <a:srgbClr val="E8871E"/>
            </a:solidFill>
            <a:prstDash val="solid"/>
          </a:ln>
        </p:spPr>
      </p:sp>
      <p:sp>
        <p:nvSpPr>
          <p:cNvPr id="6" name="Text 4"/>
          <p:cNvSpPr txBox="1"/>
          <p:nvPr/>
        </p:nvSpPr>
        <p:spPr>
          <a:xfrm>
            <a:off x="640080" y="1572768"/>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A</a:t>
            </a:r>
            <a:endParaRPr lang="en-US" sz="2000" dirty="0"/>
          </a:p>
        </p:txBody>
      </p:sp>
      <p:sp>
        <p:nvSpPr>
          <p:cNvPr id="7" name="Text 5"/>
          <p:cNvSpPr txBox="1"/>
          <p:nvPr/>
        </p:nvSpPr>
        <p:spPr>
          <a:xfrm>
            <a:off x="1280160" y="1572768"/>
            <a:ext cx="1737360" cy="50292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Implement the tool</a:t>
            </a:r>
            <a:endParaRPr lang="en-US" sz="1400" dirty="0"/>
          </a:p>
        </p:txBody>
      </p:sp>
      <p:sp>
        <p:nvSpPr>
          <p:cNvPr id="8" name="Text 6"/>
          <p:cNvSpPr txBox="1"/>
          <p:nvPr/>
        </p:nvSpPr>
        <p:spPr>
          <a:xfrm>
            <a:off x="640080" y="2194560"/>
            <a:ext cx="2286000" cy="274320"/>
          </a:xfrm>
          <a:prstGeom prst="rect">
            <a:avLst/>
          </a:prstGeom>
          <a:noFill/>
          <a:ln/>
        </p:spPr>
        <p:txBody>
          <a:bodyPr wrap="square" lIns="0" tIns="0" rIns="0" bIns="0" rtlCol="0" anchor="ctr"/>
          <a:lstStyle/>
          <a:p>
            <a:pPr indent="0" marL="0">
              <a:buNone/>
            </a:pPr>
            <a:r>
              <a:rPr lang="en-US" sz="1200" b="1" dirty="0">
                <a:solidFill>
                  <a:srgbClr val="E8871E"/>
                </a:solidFill>
                <a:latin typeface="Calibri" pitchFamily="34" charset="0"/>
                <a:ea typeface="Calibri" pitchFamily="34" charset="-122"/>
                <a:cs typeface="Calibri" pitchFamily="34" charset="-120"/>
              </a:rPr>
              <a:t>5 min</a:t>
            </a:r>
            <a:endParaRPr lang="en-US" sz="1200" dirty="0"/>
          </a:p>
        </p:txBody>
      </p:sp>
      <p:sp>
        <p:nvSpPr>
          <p:cNvPr id="9" name="Text 7"/>
          <p:cNvSpPr txBox="1"/>
          <p:nvPr/>
        </p:nvSpPr>
        <p:spPr>
          <a:xfrm>
            <a:off x="640080" y="2514600"/>
            <a:ext cx="2286000" cy="11887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Finish density_porosity: docstring, validation, formula. Self-check with ex1_check.py (no API key).</a:t>
            </a:r>
            <a:endParaRPr lang="en-US" sz="1250" dirty="0"/>
          </a:p>
        </p:txBody>
      </p:sp>
      <p:sp>
        <p:nvSpPr>
          <p:cNvPr id="10" name="Card"/>
          <p:cNvSpPr/>
          <p:nvPr/>
        </p:nvSpPr>
        <p:spPr>
          <a:xfrm>
            <a:off x="3264408" y="1417320"/>
            <a:ext cx="2651760" cy="2240280"/>
          </a:xfrm>
          <a:prstGeom prst="roundRect">
            <a:avLst>
              <a:gd name="adj" fmla="val 326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3447288" y="1572768"/>
            <a:ext cx="502920" cy="502920"/>
          </a:xfrm>
          <a:prstGeom prst="ellipse">
            <a:avLst/>
          </a:prstGeom>
          <a:solidFill>
            <a:srgbClr val="1F8A8A"/>
          </a:solidFill>
          <a:ln w="12700">
            <a:solidFill>
              <a:srgbClr val="1F8A8A"/>
            </a:solidFill>
            <a:prstDash val="solid"/>
          </a:ln>
        </p:spPr>
      </p:sp>
      <p:sp>
        <p:nvSpPr>
          <p:cNvPr id="12" name="Text 10"/>
          <p:cNvSpPr txBox="1"/>
          <p:nvPr/>
        </p:nvSpPr>
        <p:spPr>
          <a:xfrm>
            <a:off x="3447288" y="1572768"/>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B</a:t>
            </a:r>
            <a:endParaRPr lang="en-US" sz="2000" dirty="0"/>
          </a:p>
        </p:txBody>
      </p:sp>
      <p:sp>
        <p:nvSpPr>
          <p:cNvPr id="13" name="Text 11"/>
          <p:cNvSpPr txBox="1"/>
          <p:nvPr/>
        </p:nvSpPr>
        <p:spPr>
          <a:xfrm>
            <a:off x="4087368" y="1572768"/>
            <a:ext cx="1737360" cy="50292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Let the agent use it</a:t>
            </a:r>
            <a:endParaRPr lang="en-US" sz="1400" dirty="0"/>
          </a:p>
        </p:txBody>
      </p:sp>
      <p:sp>
        <p:nvSpPr>
          <p:cNvPr id="14" name="Text 12"/>
          <p:cNvSpPr txBox="1"/>
          <p:nvPr/>
        </p:nvSpPr>
        <p:spPr>
          <a:xfrm>
            <a:off x="3447288" y="2194560"/>
            <a:ext cx="2286000" cy="274320"/>
          </a:xfrm>
          <a:prstGeom prst="rect">
            <a:avLst/>
          </a:prstGeom>
          <a:noFill/>
          <a:ln/>
        </p:spPr>
        <p:txBody>
          <a:bodyPr wrap="square" lIns="0" tIns="0" rIns="0" bIns="0" rtlCol="0" anchor="ctr"/>
          <a:lstStyle/>
          <a:p>
            <a:pPr indent="0" marL="0">
              <a:buNone/>
            </a:pPr>
            <a:r>
              <a:rPr lang="en-US" sz="1200" b="1" dirty="0">
                <a:solidFill>
                  <a:srgbClr val="1F8A8A"/>
                </a:solidFill>
                <a:latin typeface="Calibri" pitchFamily="34" charset="0"/>
                <a:ea typeface="Calibri" pitchFamily="34" charset="-122"/>
                <a:cs typeface="Calibri" pitchFamily="34" charset="-120"/>
              </a:rPr>
              <a:t>4 min</a:t>
            </a:r>
            <a:endParaRPr lang="en-US" sz="1200" dirty="0"/>
          </a:p>
        </p:txBody>
      </p:sp>
      <p:sp>
        <p:nvSpPr>
          <p:cNvPr id="15" name="Text 13"/>
          <p:cNvSpPr txBox="1"/>
          <p:nvPr/>
        </p:nvSpPr>
        <p:spPr>
          <a:xfrm>
            <a:off x="3447288" y="2514600"/>
            <a:ext cx="2286000" cy="11887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Run ex1_run_agent.py. Three questions: chain, parallel lookups, and a unit mistake (RHOB = 235).</a:t>
            </a:r>
            <a:endParaRPr lang="en-US" sz="1250" dirty="0"/>
          </a:p>
        </p:txBody>
      </p:sp>
      <p:sp>
        <p:nvSpPr>
          <p:cNvPr id="16" name="Card"/>
          <p:cNvSpPr/>
          <p:nvPr/>
        </p:nvSpPr>
        <p:spPr>
          <a:xfrm>
            <a:off x="6071616" y="1417320"/>
            <a:ext cx="2651760" cy="2240280"/>
          </a:xfrm>
          <a:prstGeom prst="roundRect">
            <a:avLst>
              <a:gd name="adj" fmla="val 326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6254496" y="1572768"/>
            <a:ext cx="502920" cy="502920"/>
          </a:xfrm>
          <a:prstGeom prst="ellipse">
            <a:avLst/>
          </a:prstGeom>
          <a:solidFill>
            <a:srgbClr val="3D5A80"/>
          </a:solidFill>
          <a:ln w="12700">
            <a:solidFill>
              <a:srgbClr val="3D5A80"/>
            </a:solidFill>
            <a:prstDash val="solid"/>
          </a:ln>
        </p:spPr>
      </p:sp>
      <p:sp>
        <p:nvSpPr>
          <p:cNvPr id="18" name="Text 16"/>
          <p:cNvSpPr txBox="1"/>
          <p:nvPr/>
        </p:nvSpPr>
        <p:spPr>
          <a:xfrm>
            <a:off x="6254496" y="1572768"/>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C</a:t>
            </a:r>
            <a:endParaRPr lang="en-US" sz="2000" dirty="0"/>
          </a:p>
        </p:txBody>
      </p:sp>
      <p:sp>
        <p:nvSpPr>
          <p:cNvPr id="19" name="Text 17"/>
          <p:cNvSpPr txBox="1"/>
          <p:nvPr/>
        </p:nvSpPr>
        <p:spPr>
          <a:xfrm>
            <a:off x="6894576" y="1572768"/>
            <a:ext cx="1737360" cy="50292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Stretch and debrief</a:t>
            </a:r>
            <a:endParaRPr lang="en-US" sz="1400" dirty="0"/>
          </a:p>
        </p:txBody>
      </p:sp>
      <p:sp>
        <p:nvSpPr>
          <p:cNvPr id="20" name="Text 18"/>
          <p:cNvSpPr txBox="1"/>
          <p:nvPr/>
        </p:nvSpPr>
        <p:spPr>
          <a:xfrm>
            <a:off x="6254496" y="2194560"/>
            <a:ext cx="2286000" cy="274320"/>
          </a:xfrm>
          <a:prstGeom prst="rect">
            <a:avLst/>
          </a:prstGeom>
          <a:noFill/>
          <a:ln/>
        </p:spPr>
        <p:txBody>
          <a:bodyPr wrap="square" lIns="0" tIns="0" rIns="0" bIns="0" rtlCol="0" anchor="ctr"/>
          <a:lstStyle/>
          <a:p>
            <a:pPr indent="0" marL="0">
              <a:buNone/>
            </a:pPr>
            <a:r>
              <a:rPr lang="en-US" sz="1200" b="1" dirty="0">
                <a:solidFill>
                  <a:srgbClr val="3D5A80"/>
                </a:solidFill>
                <a:latin typeface="Calibri" pitchFamily="34" charset="0"/>
                <a:ea typeface="Calibri" pitchFamily="34" charset="-122"/>
                <a:cs typeface="Calibri" pitchFamily="34" charset="-120"/>
              </a:rPr>
              <a:t>3 min</a:t>
            </a:r>
            <a:endParaRPr lang="en-US" sz="1200" dirty="0"/>
          </a:p>
        </p:txBody>
      </p:sp>
      <p:sp>
        <p:nvSpPr>
          <p:cNvPr id="21" name="Text 19"/>
          <p:cNvSpPr txBox="1"/>
          <p:nvPr/>
        </p:nvSpPr>
        <p:spPr>
          <a:xfrm>
            <a:off x="6254496" y="2514600"/>
            <a:ext cx="2286000" cy="11887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Add sonic_porosity (Wyllie) or rewrite the description only. Compare behaviour.</a:t>
            </a:r>
            <a:endParaRPr lang="en-US" sz="1250" dirty="0"/>
          </a:p>
        </p:txBody>
      </p:sp>
      <p:sp>
        <p:nvSpPr>
          <p:cNvPr id="22" name="Code panel"/>
          <p:cNvSpPr/>
          <p:nvPr/>
        </p:nvSpPr>
        <p:spPr>
          <a:xfrm>
            <a:off x="457200" y="3840480"/>
            <a:ext cx="8229600" cy="777240"/>
          </a:xfrm>
          <a:prstGeom prst="roundRect">
            <a:avLst>
              <a:gd name="adj" fmla="val 7059"/>
            </a:avLst>
          </a:prstGeom>
          <a:solidFill>
            <a:srgbClr val="17252E"/>
          </a:solidFill>
          <a:ln w="12700">
            <a:solidFill>
              <a:srgbClr val="17252E"/>
            </a:solidFill>
            <a:prstDash val="solid"/>
          </a:ln>
        </p:spPr>
      </p:sp>
      <p:sp>
        <p:nvSpPr>
          <p:cNvPr id="23" name="Code"/>
          <p:cNvSpPr txBox="1"/>
          <p:nvPr/>
        </p:nvSpPr>
        <p:spPr>
          <a:xfrm>
            <a:off x="594360" y="3931920"/>
            <a:ext cx="7955280" cy="594360"/>
          </a:xfrm>
          <a:prstGeom prst="rect">
            <a:avLst/>
          </a:prstGeom>
          <a:noFill/>
          <a:ln/>
        </p:spPr>
        <p:txBody>
          <a:bodyPr wrap="square" lIns="0" tIns="0" rIns="0" bIns="0" rtlCol="0" anchor="t"/>
          <a:lstStyle/>
          <a:p>
            <a:pPr indent="0" marL="0">
              <a:buNone/>
            </a:pPr>
            <a:r>
              <a:rPr lang="en-US" sz="1050" dirty="0">
                <a:solidFill>
                  <a:srgbClr val="E6EDF1"/>
                </a:solidFill>
                <a:latin typeface="Courier New" pitchFamily="34" charset="0"/>
                <a:ea typeface="Courier New" pitchFamily="34" charset="-122"/>
                <a:cs typeface="Courier New" pitchFamily="34" charset="-120"/>
              </a:rPr>
              <a:t>exercises/porosity_exercise_server.py   (edit)</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exercises/ex1_check.py                  (Part A)</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exercises/ex1_run_agent.py              (Part B)</a:t>
            </a:r>
            <a:endParaRPr lang="en-US" sz="1050" dirty="0"/>
          </a:p>
          <a:p>
            <a:pPr indent="0" marL="0">
              <a:buNone/>
            </a:pPr>
            <a:r>
              <a:rPr lang="en-US" sz="1050" dirty="0">
                <a:solidFill>
                  <a:srgbClr val="E6EDF1"/>
                </a:solidFill>
                <a:latin typeface="Courier New" pitchFamily="34" charset="0"/>
                <a:ea typeface="Courier New" pitchFamily="34" charset="-122"/>
                <a:cs typeface="Courier New" pitchFamily="34" charset="-120"/>
              </a:rPr>
              <a:t>solutions/porosity_exercise_server.py   (peek last)</a:t>
            </a:r>
            <a:endParaRPr lang="en-US" sz="105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7 · EXERCISE · 12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Part A: finish the tool</a:t>
            </a:r>
            <a:endParaRPr lang="en-US" sz="3000" dirty="0"/>
          </a:p>
        </p:txBody>
      </p:sp>
      <p:sp>
        <p:nvSpPr>
          <p:cNvPr id="4" name="Code panel"/>
          <p:cNvSpPr/>
          <p:nvPr/>
        </p:nvSpPr>
        <p:spPr>
          <a:xfrm>
            <a:off x="457200" y="1417320"/>
            <a:ext cx="5120640" cy="2743200"/>
          </a:xfrm>
          <a:prstGeom prst="roundRect">
            <a:avLst>
              <a:gd name="adj" fmla="val 2000"/>
            </a:avLst>
          </a:prstGeom>
          <a:solidFill>
            <a:srgbClr val="17252E"/>
          </a:solidFill>
          <a:ln w="12700">
            <a:solidFill>
              <a:srgbClr val="17252E"/>
            </a:solidFill>
            <a:prstDash val="solid"/>
          </a:ln>
        </p:spPr>
      </p:sp>
      <p:sp>
        <p:nvSpPr>
          <p:cNvPr id="5" name="Code"/>
          <p:cNvSpPr txBox="1"/>
          <p:nvPr/>
        </p:nvSpPr>
        <p:spPr>
          <a:xfrm>
            <a:off x="594360" y="1508760"/>
            <a:ext cx="4846320" cy="2560320"/>
          </a:xfrm>
          <a:prstGeom prst="rect">
            <a:avLst/>
          </a:prstGeom>
          <a:noFill/>
          <a:ln/>
        </p:spPr>
        <p:txBody>
          <a:bodyPr wrap="square" lIns="0" tIns="0" rIns="0" bIns="0" rtlCol="0" anchor="t"/>
          <a:lstStyle/>
          <a:p>
            <a:pPr indent="0" marL="0">
              <a:buNone/>
            </a:pPr>
            <a:r>
              <a:rPr lang="en-US" sz="1100" dirty="0">
                <a:solidFill>
                  <a:srgbClr val="E6EDF1"/>
                </a:solidFill>
                <a:latin typeface="Courier New" pitchFamily="34" charset="0"/>
                <a:ea typeface="Courier New" pitchFamily="34" charset="-122"/>
                <a:cs typeface="Courier New" pitchFamily="34" charset="-120"/>
              </a:rPr>
              <a:t>@mcp.tool()</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def density_porosity(rhob: ..., rho_matrix: ... = 2.65,</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rho_fluid: ... = 1.0) -&gt; dict:</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"""TODO 1: replace this docstring. The model</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decides WHEN to call from this text:</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formula, units, return shape."""</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 TODO 2: raise ToolError if rhob is outside 1.0-3.2</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         or rho_matrix &lt;= rho_fluid</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 TODO 3: phi = (rho_matrix - rhob)</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              / (rho_matrix - rho_fluid), clamp 0..1</a:t>
            </a:r>
            <a:endParaRPr lang="en-US" sz="1100" dirty="0"/>
          </a:p>
          <a:p>
            <a:pPr indent="0" marL="0">
              <a:buNone/>
            </a:pPr>
            <a:r>
              <a:rPr lang="en-US" sz="1100" dirty="0">
                <a:solidFill>
                  <a:srgbClr val="E6EDF1"/>
                </a:solidFill>
                <a:latin typeface="Courier New" pitchFamily="34" charset="0"/>
                <a:ea typeface="Courier New" pitchFamily="34" charset="-122"/>
                <a:cs typeface="Courier New" pitchFamily="34" charset="-120"/>
              </a:rPr>
              <a:t>    # TODO 4: return value, units, method, inputs</a:t>
            </a:r>
            <a:endParaRPr lang="en-US" sz="1100" dirty="0"/>
          </a:p>
        </p:txBody>
      </p:sp>
      <p:sp>
        <p:nvSpPr>
          <p:cNvPr id="6" name="Card"/>
          <p:cNvSpPr/>
          <p:nvPr/>
        </p:nvSpPr>
        <p:spPr>
          <a:xfrm>
            <a:off x="5760720" y="1417320"/>
            <a:ext cx="2926080" cy="2743200"/>
          </a:xfrm>
          <a:prstGeom prst="roundRect">
            <a:avLst>
              <a:gd name="adj" fmla="val 2667"/>
            </a:avLst>
          </a:prstGeom>
          <a:solidFill>
            <a:srgbClr val="17252E"/>
          </a:solidFill>
          <a:ln w="12700">
            <a:solidFill>
              <a:srgbClr val="17252E"/>
            </a:solidFill>
            <a:prstDash val="solid"/>
          </a:ln>
        </p:spPr>
      </p:sp>
      <p:sp>
        <p:nvSpPr>
          <p:cNvPr id="7" name="Text 5"/>
          <p:cNvSpPr txBox="1"/>
          <p:nvPr/>
        </p:nvSpPr>
        <p:spPr>
          <a:xfrm>
            <a:off x="5897880" y="1508760"/>
            <a:ext cx="2743200" cy="274320"/>
          </a:xfrm>
          <a:prstGeom prst="rect">
            <a:avLst/>
          </a:prstGeom>
          <a:noFill/>
          <a:ln/>
        </p:spPr>
        <p:txBody>
          <a:bodyPr wrap="square" lIns="0" tIns="0" rIns="0" bIns="0" rtlCol="0" anchor="ctr"/>
          <a:lstStyle/>
          <a:p>
            <a:pPr indent="0" marL="0">
              <a:buNone/>
            </a:pPr>
            <a:r>
              <a:rPr lang="en-US" sz="1050" b="1" dirty="0">
                <a:solidFill>
                  <a:schemeClr val="accent1"/>
                </a:solidFill>
                <a:latin typeface="Calibri" pitchFamily="34" charset="0"/>
                <a:ea typeface="Calibri" pitchFamily="34" charset="-122"/>
                <a:cs typeface="Calibri" pitchFamily="34" charset="-120"/>
              </a:rPr>
              <a:t>SELF-CHECK  (uv run exercises/ex1_check.py)</a:t>
            </a:r>
            <a:endParaRPr lang="en-US" sz="1050" dirty="0"/>
          </a:p>
        </p:txBody>
      </p:sp>
      <p:sp>
        <p:nvSpPr>
          <p:cNvPr id="8" name="Text 6"/>
          <p:cNvSpPr txBox="1"/>
          <p:nvPr/>
        </p:nvSpPr>
        <p:spPr>
          <a:xfrm>
            <a:off x="5897880" y="1874520"/>
            <a:ext cx="2743200" cy="1828800"/>
          </a:xfrm>
          <a:prstGeom prst="rect">
            <a:avLst/>
          </a:prstGeom>
          <a:noFill/>
          <a:ln/>
        </p:spPr>
        <p:txBody>
          <a:bodyPr wrap="square" lIns="0" tIns="0" rIns="0" bIns="0" rtlCol="0" anchor="t"/>
          <a:lstStyle/>
          <a:p>
            <a:pPr indent="0" marL="0">
              <a:buNone/>
            </a:pPr>
            <a:r>
              <a:rPr lang="en-US" sz="1050" dirty="0">
                <a:solidFill>
                  <a:srgbClr val="9FE0B0"/>
                </a:solidFill>
                <a:latin typeface="Courier New" pitchFamily="34" charset="0"/>
                <a:ea typeface="Courier New" pitchFamily="34" charset="-122"/>
                <a:cs typeface="Courier New" pitchFamily="34" charset="-120"/>
              </a:rPr>
              <a:t>[PASS] registered</a:t>
            </a:r>
            <a:endParaRPr lang="en-US" sz="1050" dirty="0"/>
          </a:p>
          <a:p>
            <a:pPr indent="0" marL="0">
              <a:buNone/>
            </a:pPr>
            <a:r>
              <a:rPr lang="en-US" sz="1050" dirty="0">
                <a:solidFill>
                  <a:srgbClr val="9FE0B0"/>
                </a:solidFill>
                <a:latin typeface="Courier New" pitchFamily="34" charset="0"/>
                <a:ea typeface="Courier New" pitchFamily="34" charset="-122"/>
                <a:cs typeface="Courier New" pitchFamily="34" charset="-120"/>
              </a:rPr>
              <a:t>[PASS] docstring</a:t>
            </a:r>
            <a:endParaRPr lang="en-US" sz="1050" dirty="0"/>
          </a:p>
          <a:p>
            <a:pPr indent="0" marL="0">
              <a:buNone/>
            </a:pPr>
            <a:r>
              <a:rPr lang="en-US" sz="1050" dirty="0">
                <a:solidFill>
                  <a:srgbClr val="9FE0B0"/>
                </a:solidFill>
                <a:latin typeface="Courier New" pitchFamily="34" charset="0"/>
                <a:ea typeface="Courier New" pitchFamily="34" charset="-122"/>
                <a:cs typeface="Courier New" pitchFamily="34" charset="-120"/>
              </a:rPr>
              <a:t>[PASS] rhob=2.35 -&gt; 0.1818</a:t>
            </a:r>
            <a:endParaRPr lang="en-US" sz="1050" dirty="0"/>
          </a:p>
          <a:p>
            <a:pPr indent="0" marL="0">
              <a:buNone/>
            </a:pPr>
            <a:r>
              <a:rPr lang="en-US" sz="1050" dirty="0">
                <a:solidFill>
                  <a:srgbClr val="9FE0B0"/>
                </a:solidFill>
                <a:latin typeface="Courier New" pitchFamily="34" charset="0"/>
                <a:ea typeface="Courier New" pitchFamily="34" charset="-122"/>
                <a:cs typeface="Courier New" pitchFamily="34" charset="-120"/>
              </a:rPr>
              <a:t>[PASS] limestone -&gt; 0.1925</a:t>
            </a:r>
            <a:endParaRPr lang="en-US" sz="1050" dirty="0"/>
          </a:p>
          <a:p>
            <a:pPr indent="0" marL="0">
              <a:buNone/>
            </a:pPr>
            <a:r>
              <a:rPr lang="en-US" sz="1050" dirty="0">
                <a:solidFill>
                  <a:srgbClr val="9FE0B0"/>
                </a:solidFill>
                <a:latin typeface="Courier New" pitchFamily="34" charset="0"/>
                <a:ea typeface="Courier New" pitchFamily="34" charset="-122"/>
                <a:cs typeface="Courier New" pitchFamily="34" charset="-120"/>
              </a:rPr>
              <a:t>[PASS] rhob=5.0 rejected</a:t>
            </a:r>
            <a:endParaRPr lang="en-US" sz="1050" dirty="0"/>
          </a:p>
        </p:txBody>
      </p:sp>
      <p:sp>
        <p:nvSpPr>
          <p:cNvPr id="9" name="Text 7"/>
          <p:cNvSpPr txBox="1"/>
          <p:nvPr/>
        </p:nvSpPr>
        <p:spPr>
          <a:xfrm>
            <a:off x="5897880" y="3429000"/>
            <a:ext cx="2743200" cy="640080"/>
          </a:xfrm>
          <a:prstGeom prst="rect">
            <a:avLst/>
          </a:prstGeom>
          <a:noFill/>
          <a:ln/>
        </p:spPr>
        <p:txBody>
          <a:bodyPr wrap="square" lIns="0" tIns="0" rIns="0" bIns="0" rtlCol="0" anchor="t"/>
          <a:lstStyle/>
          <a:p>
            <a:pPr indent="0" marL="0">
              <a:buNone/>
            </a:pPr>
            <a:r>
              <a:rPr lang="en-US" sz="1100" i="1" dirty="0">
                <a:solidFill>
                  <a:srgbClr val="C9D3D9"/>
                </a:solidFill>
                <a:latin typeface="Calibri" pitchFamily="34" charset="0"/>
                <a:ea typeface="Calibri" pitchFamily="34" charset="-122"/>
                <a:cs typeface="Calibri" pitchFamily="34" charset="-120"/>
              </a:rPr>
              <a:t>Reference: porosity φ = (2.65 - 2.35) / (2.65 - 1.0) = 0.182</a:t>
            </a:r>
            <a:endParaRPr lang="en-US" sz="11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7 · EXERCISE · 12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Debrief: what did the model do with it?</a:t>
            </a:r>
            <a:endParaRPr lang="en-US" sz="3000" dirty="0"/>
          </a:p>
        </p:txBody>
      </p:sp>
      <p:sp>
        <p:nvSpPr>
          <p:cNvPr id="4" name="Card"/>
          <p:cNvSpPr/>
          <p:nvPr/>
        </p:nvSpPr>
        <p:spPr>
          <a:xfrm>
            <a:off x="457200" y="1417320"/>
            <a:ext cx="5212080" cy="841248"/>
          </a:xfrm>
          <a:prstGeom prst="roundRect">
            <a:avLst>
              <a:gd name="adj" fmla="val 869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Icon circle"/>
          <p:cNvSpPr/>
          <p:nvPr/>
        </p:nvSpPr>
        <p:spPr>
          <a:xfrm>
            <a:off x="594360" y="1600200"/>
            <a:ext cx="457200" cy="457200"/>
          </a:xfrm>
          <a:prstGeom prst="ellipse">
            <a:avLst/>
          </a:prstGeom>
          <a:solidFill>
            <a:srgbClr val="E8871E"/>
          </a:solidFill>
          <a:ln w="12700">
            <a:solidFill>
              <a:srgbClr val="E8871E"/>
            </a:solidFill>
            <a:prstDash val="solid"/>
          </a:ln>
        </p:spPr>
      </p:sp>
      <p:pic>
        <p:nvPicPr>
          <p:cNvPr id="6" name="Image 0" descr="FaBolt">    </p:cNvPr>
          <p:cNvPicPr>
            <a:picLocks noChangeAspect="1"/>
          </p:cNvPicPr>
          <p:nvPr/>
        </p:nvPicPr>
        <p:blipFill>
          <a:blip r:embed="rId1"/>
          <a:stretch>
            <a:fillRect/>
          </a:stretch>
        </p:blipFill>
        <p:spPr>
          <a:xfrm>
            <a:off x="708660" y="1714500"/>
            <a:ext cx="228600" cy="228600"/>
          </a:xfrm>
          <a:prstGeom prst="rect">
            <a:avLst/>
          </a:prstGeom>
        </p:spPr>
      </p:pic>
      <p:sp>
        <p:nvSpPr>
          <p:cNvPr id="7" name="Text 4"/>
          <p:cNvSpPr txBox="1"/>
          <p:nvPr/>
        </p:nvSpPr>
        <p:spPr>
          <a:xfrm>
            <a:off x="1188720" y="1453896"/>
            <a:ext cx="4389120" cy="768096"/>
          </a:xfrm>
          <a:prstGeom prst="rect">
            <a:avLst/>
          </a:prstGeom>
          <a:noFill/>
          <a:ln/>
        </p:spPr>
        <p:txBody>
          <a:bodyPr wrap="square" lIns="0" tIns="0" rIns="0" bIns="0" rtlCol="0" anchor="ctr"/>
          <a:lstStyle/>
          <a:p>
            <a:pPr indent="0" marL="0">
              <a:buNone/>
            </a:pPr>
            <a:r>
              <a:rPr lang="en-US" sz="1300" b="1" dirty="0">
                <a:solidFill>
                  <a:srgbClr val="17252E"/>
                </a:solidFill>
                <a:latin typeface="Calibri" pitchFamily="34" charset="0"/>
                <a:ea typeface="Calibri" pitchFamily="34" charset="-122"/>
                <a:cs typeface="Calibri" pitchFamily="34" charset="-120"/>
              </a:rPr>
              <a:t>Chain and batch</a:t>
            </a:r>
            <a:endParaRPr lang="en-US" sz="1300" dirty="0"/>
          </a:p>
          <a:p>
            <a:pPr indent="0" marL="0">
              <a:buNone/>
            </a:pPr>
            <a:r>
              <a:rPr lang="en-US" sz="1150" dirty="0">
                <a:solidFill>
                  <a:srgbClr val="2F4858"/>
                </a:solidFill>
                <a:latin typeface="Calibri" pitchFamily="34" charset="0"/>
                <a:ea typeface="Calibri" pitchFamily="34" charset="-122"/>
                <a:cs typeface="Calibri" pitchFamily="34" charset="-120"/>
              </a:rPr>
              <a:t>Did Q1 call get_log_sample then density_porosity? Did Q2 request both depths in one turn?</a:t>
            </a:r>
            <a:endParaRPr lang="en-US" sz="1300" dirty="0"/>
          </a:p>
        </p:txBody>
      </p:sp>
      <p:sp>
        <p:nvSpPr>
          <p:cNvPr id="8" name="Card"/>
          <p:cNvSpPr/>
          <p:nvPr/>
        </p:nvSpPr>
        <p:spPr>
          <a:xfrm>
            <a:off x="457200" y="2377440"/>
            <a:ext cx="5212080" cy="841248"/>
          </a:xfrm>
          <a:prstGeom prst="roundRect">
            <a:avLst>
              <a:gd name="adj" fmla="val 869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Icon circle"/>
          <p:cNvSpPr/>
          <p:nvPr/>
        </p:nvSpPr>
        <p:spPr>
          <a:xfrm>
            <a:off x="594360" y="2560320"/>
            <a:ext cx="457200" cy="457200"/>
          </a:xfrm>
          <a:prstGeom prst="ellipse">
            <a:avLst/>
          </a:prstGeom>
          <a:solidFill>
            <a:srgbClr val="C8553D"/>
          </a:solidFill>
          <a:ln w="12700">
            <a:solidFill>
              <a:srgbClr val="C8553D"/>
            </a:solidFill>
            <a:prstDash val="solid"/>
          </a:ln>
        </p:spPr>
      </p:sp>
      <p:pic>
        <p:nvPicPr>
          <p:cNvPr id="10" name="Image 1" descr="FaShieldAlt">    </p:cNvPr>
          <p:cNvPicPr>
            <a:picLocks noChangeAspect="1"/>
          </p:cNvPicPr>
          <p:nvPr/>
        </p:nvPicPr>
        <p:blipFill>
          <a:blip r:embed="rId2"/>
          <a:stretch>
            <a:fillRect/>
          </a:stretch>
        </p:blipFill>
        <p:spPr>
          <a:xfrm>
            <a:off x="708660" y="2674620"/>
            <a:ext cx="228600" cy="228600"/>
          </a:xfrm>
          <a:prstGeom prst="rect">
            <a:avLst/>
          </a:prstGeom>
        </p:spPr>
      </p:pic>
      <p:sp>
        <p:nvSpPr>
          <p:cNvPr id="11" name="Text 7"/>
          <p:cNvSpPr txBox="1"/>
          <p:nvPr/>
        </p:nvSpPr>
        <p:spPr>
          <a:xfrm>
            <a:off x="1188720" y="2414016"/>
            <a:ext cx="4389120" cy="768096"/>
          </a:xfrm>
          <a:prstGeom prst="rect">
            <a:avLst/>
          </a:prstGeom>
          <a:noFill/>
          <a:ln/>
        </p:spPr>
        <p:txBody>
          <a:bodyPr wrap="square" lIns="0" tIns="0" rIns="0" bIns="0" rtlCol="0" anchor="ctr"/>
          <a:lstStyle/>
          <a:p>
            <a:pPr indent="0" marL="0">
              <a:buNone/>
            </a:pPr>
            <a:r>
              <a:rPr lang="en-US" sz="1300" b="1" dirty="0">
                <a:solidFill>
                  <a:srgbClr val="17252E"/>
                </a:solidFill>
                <a:latin typeface="Calibri" pitchFamily="34" charset="0"/>
                <a:ea typeface="Calibri" pitchFamily="34" charset="-122"/>
                <a:cs typeface="Calibri" pitchFamily="34" charset="-120"/>
              </a:rPr>
              <a:t>Unit mistake</a:t>
            </a:r>
            <a:endParaRPr lang="en-US" sz="1300" dirty="0"/>
          </a:p>
          <a:p>
            <a:pPr indent="0" marL="0">
              <a:buNone/>
            </a:pPr>
            <a:r>
              <a:rPr lang="en-US" sz="1150" dirty="0">
                <a:solidFill>
                  <a:srgbClr val="2F4858"/>
                </a:solidFill>
                <a:latin typeface="Calibri" pitchFamily="34" charset="0"/>
                <a:ea typeface="Calibri" pitchFamily="34" charset="-122"/>
                <a:cs typeface="Calibri" pitchFamily="34" charset="-120"/>
              </a:rPr>
              <a:t>RHOB = 235: with the range check the tool refuses and the model recovers. Without it, a silent clamp can hide the error.</a:t>
            </a:r>
            <a:endParaRPr lang="en-US" sz="1300" dirty="0"/>
          </a:p>
        </p:txBody>
      </p:sp>
      <p:sp>
        <p:nvSpPr>
          <p:cNvPr id="12" name="Card"/>
          <p:cNvSpPr/>
          <p:nvPr/>
        </p:nvSpPr>
        <p:spPr>
          <a:xfrm>
            <a:off x="457200" y="3337560"/>
            <a:ext cx="5212080" cy="841248"/>
          </a:xfrm>
          <a:prstGeom prst="roundRect">
            <a:avLst>
              <a:gd name="adj" fmla="val 869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Icon circle"/>
          <p:cNvSpPr/>
          <p:nvPr/>
        </p:nvSpPr>
        <p:spPr>
          <a:xfrm>
            <a:off x="594360" y="3520440"/>
            <a:ext cx="457200" cy="457200"/>
          </a:xfrm>
          <a:prstGeom prst="ellipse">
            <a:avLst/>
          </a:prstGeom>
          <a:solidFill>
            <a:srgbClr val="3D5A80"/>
          </a:solidFill>
          <a:ln w="12700">
            <a:solidFill>
              <a:srgbClr val="3D5A80"/>
            </a:solidFill>
            <a:prstDash val="solid"/>
          </a:ln>
        </p:spPr>
      </p:sp>
      <p:pic>
        <p:nvPicPr>
          <p:cNvPr id="14" name="Image 2" descr="FaFileAlt">    </p:cNvPr>
          <p:cNvPicPr>
            <a:picLocks noChangeAspect="1"/>
          </p:cNvPicPr>
          <p:nvPr/>
        </p:nvPicPr>
        <p:blipFill>
          <a:blip r:embed="rId3"/>
          <a:stretch>
            <a:fillRect/>
          </a:stretch>
        </p:blipFill>
        <p:spPr>
          <a:xfrm>
            <a:off x="708660" y="3634740"/>
            <a:ext cx="228600" cy="228600"/>
          </a:xfrm>
          <a:prstGeom prst="rect">
            <a:avLst/>
          </a:prstGeom>
        </p:spPr>
      </p:pic>
      <p:sp>
        <p:nvSpPr>
          <p:cNvPr id="15" name="Text 10"/>
          <p:cNvSpPr txBox="1"/>
          <p:nvPr/>
        </p:nvSpPr>
        <p:spPr>
          <a:xfrm>
            <a:off x="1188720" y="3374136"/>
            <a:ext cx="4389120" cy="768096"/>
          </a:xfrm>
          <a:prstGeom prst="rect">
            <a:avLst/>
          </a:prstGeom>
          <a:noFill/>
          <a:ln/>
        </p:spPr>
        <p:txBody>
          <a:bodyPr wrap="square" lIns="0" tIns="0" rIns="0" bIns="0" rtlCol="0" anchor="ctr"/>
          <a:lstStyle/>
          <a:p>
            <a:pPr indent="0" marL="0">
              <a:buNone/>
            </a:pPr>
            <a:r>
              <a:rPr lang="en-US" sz="1300" b="1" dirty="0">
                <a:solidFill>
                  <a:srgbClr val="17252E"/>
                </a:solidFill>
                <a:latin typeface="Calibri" pitchFamily="34" charset="0"/>
                <a:ea typeface="Calibri" pitchFamily="34" charset="-122"/>
                <a:cs typeface="Calibri" pitchFamily="34" charset="-120"/>
              </a:rPr>
              <a:t>Words are code</a:t>
            </a:r>
            <a:endParaRPr lang="en-US" sz="1300" dirty="0"/>
          </a:p>
          <a:p>
            <a:pPr indent="0" marL="0">
              <a:buNone/>
            </a:pPr>
            <a:r>
              <a:rPr lang="en-US" sz="1150" dirty="0">
                <a:solidFill>
                  <a:srgbClr val="2F4858"/>
                </a:solidFill>
                <a:latin typeface="Calibri" pitchFamily="34" charset="0"/>
                <a:ea typeface="Calibri" pitchFamily="34" charset="-122"/>
                <a:cs typeface="Calibri" pitchFamily="34" charset="-120"/>
              </a:rPr>
              <a:t>A better description changed when and how the tool was called.</a:t>
            </a:r>
            <a:endParaRPr lang="en-US" sz="1300" dirty="0"/>
          </a:p>
        </p:txBody>
      </p:sp>
      <p:sp>
        <p:nvSpPr>
          <p:cNvPr id="16" name="Card"/>
          <p:cNvSpPr/>
          <p:nvPr/>
        </p:nvSpPr>
        <p:spPr>
          <a:xfrm>
            <a:off x="5852160" y="1417320"/>
            <a:ext cx="2834640" cy="2788920"/>
          </a:xfrm>
          <a:prstGeom prst="roundRect">
            <a:avLst>
              <a:gd name="adj" fmla="val 2623"/>
            </a:avLst>
          </a:prstGeom>
          <a:solidFill>
            <a:srgbClr val="2F4858"/>
          </a:solidFill>
          <a:ln w="12700">
            <a:solidFill>
              <a:srgbClr val="2F4858"/>
            </a:solidFill>
            <a:prstDash val="solid"/>
          </a:ln>
        </p:spPr>
      </p:sp>
      <p:sp>
        <p:nvSpPr>
          <p:cNvPr id="17" name="Text 12"/>
          <p:cNvSpPr txBox="1"/>
          <p:nvPr/>
        </p:nvSpPr>
        <p:spPr>
          <a:xfrm>
            <a:off x="6035040" y="1527048"/>
            <a:ext cx="256032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DISCUSS</a:t>
            </a:r>
            <a:endParaRPr lang="en-US" sz="1200" dirty="0"/>
          </a:p>
        </p:txBody>
      </p:sp>
      <p:sp>
        <p:nvSpPr>
          <p:cNvPr id="18" name="Text 13"/>
          <p:cNvSpPr txBox="1"/>
          <p:nvPr/>
        </p:nvSpPr>
        <p:spPr>
          <a:xfrm>
            <a:off x="6035040" y="1874520"/>
            <a:ext cx="2514600" cy="2286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bg1"/>
                </a:solidFill>
                <a:latin typeface="Calibri" pitchFamily="34" charset="0"/>
                <a:ea typeface="Calibri" pitchFamily="34" charset="-122"/>
                <a:cs typeface="Calibri" pitchFamily="34" charset="-120"/>
              </a:rPr>
              <a:t>Which function in your research should be called, not imitated?</a:t>
            </a:r>
            <a:endParaRPr lang="en-US" sz="1250" dirty="0"/>
          </a:p>
          <a:p>
            <a:pPr marL="342900" indent="-342900">
              <a:spcAft>
                <a:spcPts val="600"/>
              </a:spcAft>
              <a:buSzPct val="100000"/>
              <a:buChar char="•"/>
            </a:pPr>
            <a:r>
              <a:rPr lang="en-US" sz="1250" dirty="0">
                <a:solidFill>
                  <a:schemeClr val="bg1"/>
                </a:solidFill>
                <a:latin typeface="Calibri" pitchFamily="34" charset="0"/>
                <a:ea typeface="Calibri" pitchFamily="34" charset="-122"/>
                <a:cs typeface="Calibri" pitchFamily="34" charset="-120"/>
              </a:rPr>
              <a:t>What does a wrong-but-plausible number cost there?</a:t>
            </a:r>
            <a:endParaRPr lang="en-US" sz="1250" dirty="0"/>
          </a:p>
          <a:p>
            <a:pPr marL="342900" indent="-342900">
              <a:spcAft>
                <a:spcPts val="600"/>
              </a:spcAft>
              <a:buSzPct val="100000"/>
              <a:buChar char="•"/>
            </a:pPr>
            <a:r>
              <a:rPr lang="en-US" sz="1250" dirty="0">
                <a:solidFill>
                  <a:schemeClr val="bg1"/>
                </a:solidFill>
                <a:latin typeface="Calibri" pitchFamily="34" charset="0"/>
                <a:ea typeface="Calibri" pitchFamily="34" charset="-122"/>
                <a:cs typeface="Calibri" pitchFamily="34" charset="-120"/>
              </a:rPr>
              <a:t>Which inputs need loud validation?</a:t>
            </a:r>
            <a:endParaRPr lang="en-US" sz="125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8 · IDE VS COLAB · 3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Local IDE versus Google Colab</a:t>
            </a:r>
            <a:endParaRPr lang="en-US" sz="3000" dirty="0"/>
          </a:p>
        </p:txBody>
      </p:sp>
      <p:graphicFrame>
        <p:nvGraphicFramePr>
          <p:cNvPr id="30" name="IDE vs Colab table"/>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1645920"/>
                <a:gridCol w="3291840"/>
                <a:gridCol w="3291840"/>
              </a:tblGrid>
              <a:tr h="457200">
                <a:tc>
                  <a:txBody>
                    <a:bodyPr/>
                    <a:lstStyle/>
                    <a:p>
                      <a:pPr indent="0" marL="0">
                        <a:buNone/>
                      </a:pP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2F485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Local IDE with uv</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2F485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Google Colab</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1F8A8A"/>
                    </a:solidFill>
                  </a:tcPr>
                </a:tc>
              </a:tr>
              <a:tr h="457200">
                <a:tc>
                  <a:txBody>
                    <a:bodyPr/>
                    <a:lstStyle/>
                    <a:p>
                      <a:pPr indent="0" marL="0">
                        <a:buNone/>
                      </a:pPr>
                      <a:r>
                        <a:rPr lang="en-US" sz="1300" b="1" dirty="0">
                          <a:solidFill>
                            <a:srgbClr val="17252E"/>
                          </a:solidFill>
                          <a:latin typeface="Calibri" pitchFamily="34" charset="0"/>
                          <a:ea typeface="Calibri" pitchFamily="34" charset="-122"/>
                          <a:cs typeface="Calibri" pitchFamily="34" charset="-120"/>
                        </a:rPr>
                        <a:t>Setup</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EEF2F4"/>
                    </a:solidFill>
                  </a:tcPr>
                </a:tc>
                <a:tc>
                  <a:txBody>
                    <a:bodyPr/>
                    <a:lstStyle/>
                    <a:p>
                      <a:pPr indent="0" marL="0">
                        <a:buNone/>
                      </a:pPr>
                      <a:r>
                        <a:rPr lang="en-US" sz="1300" dirty="0">
                          <a:solidFill>
                            <a:srgbClr val="17252E"/>
                          </a:solidFill>
                          <a:latin typeface="Calibri" pitchFamily="34" charset="0"/>
                          <a:ea typeface="Calibri" pitchFamily="34" charset="-122"/>
                          <a:cs typeface="Calibri" pitchFamily="34" charset="-120"/>
                        </a:rPr>
                        <a:t>uv sync, .env file</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EEF2F4"/>
                    </a:solidFill>
                  </a:tcPr>
                </a:tc>
                <a:tc>
                  <a:txBody>
                    <a:bodyPr/>
                    <a:lstStyle/>
                    <a:p>
                      <a:pPr indent="0" marL="0">
                        <a:buNone/>
                      </a:pPr>
                      <a:r>
                        <a:rPr lang="en-US" sz="1300" dirty="0">
                          <a:solidFill>
                            <a:srgbClr val="17252E"/>
                          </a:solidFill>
                          <a:latin typeface="Calibri" pitchFamily="34" charset="0"/>
                          <a:ea typeface="Calibri" pitchFamily="34" charset="-122"/>
                          <a:cs typeface="Calibri" pitchFamily="34" charset="-120"/>
                        </a:rPr>
                        <a:t>pip install, Colab secrets</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EEF2F4"/>
                    </a:solidFill>
                  </a:tcPr>
                </a:tc>
              </a:tr>
              <a:tr h="457200">
                <a:tc>
                  <a:txBody>
                    <a:bodyPr/>
                    <a:lstStyle/>
                    <a:p>
                      <a:pPr indent="0" marL="0">
                        <a:buNone/>
                      </a:pPr>
                      <a:r>
                        <a:rPr lang="en-US" sz="1300" b="1" dirty="0">
                          <a:solidFill>
                            <a:srgbClr val="17252E"/>
                          </a:solidFill>
                          <a:latin typeface="Calibri" pitchFamily="34" charset="0"/>
                          <a:ea typeface="Calibri" pitchFamily="34" charset="-122"/>
                          <a:cs typeface="Calibri" pitchFamily="34" charset="-120"/>
                        </a:rPr>
                        <a:t>MCP servers</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FFFFFF"/>
                    </a:solidFill>
                  </a:tcPr>
                </a:tc>
                <a:tc>
                  <a:txBody>
                    <a:bodyPr/>
                    <a:lstStyle/>
                    <a:p>
                      <a:pPr indent="0" marL="0">
                        <a:buNone/>
                      </a:pPr>
                      <a:r>
                        <a:rPr lang="en-US" sz="1300" dirty="0">
                          <a:solidFill>
                            <a:srgbClr val="17252E"/>
                          </a:solidFill>
                          <a:latin typeface="Calibri" pitchFamily="34" charset="0"/>
                          <a:ea typeface="Calibri" pitchFamily="34" charset="-122"/>
                          <a:cs typeface="Calibri" pitchFamily="34" charset="-120"/>
                        </a:rPr>
                        <a:t>stdio subprocess or HTTP</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FFFFFF"/>
                    </a:solidFill>
                  </a:tcPr>
                </a:tc>
                <a:tc>
                  <a:txBody>
                    <a:bodyPr/>
                    <a:lstStyle/>
                    <a:p>
                      <a:pPr indent="0" marL="0">
                        <a:buNone/>
                      </a:pPr>
                      <a:r>
                        <a:rPr lang="en-US" sz="1300" dirty="0">
                          <a:solidFill>
                            <a:srgbClr val="17252E"/>
                          </a:solidFill>
                          <a:latin typeface="Calibri" pitchFamily="34" charset="0"/>
                          <a:ea typeface="Calibri" pitchFamily="34" charset="-122"/>
                          <a:cs typeface="Calibri" pitchFamily="34" charset="-120"/>
                        </a:rPr>
                        <a:t>In-process Client(server) is simplest</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7252E"/>
                          </a:solidFill>
                          <a:latin typeface="Calibri" pitchFamily="34" charset="0"/>
                          <a:ea typeface="Calibri" pitchFamily="34" charset="-122"/>
                          <a:cs typeface="Calibri" pitchFamily="34" charset="-120"/>
                        </a:rPr>
                        <a:t>Event loop</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EEF2F4"/>
                    </a:solidFill>
                  </a:tcPr>
                </a:tc>
                <a:tc>
                  <a:txBody>
                    <a:bodyPr/>
                    <a:lstStyle/>
                    <a:p>
                      <a:pPr indent="0" marL="0">
                        <a:buNone/>
                      </a:pPr>
                      <a:r>
                        <a:rPr lang="en-US" sz="1300" dirty="0">
                          <a:solidFill>
                            <a:srgbClr val="17252E"/>
                          </a:solidFill>
                          <a:latin typeface="Calibri" pitchFamily="34" charset="0"/>
                          <a:ea typeface="Calibri" pitchFamily="34" charset="-122"/>
                          <a:cs typeface="Calibri" pitchFamily="34" charset="-120"/>
                        </a:rPr>
                        <a:t>asyncio.run(main())</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EEF2F4"/>
                    </a:solidFill>
                  </a:tcPr>
                </a:tc>
                <a:tc>
                  <a:txBody>
                    <a:bodyPr/>
                    <a:lstStyle/>
                    <a:p>
                      <a:pPr indent="0" marL="0">
                        <a:buNone/>
                      </a:pPr>
                      <a:r>
                        <a:rPr lang="en-US" sz="1300" dirty="0">
                          <a:solidFill>
                            <a:srgbClr val="17252E"/>
                          </a:solidFill>
                          <a:latin typeface="Calibri" pitchFamily="34" charset="0"/>
                          <a:ea typeface="Calibri" pitchFamily="34" charset="-122"/>
                          <a:cs typeface="Calibri" pitchFamily="34" charset="-120"/>
                        </a:rPr>
                        <a:t>Top-level await</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EEF2F4"/>
                    </a:solidFill>
                  </a:tcPr>
                </a:tc>
              </a:tr>
              <a:tr h="457200">
                <a:tc>
                  <a:txBody>
                    <a:bodyPr/>
                    <a:lstStyle/>
                    <a:p>
                      <a:pPr indent="0" marL="0">
                        <a:buNone/>
                      </a:pPr>
                      <a:r>
                        <a:rPr lang="en-US" sz="1300" b="1" dirty="0">
                          <a:solidFill>
                            <a:srgbClr val="17252E"/>
                          </a:solidFill>
                          <a:latin typeface="Calibri" pitchFamily="34" charset="0"/>
                          <a:ea typeface="Calibri" pitchFamily="34" charset="-122"/>
                          <a:cs typeface="Calibri" pitchFamily="34" charset="-120"/>
                        </a:rPr>
                        <a:t>Files and data</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FFFFFF"/>
                    </a:solidFill>
                  </a:tcPr>
                </a:tc>
                <a:tc>
                  <a:txBody>
                    <a:bodyPr/>
                    <a:lstStyle/>
                    <a:p>
                      <a:pPr indent="0" marL="0">
                        <a:buNone/>
                      </a:pPr>
                      <a:r>
                        <a:rPr lang="en-US" sz="1300" dirty="0">
                          <a:solidFill>
                            <a:srgbClr val="17252E"/>
                          </a:solidFill>
                          <a:latin typeface="Calibri" pitchFamily="34" charset="0"/>
                          <a:ea typeface="Calibri" pitchFamily="34" charset="-122"/>
                          <a:cs typeface="Calibri" pitchFamily="34" charset="-120"/>
                        </a:rPr>
                        <a:t>Local disk, instruments, VPN</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FFFFFF"/>
                    </a:solidFill>
                  </a:tcPr>
                </a:tc>
                <a:tc>
                  <a:txBody>
                    <a:bodyPr/>
                    <a:lstStyle/>
                    <a:p>
                      <a:pPr indent="0" marL="0">
                        <a:buNone/>
                      </a:pPr>
                      <a:r>
                        <a:rPr lang="en-US" sz="1300" dirty="0">
                          <a:solidFill>
                            <a:srgbClr val="17252E"/>
                          </a:solidFill>
                          <a:latin typeface="Calibri" pitchFamily="34" charset="0"/>
                          <a:ea typeface="Calibri" pitchFamily="34" charset="-122"/>
                          <a:cs typeface="Calibri" pitchFamily="34" charset="-120"/>
                        </a:rPr>
                        <a:t>Upload or Drive; ephemeral runtime</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7252E"/>
                          </a:solidFill>
                          <a:latin typeface="Calibri" pitchFamily="34" charset="0"/>
                          <a:ea typeface="Calibri" pitchFamily="34" charset="-122"/>
                          <a:cs typeface="Calibri" pitchFamily="34" charset="-120"/>
                        </a:rPr>
                        <a:t>Best for</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EEF2F4"/>
                    </a:solidFill>
                  </a:tcPr>
                </a:tc>
                <a:tc>
                  <a:txBody>
                    <a:bodyPr/>
                    <a:lstStyle/>
                    <a:p>
                      <a:pPr indent="0" marL="0">
                        <a:buNone/>
                      </a:pPr>
                      <a:r>
                        <a:rPr lang="en-US" sz="1300" dirty="0">
                          <a:solidFill>
                            <a:srgbClr val="17252E"/>
                          </a:solidFill>
                          <a:latin typeface="Calibri" pitchFamily="34" charset="0"/>
                          <a:ea typeface="Calibri" pitchFamily="34" charset="-122"/>
                          <a:cs typeface="Calibri" pitchFamily="34" charset="-120"/>
                        </a:rPr>
                        <a:t>Development, tests, team servers</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EEF2F4"/>
                    </a:solidFill>
                  </a:tcPr>
                </a:tc>
                <a:tc>
                  <a:txBody>
                    <a:bodyPr/>
                    <a:lstStyle/>
                    <a:p>
                      <a:pPr indent="0" marL="0">
                        <a:buNone/>
                      </a:pPr>
                      <a:r>
                        <a:rPr lang="en-US" sz="1300" dirty="0">
                          <a:solidFill>
                            <a:srgbClr val="17252E"/>
                          </a:solidFill>
                          <a:latin typeface="Calibri" pitchFamily="34" charset="0"/>
                          <a:ea typeface="Calibri" pitchFamily="34" charset="-122"/>
                          <a:cs typeface="Calibri" pitchFamily="34" charset="-120"/>
                        </a:rPr>
                        <a:t>Teaching, sharing, quick demos</a:t>
                      </a:r>
                      <a:endParaRPr lang="en-US" sz="1300" dirty="0">
                        <a:latin typeface="Calibri" charset="0"/>
                        <a:ea typeface="Calibri" charset="0"/>
                        <a:cs typeface="Calibri" charset="0"/>
                      </a:endParaRPr>
                    </a:p>
                  </a:txBody>
                  <a:tcPr marL="91440" marR="91440" marT="27432" marB="27432" anchor="ctr">
                    <a:lnL w="6350" cap="flat" cmpd="sng" algn="ctr">
                      <a:solidFill>
                        <a:srgbClr val="EEF2F4"/>
                      </a:solidFill>
                      <a:prstDash val="solid"/>
                      <a:round/>
                      <a:headEnd type="none" w="med" len="med"/>
                      <a:tailEnd type="none" w="med" len="med"/>
                    </a:lnL>
                    <a:lnR w="6350" cap="flat" cmpd="sng" algn="ctr">
                      <a:solidFill>
                        <a:srgbClr val="EEF2F4"/>
                      </a:solidFill>
                      <a:prstDash val="solid"/>
                      <a:round/>
                      <a:headEnd type="none" w="med" len="med"/>
                      <a:tailEnd type="none" w="med" len="med"/>
                    </a:lnR>
                    <a:lnT w="6350" cap="flat" cmpd="sng" algn="ctr">
                      <a:solidFill>
                        <a:srgbClr val="EEF2F4"/>
                      </a:solidFill>
                      <a:prstDash val="solid"/>
                      <a:round/>
                      <a:headEnd type="none" w="med" len="med"/>
                      <a:tailEnd type="none" w="med" len="med"/>
                    </a:lnT>
                    <a:lnB w="6350" cap="flat" cmpd="sng" algn="ctr">
                      <a:solidFill>
                        <a:srgbClr val="EEF2F4"/>
                      </a:solidFill>
                      <a:prstDash val="solid"/>
                      <a:round/>
                      <a:headEnd type="none" w="med" len="med"/>
                      <a:tailEnd type="none" w="med" len="med"/>
                    </a:lnB>
                    <a:solidFill>
                      <a:srgbClr val="EEF2F4"/>
                    </a:solidFill>
                  </a:tcPr>
                </a:tc>
              </a:tr>
            </a:tbl>
          </a:graphicData>
        </a:graphic>
      </p:graphicFrame>
      <p:sp>
        <p:nvSpPr>
          <p:cNvPr id="5" name="Text 2"/>
          <p:cNvSpPr txBox="1"/>
          <p:nvPr/>
        </p:nvSpPr>
        <p:spPr>
          <a:xfrm>
            <a:off x="457200" y="4297680"/>
            <a:ext cx="8229600" cy="320040"/>
          </a:xfrm>
          <a:prstGeom prst="rect">
            <a:avLst/>
          </a:prstGeom>
          <a:noFill/>
          <a:ln/>
        </p:spPr>
        <p:txBody>
          <a:bodyPr wrap="square" lIns="0" tIns="0" rIns="0" bIns="0" rtlCol="0" anchor="ctr"/>
          <a:lstStyle/>
          <a:p>
            <a:pPr indent="0" marL="0">
              <a:buNone/>
            </a:pPr>
            <a:r>
              <a:rPr lang="en-US" sz="1400" b="1" dirty="0">
                <a:solidFill>
                  <a:schemeClr val="accent3"/>
                </a:solidFill>
                <a:latin typeface="Calibri" pitchFamily="34" charset="0"/>
                <a:ea typeface="Calibri" pitchFamily="34" charset="-122"/>
                <a:cs typeface="Calibri" pitchFamily="34" charset="-120"/>
              </a:rPr>
              <a:t>Try it: notebooks/colab_quickstart.ipynb  (self-contained, no repo needed)</a:t>
            </a:r>
            <a:endParaRPr lang="en-US" sz="14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ection chip"/>
          <p:cNvSpPr txBox="1"/>
          <p:nvPr/>
        </p:nvSpPr>
        <p:spPr>
          <a:xfrm>
            <a:off x="457200" y="256032"/>
            <a:ext cx="4206240" cy="246888"/>
          </a:xfrm>
          <a:prstGeom prst="roundRect">
            <a:avLst>
              <a:gd name="adj" fmla="val 48148"/>
            </a:avLst>
          </a:prstGeom>
          <a:solidFill>
            <a:srgbClr val="2F4858"/>
          </a:solidFill>
          <a:ln/>
        </p:spPr>
        <p:txBody>
          <a:bodyPr wrap="square" lIns="0" tIns="0" rIns="0" bIns="0" rtlCol="0" anchor="ctr">
            <a:normAutofit/>
          </a:bodyPr>
          <a:lstStyle/>
          <a:p>
            <a:pPr algn="ctr" indent="0" marL="0">
              <a:buNone/>
            </a:pPr>
            <a:r>
              <a:rPr lang="en-US" sz="1000" b="1" dirty="0">
                <a:solidFill>
                  <a:schemeClr val="bg1"/>
                </a:solidFill>
                <a:latin typeface="Calibri" pitchFamily="34" charset="0"/>
                <a:ea typeface="Calibri" pitchFamily="34" charset="-122"/>
                <a:cs typeface="Calibri" pitchFamily="34" charset="-120"/>
              </a:rPr>
              <a:t>9 · TRANSFER AND QUESTIONS · 4 MIN</a:t>
            </a:r>
            <a:endParaRPr lang="en-US" sz="1000" dirty="0"/>
          </a:p>
        </p:txBody>
      </p:sp>
      <p:sp>
        <p:nvSpPr>
          <p:cNvPr id="3" name="Text 1"/>
          <p:cNvSpPr/>
          <p:nvPr>
            <p:ph idx="101" type="title" hasCustomPrompt="1"/>
          </p:nvPr>
        </p:nvSpPr>
        <p:spPr>
          <a:xfrm>
            <a:off x="457200" y="566928"/>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Take it to your own research</a:t>
            </a:r>
            <a:endParaRPr lang="en-US" sz="3000" dirty="0"/>
          </a:p>
        </p:txBody>
      </p:sp>
      <p:sp>
        <p:nvSpPr>
          <p:cNvPr id="4" name="Shape 2"/>
          <p:cNvSpPr/>
          <p:nvPr/>
        </p:nvSpPr>
        <p:spPr>
          <a:xfrm>
            <a:off x="868680" y="1463040"/>
            <a:ext cx="548640" cy="548640"/>
          </a:xfrm>
          <a:prstGeom prst="ellipse">
            <a:avLst/>
          </a:prstGeom>
          <a:solidFill>
            <a:srgbClr val="E8871E"/>
          </a:solidFill>
          <a:ln w="12700">
            <a:solidFill>
              <a:srgbClr val="FFFFFF"/>
            </a:solidFill>
            <a:prstDash val="solid"/>
          </a:ln>
        </p:spPr>
      </p:sp>
      <p:sp>
        <p:nvSpPr>
          <p:cNvPr id="5" name="Text 3"/>
          <p:cNvSpPr txBox="1"/>
          <p:nvPr/>
        </p:nvSpPr>
        <p:spPr>
          <a:xfrm>
            <a:off x="868680" y="14630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457200" y="2103120"/>
            <a:ext cx="1417320" cy="50292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Pick one function</a:t>
            </a:r>
            <a:endParaRPr lang="en-US" sz="1400" dirty="0"/>
          </a:p>
        </p:txBody>
      </p:sp>
      <p:sp>
        <p:nvSpPr>
          <p:cNvPr id="7" name="Text 5"/>
          <p:cNvSpPr txBox="1"/>
          <p:nvPr/>
        </p:nvSpPr>
        <p:spPr>
          <a:xfrm>
            <a:off x="502920" y="2606040"/>
            <a:ext cx="1371600" cy="91440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A calculation you already trust and unit-test.</a:t>
            </a:r>
            <a:endParaRPr lang="en-US" sz="1200" dirty="0"/>
          </a:p>
        </p:txBody>
      </p:sp>
      <p:sp>
        <p:nvSpPr>
          <p:cNvPr id="8" name="Shape 6"/>
          <p:cNvSpPr/>
          <p:nvPr/>
        </p:nvSpPr>
        <p:spPr>
          <a:xfrm>
            <a:off x="2532888" y="1463040"/>
            <a:ext cx="548640" cy="548640"/>
          </a:xfrm>
          <a:prstGeom prst="ellipse">
            <a:avLst/>
          </a:prstGeom>
          <a:solidFill>
            <a:srgbClr val="1F8A8A"/>
          </a:solidFill>
          <a:ln w="12700">
            <a:solidFill>
              <a:srgbClr val="FFFFFF"/>
            </a:solidFill>
            <a:prstDash val="solid"/>
          </a:ln>
        </p:spPr>
      </p:sp>
      <p:sp>
        <p:nvSpPr>
          <p:cNvPr id="9" name="Text 7"/>
          <p:cNvSpPr txBox="1"/>
          <p:nvPr/>
        </p:nvSpPr>
        <p:spPr>
          <a:xfrm>
            <a:off x="2532888" y="14630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2121408" y="2103120"/>
            <a:ext cx="1417320" cy="50292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Wrap it</a:t>
            </a:r>
            <a:endParaRPr lang="en-US" sz="1400" dirty="0"/>
          </a:p>
        </p:txBody>
      </p:sp>
      <p:sp>
        <p:nvSpPr>
          <p:cNvPr id="11" name="Text 9"/>
          <p:cNvSpPr txBox="1"/>
          <p:nvPr/>
        </p:nvSpPr>
        <p:spPr>
          <a:xfrm>
            <a:off x="2167128" y="2606040"/>
            <a:ext cx="1371600" cy="91440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@mcp.tool() with typed, unit-named arguments.</a:t>
            </a:r>
            <a:endParaRPr lang="en-US" sz="1200" dirty="0"/>
          </a:p>
        </p:txBody>
      </p:sp>
      <p:sp>
        <p:nvSpPr>
          <p:cNvPr id="12" name="Shape 10"/>
          <p:cNvSpPr/>
          <p:nvPr/>
        </p:nvSpPr>
        <p:spPr>
          <a:xfrm>
            <a:off x="4197096" y="1463040"/>
            <a:ext cx="548640" cy="548640"/>
          </a:xfrm>
          <a:prstGeom prst="ellipse">
            <a:avLst/>
          </a:prstGeom>
          <a:solidFill>
            <a:srgbClr val="3D5A80"/>
          </a:solidFill>
          <a:ln w="12700">
            <a:solidFill>
              <a:srgbClr val="FFFFFF"/>
            </a:solidFill>
            <a:prstDash val="solid"/>
          </a:ln>
        </p:spPr>
      </p:sp>
      <p:sp>
        <p:nvSpPr>
          <p:cNvPr id="13" name="Text 11"/>
          <p:cNvSpPr txBox="1"/>
          <p:nvPr/>
        </p:nvSpPr>
        <p:spPr>
          <a:xfrm>
            <a:off x="4197096" y="14630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4" name="Text 12"/>
          <p:cNvSpPr txBox="1"/>
          <p:nvPr/>
        </p:nvSpPr>
        <p:spPr>
          <a:xfrm>
            <a:off x="3785616" y="2103120"/>
            <a:ext cx="1417320" cy="50292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Describe it</a:t>
            </a:r>
            <a:endParaRPr lang="en-US" sz="1400" dirty="0"/>
          </a:p>
        </p:txBody>
      </p:sp>
      <p:sp>
        <p:nvSpPr>
          <p:cNvPr id="15" name="Text 13"/>
          <p:cNvSpPr txBox="1"/>
          <p:nvPr/>
        </p:nvSpPr>
        <p:spPr>
          <a:xfrm>
            <a:off x="3831336" y="2606040"/>
            <a:ext cx="1371600" cy="91440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Docstring: formula, units, ranges, caveats.</a:t>
            </a:r>
            <a:endParaRPr lang="en-US" sz="1200" dirty="0"/>
          </a:p>
        </p:txBody>
      </p:sp>
      <p:sp>
        <p:nvSpPr>
          <p:cNvPr id="16" name="Shape 14"/>
          <p:cNvSpPr/>
          <p:nvPr/>
        </p:nvSpPr>
        <p:spPr>
          <a:xfrm>
            <a:off x="5861304" y="1463040"/>
            <a:ext cx="548640" cy="548640"/>
          </a:xfrm>
          <a:prstGeom prst="ellipse">
            <a:avLst/>
          </a:prstGeom>
          <a:solidFill>
            <a:srgbClr val="C8553D"/>
          </a:solidFill>
          <a:ln w="12700">
            <a:solidFill>
              <a:srgbClr val="FFFFFF"/>
            </a:solidFill>
            <a:prstDash val="solid"/>
          </a:ln>
        </p:spPr>
      </p:sp>
      <p:sp>
        <p:nvSpPr>
          <p:cNvPr id="17" name="Text 15"/>
          <p:cNvSpPr txBox="1"/>
          <p:nvPr/>
        </p:nvSpPr>
        <p:spPr>
          <a:xfrm>
            <a:off x="5861304" y="14630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4</a:t>
            </a:r>
            <a:endParaRPr lang="en-US" sz="2000" dirty="0"/>
          </a:p>
        </p:txBody>
      </p:sp>
      <p:sp>
        <p:nvSpPr>
          <p:cNvPr id="18" name="Text 16"/>
          <p:cNvSpPr txBox="1"/>
          <p:nvPr/>
        </p:nvSpPr>
        <p:spPr>
          <a:xfrm>
            <a:off x="5449824" y="2103120"/>
            <a:ext cx="1417320" cy="50292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Return provenance</a:t>
            </a:r>
            <a:endParaRPr lang="en-US" sz="1400" dirty="0"/>
          </a:p>
        </p:txBody>
      </p:sp>
      <p:sp>
        <p:nvSpPr>
          <p:cNvPr id="19" name="Text 17"/>
          <p:cNvSpPr txBox="1"/>
          <p:nvPr/>
        </p:nvSpPr>
        <p:spPr>
          <a:xfrm>
            <a:off x="5495544" y="2606040"/>
            <a:ext cx="1371600" cy="91440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Value, units, method, inputs.</a:t>
            </a:r>
            <a:endParaRPr lang="en-US" sz="1200" dirty="0"/>
          </a:p>
        </p:txBody>
      </p:sp>
      <p:sp>
        <p:nvSpPr>
          <p:cNvPr id="20" name="Shape 18"/>
          <p:cNvSpPr/>
          <p:nvPr/>
        </p:nvSpPr>
        <p:spPr>
          <a:xfrm>
            <a:off x="7525512" y="1463040"/>
            <a:ext cx="548640" cy="548640"/>
          </a:xfrm>
          <a:prstGeom prst="ellipse">
            <a:avLst/>
          </a:prstGeom>
          <a:solidFill>
            <a:srgbClr val="2F4858"/>
          </a:solidFill>
          <a:ln w="12700">
            <a:solidFill>
              <a:srgbClr val="FFFFFF"/>
            </a:solidFill>
            <a:prstDash val="solid"/>
          </a:ln>
        </p:spPr>
      </p:sp>
      <p:sp>
        <p:nvSpPr>
          <p:cNvPr id="21" name="Text 19"/>
          <p:cNvSpPr txBox="1"/>
          <p:nvPr/>
        </p:nvSpPr>
        <p:spPr>
          <a:xfrm>
            <a:off x="7525512" y="14630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5</a:t>
            </a:r>
            <a:endParaRPr lang="en-US" sz="2000" dirty="0"/>
          </a:p>
        </p:txBody>
      </p:sp>
      <p:sp>
        <p:nvSpPr>
          <p:cNvPr id="22" name="Text 20"/>
          <p:cNvSpPr txBox="1"/>
          <p:nvPr/>
        </p:nvSpPr>
        <p:spPr>
          <a:xfrm>
            <a:off x="7114032" y="2103120"/>
            <a:ext cx="1417320" cy="50292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Fail loudly</a:t>
            </a:r>
            <a:endParaRPr lang="en-US" sz="1400" dirty="0"/>
          </a:p>
        </p:txBody>
      </p:sp>
      <p:sp>
        <p:nvSpPr>
          <p:cNvPr id="23" name="Text 21"/>
          <p:cNvSpPr txBox="1"/>
          <p:nvPr/>
        </p:nvSpPr>
        <p:spPr>
          <a:xfrm>
            <a:off x="7159752" y="2606040"/>
            <a:ext cx="1371600" cy="914400"/>
          </a:xfrm>
          <a:prstGeom prst="rect">
            <a:avLst/>
          </a:prstGeom>
          <a:noFill/>
          <a:ln/>
        </p:spPr>
        <p:txBody>
          <a:bodyPr wrap="square" lIns="0" tIns="0" rIns="0" bIns="0" rtlCol="0" anchor="t"/>
          <a:lstStyle/>
          <a:p>
            <a:pPr algn="ctr" indent="0" marL="0">
              <a:buNone/>
            </a:pPr>
            <a:r>
              <a:rPr lang="en-US" sz="1200" dirty="0">
                <a:solidFill>
                  <a:schemeClr val="tx2"/>
                </a:solidFill>
                <a:latin typeface="Calibri" pitchFamily="34" charset="0"/>
                <a:ea typeface="Calibri" pitchFamily="34" charset="-122"/>
                <a:cs typeface="Calibri" pitchFamily="34" charset="-120"/>
              </a:rPr>
              <a:t>ToolError for bad input.</a:t>
            </a:r>
            <a:endParaRPr lang="en-US" sz="1200" dirty="0"/>
          </a:p>
        </p:txBody>
      </p:sp>
      <p:sp>
        <p:nvSpPr>
          <p:cNvPr id="24" name="Card"/>
          <p:cNvSpPr/>
          <p:nvPr/>
        </p:nvSpPr>
        <p:spPr>
          <a:xfrm>
            <a:off x="457200" y="3657600"/>
            <a:ext cx="8229600" cy="82296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5" name="Text 23"/>
          <p:cNvSpPr txBox="1"/>
          <p:nvPr/>
        </p:nvSpPr>
        <p:spPr>
          <a:xfrm>
            <a:off x="685800" y="3703320"/>
            <a:ext cx="7772400" cy="731520"/>
          </a:xfrm>
          <a:prstGeom prst="rect">
            <a:avLst/>
          </a:prstGeom>
          <a:noFill/>
          <a:ln/>
        </p:spPr>
        <p:txBody>
          <a:bodyPr wrap="square" lIns="0" tIns="0" rIns="0" bIns="0" rtlCol="0" anchor="ctr"/>
          <a:lstStyle/>
          <a:p>
            <a:pPr indent="0" marL="0">
              <a:buNone/>
            </a:pPr>
            <a:r>
              <a:rPr lang="en-US" sz="1400" dirty="0">
                <a:solidFill>
                  <a:srgbClr val="17252E"/>
                </a:solidFill>
                <a:latin typeface="Calibri" pitchFamily="34" charset="0"/>
                <a:ea typeface="Calibri" pitchFamily="34" charset="-122"/>
                <a:cs typeface="Calibri" pitchFamily="34" charset="-120"/>
              </a:rPr>
              <a:t>Then: add one resource for reference data, test with Client(server) in-process, and register the server in the host you use daily.</a:t>
            </a:r>
            <a:endParaRPr lang="en-US" sz="14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863840" cy="137160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Questions</a:t>
            </a:r>
            <a:endParaRPr lang="en-US" sz="3800" dirty="0"/>
          </a:p>
        </p:txBody>
      </p:sp>
      <p:sp>
        <p:nvSpPr>
          <p:cNvPr id="3" name="Text 0"/>
          <p:cNvSpPr/>
          <p:nvPr>
            <p:ph idx="101" type="body" hasCustomPrompt="1"/>
          </p:nvPr>
        </p:nvSpPr>
        <p:spPr>
          <a:xfrm>
            <a:off x="640080" y="2926080"/>
            <a:ext cx="7315200" cy="822960"/>
          </a:xfrm>
          <a:prstGeom prst="rect">
            <a:avLst/>
          </a:prstGeom>
          <a:noFill/>
          <a:ln/>
        </p:spPr>
        <p:txBody>
          <a:bodyPr wrap="square" lIns="0" tIns="0" rIns="0" bIns="0" rtlCol="0" anchor="t"/>
          <a:lstStyle/>
          <a:p>
            <a:pPr indent="0" marL="0">
              <a:buNone/>
            </a:pPr>
            <a:r>
              <a:rPr lang="en-US" sz="1800" dirty="0">
                <a:solidFill>
                  <a:schemeClr val="bg2"/>
                </a:solidFill>
              </a:rPr>
              <a:t>Repo: mcp-science-tutorial</a:t>
            </a:r>
            <a:endParaRPr lang="en-US" sz="1800" dirty="0"/>
          </a:p>
          <a:p>
            <a:pPr indent="0" marL="0">
              <a:buNone/>
            </a:pPr>
            <a:r>
              <a:rPr lang="en-US" sz="1800" dirty="0">
                <a:solidFill>
                  <a:schemeClr val="bg2"/>
                </a:solidFill>
              </a:rPr>
              <a:t>modelcontextprotocol.io  ·  py.sdk.modelcontextprotocol.io</a:t>
            </a:r>
            <a:endParaRPr lang="en-US" sz="1800" dirty="0"/>
          </a:p>
        </p:txBody>
      </p:sp>
      <p:sp>
        <p:nvSpPr>
          <p:cNvPr id="4" name="Motif tile"/>
          <p:cNvSpPr/>
          <p:nvPr/>
        </p:nvSpPr>
        <p:spPr>
          <a:xfrm>
            <a:off x="640080" y="640080"/>
            <a:ext cx="457200" cy="457200"/>
          </a:xfrm>
          <a:prstGeom prst="roundRect">
            <a:avLst>
              <a:gd name="adj" fmla="val 20000"/>
            </a:avLst>
          </a:prstGeom>
          <a:solidFill>
            <a:srgbClr val="E8871E"/>
          </a:solidFill>
          <a:ln w="12700">
            <a:solidFill>
              <a:srgbClr val="E8871E"/>
            </a:solidFill>
            <a:prstDash val="solid"/>
          </a:ln>
        </p:spPr>
      </p:sp>
      <p:sp>
        <p:nvSpPr>
          <p:cNvPr id="5" name="Motif tile"/>
          <p:cNvSpPr/>
          <p:nvPr/>
        </p:nvSpPr>
        <p:spPr>
          <a:xfrm>
            <a:off x="1207008" y="640080"/>
            <a:ext cx="457200" cy="457200"/>
          </a:xfrm>
          <a:prstGeom prst="roundRect">
            <a:avLst>
              <a:gd name="adj" fmla="val 20000"/>
            </a:avLst>
          </a:prstGeom>
          <a:solidFill>
            <a:srgbClr val="1F8A8A"/>
          </a:solidFill>
          <a:ln w="12700">
            <a:solidFill>
              <a:srgbClr val="1F8A8A"/>
            </a:solidFill>
            <a:prstDash val="solid"/>
          </a:ln>
        </p:spPr>
      </p:sp>
      <p:sp>
        <p:nvSpPr>
          <p:cNvPr id="6" name="Motif tile"/>
          <p:cNvSpPr/>
          <p:nvPr/>
        </p:nvSpPr>
        <p:spPr>
          <a:xfrm>
            <a:off x="1773936" y="640080"/>
            <a:ext cx="457200" cy="457200"/>
          </a:xfrm>
          <a:prstGeom prst="roundRect">
            <a:avLst>
              <a:gd name="adj" fmla="val 20000"/>
            </a:avLst>
          </a:prstGeom>
          <a:solidFill>
            <a:srgbClr val="3D5A80"/>
          </a:solidFill>
          <a:ln w="12700">
            <a:solidFill>
              <a:srgbClr val="3D5A80"/>
            </a:solidFill>
            <a:prstDash val="solid"/>
          </a:ln>
        </p:spPr>
      </p:sp>
      <p:sp>
        <p:nvSpPr>
          <p:cNvPr id="7" name="Motif tile"/>
          <p:cNvSpPr/>
          <p:nvPr/>
        </p:nvSpPr>
        <p:spPr>
          <a:xfrm>
            <a:off x="2340864" y="640080"/>
            <a:ext cx="457200" cy="457200"/>
          </a:xfrm>
          <a:prstGeom prst="roundRect">
            <a:avLst>
              <a:gd name="adj" fmla="val 20000"/>
            </a:avLst>
          </a:prstGeom>
          <a:solidFill>
            <a:srgbClr val="C8553D"/>
          </a:solidFill>
          <a:ln w="12700">
            <a:solidFill>
              <a:srgbClr val="C8553D"/>
            </a:solidFill>
            <a:prstDash val="solid"/>
          </a:ln>
        </p:spPr>
      </p:sp>
      <p:sp>
        <p:nvSpPr>
          <p:cNvPr id="8" name="Motif tile"/>
          <p:cNvSpPr/>
          <p:nvPr/>
        </p:nvSpPr>
        <p:spPr>
          <a:xfrm>
            <a:off x="2907792" y="640080"/>
            <a:ext cx="457200" cy="457200"/>
          </a:xfrm>
          <a:prstGeom prst="roundRect">
            <a:avLst>
              <a:gd name="adj" fmla="val 20000"/>
            </a:avLst>
          </a:prstGeom>
          <a:solidFill>
            <a:srgbClr val="7A9E7E"/>
          </a:solidFill>
          <a:ln w="12700">
            <a:solidFill>
              <a:srgbClr val="7A9E7E"/>
            </a:solidFill>
            <a:prstDash val="solid"/>
          </a:ln>
        </p:spPr>
      </p:sp>
    </p:spTree>
  </p:cSld>
  <p:clrMapOvr>
    <a:masterClrMapping/>
  </p:clrMapOvr>
</p:sld>
</file>

<file path=ppt/theme/theme1.xml><?xml version="1.0" encoding="utf-8"?>
<a:theme xmlns:a="http://schemas.openxmlformats.org/drawingml/2006/main" name="Basalt Amber">
  <a:themeElements>
    <a:clrScheme name="Basalt Amber">
      <a:dk1>
        <a:srgbClr val="17252E"/>
      </a:dk1>
      <a:lt1>
        <a:srgbClr val="FFFFFF"/>
      </a:lt1>
      <a:dk2>
        <a:srgbClr val="2F4858"/>
      </a:dk2>
      <a:lt2>
        <a:srgbClr val="EEF2F4"/>
      </a:lt2>
      <a:accent1>
        <a:srgbClr val="E8871E"/>
      </a:accent1>
      <a:accent2>
        <a:srgbClr val="1F8A8A"/>
      </a:accent2>
      <a:accent3>
        <a:srgbClr val="3D5A80"/>
      </a:accent3>
      <a:accent4>
        <a:srgbClr val="C8553D"/>
      </a:accent4>
      <a:accent5>
        <a:srgbClr val="7A9E7E"/>
      </a:accent5>
      <a:accent6>
        <a:srgbClr val="8D99AE"/>
      </a:accent6>
      <a:hlink>
        <a:srgbClr val="1F8A8A"/>
      </a:hlink>
      <a:folHlink>
        <a:srgbClr val="7A6F9B"/>
      </a:folHlink>
    </a:clrScheme>
    <a:fontScheme name="Basalt A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Tool calling and MCP for scientific agents</dc:title>
  <dc:subject>PptxGenJS Presentation</dc:subject>
  <dc:creator>Tutorial</dc:creator>
  <cp:lastModifiedBy>Tutorial</cp:lastModifiedBy>
  <cp:revision>1</cp:revision>
  <dcterms:created xsi:type="dcterms:W3CDTF">2026-10-12T02:26:06Z</dcterms:created>
  <dcterms:modified xsi:type="dcterms:W3CDTF">2026-10-12T02:26:06Z</dcterms:modified>
</cp:coreProperties>
</file>